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png"/><Relationship Id="rId10" Type="http://schemas.openxmlformats.org/officeDocument/2006/relationships/image" Target="../media/image-3-10.png"/><Relationship Id="rId11" Type="http://schemas.openxmlformats.org/officeDocument/2006/relationships/image" Target="../media/image-3-11.png"/><Relationship Id="rId12" Type="http://schemas.openxmlformats.org/officeDocument/2006/relationships/image" Target="../media/image-3-12.png"/><Relationship Id="rId13" Type="http://schemas.openxmlformats.org/officeDocument/2006/relationships/image" Target="../media/image-3-13.png"/><Relationship Id="rId14" Type="http://schemas.openxmlformats.org/officeDocument/2006/relationships/image" Target="../media/image-3-14.png"/><Relationship Id="rId15" Type="http://schemas.openxmlformats.org/officeDocument/2006/relationships/image" Target="../media/image-3-15.png"/><Relationship Id="rId16" Type="http://schemas.openxmlformats.org/officeDocument/2006/relationships/image" Target="../media/image-3-16.png"/><Relationship Id="rId17" Type="http://schemas.openxmlformats.org/officeDocument/2006/relationships/slideLayout" Target="../slideLayouts/slideLayout1.xml"/><Relationship Id="rId1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2" Type="http://schemas.openxmlformats.org/officeDocument/2006/relationships/hyperlink" Target="https://www.sih.gov.in/sih2026PS" TargetMode="External"/><Relationship Id="rId3" Type="http://schemas.openxmlformats.org/officeDocument/2006/relationships/hyperlink" Target="https://www.meity.gov.in/data-protection-framework" TargetMode="External"/><Relationship Id="rId4" Type="http://schemas.openxmlformats.org/officeDocument/2006/relationships/hyperlink" Target="https://www.rbi.org.in/Scripts/NotificationUser.aspx?Id=11244" TargetMode="External"/><Relationship Id="rId5" Type="http://schemas.openxmlformats.org/officeDocument/2006/relationships/hyperlink" Target="https://onnxruntime.ai/docs/tutorials/web/ep-webgpu.html" TargetMode="External"/><Relationship Id="rId6" Type="http://schemas.openxmlformats.org/officeDocument/2006/relationships/hyperlink" Target="https://github.com/huggingface/transformers.js" TargetMode="External"/><Relationship Id="rId7" Type="http://schemas.openxmlformats.org/officeDocument/2006/relationships/hyperlink" Target="https://developer.chrome.com/docs/extensions/reference/api/offscreen" TargetMode="External"/><Relationship Id="rId8" Type="http://schemas.openxmlformats.org/officeDocument/2006/relationships/hyperlink" Target="https://github.com/microsoft/presidio" TargetMode="External"/><Relationship Id="rId9" Type="http://schemas.openxmlformats.org/officeDocument/2006/relationships/hyperlink" Target="https://arxiv.org/abs/2311.08526" TargetMode="External"/><Relationship Id="rId10" Type="http://schemas.openxmlformats.org/officeDocument/2006/relationships/hyperlink" Target="https://huggingface.co/datasets/ai4privacy/pii-masking-300k" TargetMode="External"/><Relationship Id="rId11" Type="http://schemas.openxmlformats.org/officeDocument/2006/relationships/hyperlink" Target="https://arxiv.org/abs/1609.00408" TargetMode="External"/><Relationship Id="rId12" Type="http://schemas.openxmlformats.org/officeDocument/2006/relationships/hyperlink" Target="https://arxiv.org/abs/2206.02285" TargetMode="External"/><Relationship Id="rId13" Type="http://schemas.openxmlformats.org/officeDocument/2006/relationships/hyperlink" Target="https://github.com/spipm/Depix" TargetMode="External"/><Relationship Id="rId14" Type="http://schemas.openxmlformats.org/officeDocument/2006/relationships/hyperlink" Target="https://arxiv.org/abs/2410.17127" TargetMode="External"/><Relationship Id="rId15" Type="http://schemas.openxmlformats.org/officeDocument/2006/relationships/hyperlink" Target="https://arxiv.org/abs/2602.10139" TargetMode="External"/><Relationship Id="rId16" Type="http://schemas.openxmlformats.org/officeDocument/2006/relationships/hyperlink" Target="https://arxiv.org/abs/2408.07004" TargetMode="External"/><Relationship Id="rId17" Type="http://schemas.openxmlformats.org/officeDocument/2006/relationships/hyperlink" Target="https://huggingface.co/Qwen/Qwen2.5-VL-7B-Instruct" TargetMode="External"/><Relationship Id="rId18" Type="http://schemas.openxmlformats.org/officeDocument/2006/relationships/hyperlink" Target="https://arxiv.org/abs/2604.01535" TargetMode="External"/><Relationship Id="rId19" Type="http://schemas.openxmlformats.org/officeDocument/2006/relationships/hyperlink" Target="https://brave.com/blog/unseeable-prompt-injections/" TargetMode="External"/><Relationship Id="rId1" Type="http://schemas.openxmlformats.org/officeDocument/2006/relationships/image" Target="../media/image-6-1.png"/><Relationship Id="rId20" Type="http://schemas.openxmlformats.org/officeDocument/2006/relationships/slideLayout" Target="../slideLayouts/slideLayout1.xml"/><Relationship Id="rId21"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home/claude/t26/image2.png">    </p:cNvPr>
          <p:cNvPicPr>
            <a:picLocks noChangeAspect="1"/>
          </p:cNvPicPr>
          <p:nvPr/>
        </p:nvPicPr>
        <p:blipFill>
          <a:blip r:embed="rId1"/>
          <a:stretch>
            <a:fillRect/>
          </a:stretch>
        </p:blipFill>
        <p:spPr>
          <a:xfrm>
            <a:off x="9784080" y="0"/>
            <a:ext cx="2249424" cy="1060704"/>
          </a:xfrm>
          <a:prstGeom prst="rect">
            <a:avLst/>
          </a:prstGeom>
        </p:spPr>
      </p:pic>
      <p:sp>
        <p:nvSpPr>
          <p:cNvPr id="3" name="Text 0"/>
          <p:cNvSpPr txBox="1"/>
          <p:nvPr/>
        </p:nvSpPr>
        <p:spPr>
          <a:xfrm>
            <a:off x="329184" y="219456"/>
            <a:ext cx="9144000" cy="804672"/>
          </a:xfrm>
          <a:prstGeom prst="rect">
            <a:avLst/>
          </a:prstGeom>
          <a:noFill/>
          <a:ln/>
        </p:spPr>
        <p:txBody>
          <a:bodyPr wrap="square" lIns="0" tIns="0" rIns="0" bIns="0" rtlCol="0" anchor="ctr"/>
          <a:lstStyle/>
          <a:p>
            <a:pPr indent="0" marL="0">
              <a:buNone/>
            </a:pPr>
            <a:r>
              <a:rPr lang="en-US" sz="3600" b="1" dirty="0">
                <a:solidFill>
                  <a:srgbClr val="1F4E79"/>
                </a:solidFill>
                <a:latin typeface="Times New Roman" pitchFamily="34" charset="0"/>
                <a:ea typeface="Times New Roman" pitchFamily="34" charset="-122"/>
                <a:cs typeface="Times New Roman" pitchFamily="34" charset="-120"/>
              </a:rPr>
              <a:t>SMART INDIA HACKATHON 2026</a:t>
            </a:r>
            <a:endParaRPr lang="en-US" sz="3600" dirty="0"/>
          </a:p>
        </p:txBody>
      </p:sp>
      <p:sp>
        <p:nvSpPr>
          <p:cNvPr id="4" name="Text 1"/>
          <p:cNvSpPr txBox="1"/>
          <p:nvPr/>
        </p:nvSpPr>
        <p:spPr>
          <a:xfrm>
            <a:off x="2240280" y="1005840"/>
            <a:ext cx="4206240" cy="438912"/>
          </a:xfrm>
          <a:prstGeom prst="rect">
            <a:avLst/>
          </a:prstGeom>
          <a:noFill/>
          <a:ln/>
        </p:spPr>
        <p:txBody>
          <a:bodyPr wrap="square" lIns="0" tIns="0" rIns="0" bIns="0" rtlCol="0" anchor="ctr"/>
          <a:lstStyle/>
          <a:p>
            <a:pPr algn="ctr" indent="0" marL="0">
              <a:buNone/>
            </a:pPr>
            <a:r>
              <a:rPr lang="en-US" sz="2400" b="1" dirty="0">
                <a:solidFill>
                  <a:srgbClr val="000000"/>
                </a:solidFill>
                <a:latin typeface="Times New Roman" pitchFamily="34" charset="0"/>
                <a:ea typeface="Times New Roman" pitchFamily="34" charset="-122"/>
                <a:cs typeface="Times New Roman" pitchFamily="34" charset="-120"/>
              </a:rPr>
              <a:t>TITLE PAGE</a:t>
            </a:r>
            <a:endParaRPr lang="en-US" sz="2400" dirty="0"/>
          </a:p>
        </p:txBody>
      </p:sp>
      <p:pic>
        <p:nvPicPr>
          <p:cNvPr id="5" name="Image 1" descr="/home/claude/t26/sih_icon.png">    </p:cNvPr>
          <p:cNvPicPr>
            <a:picLocks noChangeAspect="1"/>
          </p:cNvPicPr>
          <p:nvPr/>
        </p:nvPicPr>
        <p:blipFill>
          <a:blip r:embed="rId2"/>
          <a:stretch>
            <a:fillRect/>
          </a:stretch>
        </p:blipFill>
        <p:spPr>
          <a:xfrm>
            <a:off x="8503920" y="1389888"/>
            <a:ext cx="2139696" cy="2971800"/>
          </a:xfrm>
          <a:prstGeom prst="rect">
            <a:avLst/>
          </a:prstGeom>
        </p:spPr>
      </p:pic>
      <p:sp>
        <p:nvSpPr>
          <p:cNvPr id="6" name="Text 2"/>
          <p:cNvSpPr txBox="1"/>
          <p:nvPr/>
        </p:nvSpPr>
        <p:spPr>
          <a:xfrm>
            <a:off x="502920" y="1609344"/>
            <a:ext cx="7680960" cy="438912"/>
          </a:xfrm>
          <a:prstGeom prst="rect">
            <a:avLst/>
          </a:prstGeom>
          <a:noFill/>
          <a:ln/>
        </p:spPr>
        <p:txBody>
          <a:bodyPr wrap="square" lIns="0" tIns="0" rIns="0" bIns="0" rtlCol="0" anchor="ctr"/>
          <a:lstStyle/>
          <a:p>
            <a:pPr marL="228600" indent="-228600">
              <a:buSzPct val="100000"/>
              <a:buChar char="•"/>
            </a:pPr>
            <a:r>
              <a:rPr lang="en-US" sz="1900" b="1" dirty="0">
                <a:solidFill>
                  <a:srgbClr val="000000"/>
                </a:solidFill>
                <a:latin typeface="Arial" pitchFamily="34" charset="0"/>
                <a:ea typeface="Arial" pitchFamily="34" charset="-122"/>
                <a:cs typeface="Arial" pitchFamily="34" charset="-120"/>
              </a:rPr>
              <a:t>Problem Statement ID - </a:t>
            </a:r>
            <a:pPr indent="0" marL="0">
              <a:buNone/>
            </a:pPr>
            <a:r>
              <a:rPr lang="en-US" sz="1900" dirty="0">
                <a:solidFill>
                  <a:srgbClr val="000000"/>
                </a:solidFill>
                <a:latin typeface="Arial" pitchFamily="34" charset="0"/>
                <a:ea typeface="Arial" pitchFamily="34" charset="-122"/>
                <a:cs typeface="Arial" pitchFamily="34" charset="-120"/>
              </a:rPr>
              <a:t>SIH26171</a:t>
            </a:r>
            <a:endParaRPr lang="en-US" sz="1900" dirty="0"/>
          </a:p>
        </p:txBody>
      </p:sp>
      <p:sp>
        <p:nvSpPr>
          <p:cNvPr id="7" name="Text 3"/>
          <p:cNvSpPr txBox="1"/>
          <p:nvPr/>
        </p:nvSpPr>
        <p:spPr>
          <a:xfrm>
            <a:off x="502920" y="2084832"/>
            <a:ext cx="7680960" cy="713232"/>
          </a:xfrm>
          <a:prstGeom prst="rect">
            <a:avLst/>
          </a:prstGeom>
          <a:noFill/>
          <a:ln/>
        </p:spPr>
        <p:txBody>
          <a:bodyPr wrap="square" lIns="0" tIns="0" rIns="0" bIns="0" rtlCol="0" anchor="ctr"/>
          <a:lstStyle/>
          <a:p>
            <a:pPr marL="228600" indent="-228600">
              <a:buSzPct val="100000"/>
              <a:buChar char="•"/>
            </a:pPr>
            <a:r>
              <a:rPr lang="en-US" sz="1900" b="1" dirty="0">
                <a:solidFill>
                  <a:srgbClr val="000000"/>
                </a:solidFill>
                <a:latin typeface="Arial" pitchFamily="34" charset="0"/>
                <a:ea typeface="Arial" pitchFamily="34" charset="-122"/>
                <a:cs typeface="Arial" pitchFamily="34" charset="-120"/>
              </a:rPr>
              <a:t>Problem Statement Title- </a:t>
            </a:r>
            <a:pPr indent="0" marL="0">
              <a:buNone/>
            </a:pPr>
            <a:r>
              <a:rPr lang="en-US" sz="1900" dirty="0">
                <a:solidFill>
                  <a:srgbClr val="000000"/>
                </a:solidFill>
                <a:latin typeface="Arial" pitchFamily="34" charset="0"/>
                <a:ea typeface="Arial" pitchFamily="34" charset="-122"/>
                <a:cs typeface="Arial" pitchFamily="34" charset="-120"/>
              </a:rPr>
              <a:t>On-device Visual Perception for Light-weight Browser Agents</a:t>
            </a:r>
            <a:endParaRPr lang="en-US" sz="1900" dirty="0"/>
          </a:p>
        </p:txBody>
      </p:sp>
      <p:sp>
        <p:nvSpPr>
          <p:cNvPr id="8" name="Text 4"/>
          <p:cNvSpPr txBox="1"/>
          <p:nvPr/>
        </p:nvSpPr>
        <p:spPr>
          <a:xfrm>
            <a:off x="502920" y="2798064"/>
            <a:ext cx="7680960" cy="438912"/>
          </a:xfrm>
          <a:prstGeom prst="rect">
            <a:avLst/>
          </a:prstGeom>
          <a:noFill/>
          <a:ln/>
        </p:spPr>
        <p:txBody>
          <a:bodyPr wrap="square" lIns="0" tIns="0" rIns="0" bIns="0" rtlCol="0" anchor="ctr"/>
          <a:lstStyle/>
          <a:p>
            <a:pPr marL="228600" indent="-228600">
              <a:buSzPct val="100000"/>
              <a:buChar char="•"/>
            </a:pPr>
            <a:r>
              <a:rPr lang="en-US" sz="1900" b="1" dirty="0">
                <a:solidFill>
                  <a:srgbClr val="000000"/>
                </a:solidFill>
                <a:latin typeface="Arial" pitchFamily="34" charset="0"/>
                <a:ea typeface="Arial" pitchFamily="34" charset="-122"/>
                <a:cs typeface="Arial" pitchFamily="34" charset="-120"/>
              </a:rPr>
              <a:t>Theme- </a:t>
            </a:r>
            <a:pPr indent="0" marL="0">
              <a:buNone/>
            </a:pPr>
            <a:r>
              <a:rPr lang="en-US" sz="1900" dirty="0">
                <a:solidFill>
                  <a:srgbClr val="000000"/>
                </a:solidFill>
                <a:latin typeface="Arial" pitchFamily="34" charset="0"/>
                <a:ea typeface="Arial" pitchFamily="34" charset="-122"/>
                <a:cs typeface="Arial" pitchFamily="34" charset="-120"/>
              </a:rPr>
              <a:t>Smart Automation</a:t>
            </a:r>
            <a:endParaRPr lang="en-US" sz="1900" dirty="0"/>
          </a:p>
        </p:txBody>
      </p:sp>
      <p:sp>
        <p:nvSpPr>
          <p:cNvPr id="9" name="Text 5"/>
          <p:cNvSpPr txBox="1"/>
          <p:nvPr/>
        </p:nvSpPr>
        <p:spPr>
          <a:xfrm>
            <a:off x="502920" y="3273552"/>
            <a:ext cx="7680960" cy="438912"/>
          </a:xfrm>
          <a:prstGeom prst="rect">
            <a:avLst/>
          </a:prstGeom>
          <a:noFill/>
          <a:ln/>
        </p:spPr>
        <p:txBody>
          <a:bodyPr wrap="square" lIns="0" tIns="0" rIns="0" bIns="0" rtlCol="0" anchor="ctr"/>
          <a:lstStyle/>
          <a:p>
            <a:pPr marL="228600" indent="-228600">
              <a:buSzPct val="100000"/>
              <a:buChar char="•"/>
            </a:pPr>
            <a:r>
              <a:rPr lang="en-US" sz="1900" b="1" dirty="0">
                <a:solidFill>
                  <a:srgbClr val="000000"/>
                </a:solidFill>
                <a:latin typeface="Arial" pitchFamily="34" charset="0"/>
                <a:ea typeface="Arial" pitchFamily="34" charset="-122"/>
                <a:cs typeface="Arial" pitchFamily="34" charset="-120"/>
              </a:rPr>
              <a:t>PS Category- </a:t>
            </a:r>
            <a:pPr indent="0" marL="0">
              <a:buNone/>
            </a:pPr>
            <a:r>
              <a:rPr lang="en-US" sz="1900" dirty="0">
                <a:solidFill>
                  <a:srgbClr val="000000"/>
                </a:solidFill>
                <a:latin typeface="Arial" pitchFamily="34" charset="0"/>
                <a:ea typeface="Arial" pitchFamily="34" charset="-122"/>
                <a:cs typeface="Arial" pitchFamily="34" charset="-120"/>
              </a:rPr>
              <a:t>Software</a:t>
            </a:r>
            <a:endParaRPr lang="en-US" sz="1900" dirty="0"/>
          </a:p>
        </p:txBody>
      </p:sp>
      <p:sp>
        <p:nvSpPr>
          <p:cNvPr id="10" name="Text 6"/>
          <p:cNvSpPr txBox="1"/>
          <p:nvPr/>
        </p:nvSpPr>
        <p:spPr>
          <a:xfrm>
            <a:off x="502920" y="3749040"/>
            <a:ext cx="7680960" cy="438912"/>
          </a:xfrm>
          <a:prstGeom prst="rect">
            <a:avLst/>
          </a:prstGeom>
          <a:noFill/>
          <a:ln/>
        </p:spPr>
        <p:txBody>
          <a:bodyPr wrap="square" lIns="0" tIns="0" rIns="0" bIns="0" rtlCol="0" anchor="ctr"/>
          <a:lstStyle/>
          <a:p>
            <a:pPr marL="228600" indent="-228600">
              <a:buSzPct val="100000"/>
              <a:buChar char="•"/>
            </a:pPr>
            <a:r>
              <a:rPr lang="en-US" sz="1900" b="1" dirty="0">
                <a:solidFill>
                  <a:srgbClr val="000000"/>
                </a:solidFill>
                <a:latin typeface="Arial" pitchFamily="34" charset="0"/>
                <a:ea typeface="Arial" pitchFamily="34" charset="-122"/>
                <a:cs typeface="Arial" pitchFamily="34" charset="-120"/>
              </a:rPr>
              <a:t>Team ID- </a:t>
            </a:r>
            <a:pPr indent="0" marL="0">
              <a:buNone/>
            </a:pPr>
            <a:r>
              <a:rPr lang="en-US" sz="1900" dirty="0">
                <a:solidFill>
                  <a:srgbClr val="000000"/>
                </a:solidFill>
                <a:latin typeface="Arial" pitchFamily="34" charset="0"/>
                <a:ea typeface="Arial" pitchFamily="34" charset="-122"/>
                <a:cs typeface="Arial" pitchFamily="34" charset="-120"/>
              </a:rPr>
              <a:t>SIH26-A0H-T184</a:t>
            </a:r>
            <a:endParaRPr lang="en-US" sz="1900" dirty="0"/>
          </a:p>
        </p:txBody>
      </p:sp>
      <p:sp>
        <p:nvSpPr>
          <p:cNvPr id="11" name="Text 7"/>
          <p:cNvSpPr txBox="1"/>
          <p:nvPr/>
        </p:nvSpPr>
        <p:spPr>
          <a:xfrm>
            <a:off x="502920" y="4224528"/>
            <a:ext cx="7680960" cy="438912"/>
          </a:xfrm>
          <a:prstGeom prst="rect">
            <a:avLst/>
          </a:prstGeom>
          <a:noFill/>
          <a:ln/>
        </p:spPr>
        <p:txBody>
          <a:bodyPr wrap="square" lIns="0" tIns="0" rIns="0" bIns="0" rtlCol="0" anchor="ctr"/>
          <a:lstStyle/>
          <a:p>
            <a:pPr marL="228600" indent="-228600">
              <a:buSzPct val="100000"/>
              <a:buChar char="•"/>
            </a:pPr>
            <a:r>
              <a:rPr lang="en-US" sz="1900" b="1" dirty="0">
                <a:solidFill>
                  <a:srgbClr val="000000"/>
                </a:solidFill>
                <a:latin typeface="Arial" pitchFamily="34" charset="0"/>
                <a:ea typeface="Arial" pitchFamily="34" charset="-122"/>
                <a:cs typeface="Arial" pitchFamily="34" charset="-120"/>
              </a:rPr>
              <a:t>Team Name (Registered on portal)- </a:t>
            </a:r>
            <a:pPr indent="0" marL="0">
              <a:buNone/>
            </a:pPr>
            <a:r>
              <a:rPr lang="en-US" sz="1900" dirty="0">
                <a:solidFill>
                  <a:srgbClr val="000000"/>
                </a:solidFill>
                <a:latin typeface="Arial" pitchFamily="34" charset="0"/>
                <a:ea typeface="Arial" pitchFamily="34" charset="-122"/>
                <a:cs typeface="Arial" pitchFamily="34" charset="-120"/>
              </a:rPr>
              <a:t>Aura</a:t>
            </a:r>
            <a:endParaRPr lang="en-US" sz="1900" dirty="0"/>
          </a:p>
        </p:txBody>
      </p:sp>
      <p:sp>
        <p:nvSpPr>
          <p:cNvPr id="12" name="Shape 8"/>
          <p:cNvSpPr/>
          <p:nvPr/>
        </p:nvSpPr>
        <p:spPr>
          <a:xfrm>
            <a:off x="329184" y="4846320"/>
            <a:ext cx="11521440" cy="1389888"/>
          </a:xfrm>
          <a:prstGeom prst="rect">
            <a:avLst/>
          </a:prstGeom>
          <a:solidFill>
            <a:srgbClr val="E2EFDA"/>
          </a:solidFill>
          <a:ln w="19050">
            <a:solidFill>
              <a:srgbClr val="548235"/>
            </a:solidFill>
            <a:prstDash val="solid"/>
          </a:ln>
        </p:spPr>
      </p:sp>
      <p:sp>
        <p:nvSpPr>
          <p:cNvPr id="13" name="Text 9"/>
          <p:cNvSpPr txBox="1"/>
          <p:nvPr/>
        </p:nvSpPr>
        <p:spPr>
          <a:xfrm>
            <a:off x="548640" y="4937760"/>
            <a:ext cx="2377440" cy="475488"/>
          </a:xfrm>
          <a:prstGeom prst="rect">
            <a:avLst/>
          </a:prstGeom>
          <a:noFill/>
          <a:ln/>
        </p:spPr>
        <p:txBody>
          <a:bodyPr wrap="square" lIns="0" tIns="0" rIns="0" bIns="0" rtlCol="0" anchor="ctr"/>
          <a:lstStyle/>
          <a:p>
            <a:pPr indent="0" marL="0">
              <a:buNone/>
            </a:pPr>
            <a:r>
              <a:rPr lang="en-US" sz="3000" b="1" dirty="0">
                <a:solidFill>
                  <a:srgbClr val="548235"/>
                </a:solidFill>
                <a:latin typeface="Times New Roman" pitchFamily="34" charset="0"/>
                <a:ea typeface="Times New Roman" pitchFamily="34" charset="-122"/>
                <a:cs typeface="Times New Roman" pitchFamily="34" charset="-120"/>
              </a:rPr>
              <a:t>AuraVeil</a:t>
            </a:r>
            <a:endParaRPr lang="en-US" sz="3000" dirty="0"/>
          </a:p>
        </p:txBody>
      </p:sp>
      <p:sp>
        <p:nvSpPr>
          <p:cNvPr id="14" name="Text 10"/>
          <p:cNvSpPr txBox="1"/>
          <p:nvPr/>
        </p:nvSpPr>
        <p:spPr>
          <a:xfrm>
            <a:off x="2651760" y="4937760"/>
            <a:ext cx="8961120" cy="475488"/>
          </a:xfrm>
          <a:prstGeom prst="rect">
            <a:avLst/>
          </a:prstGeom>
          <a:noFill/>
          <a:ln/>
        </p:spPr>
        <p:txBody>
          <a:bodyPr wrap="square" lIns="0" tIns="0" rIns="0" bIns="0" rtlCol="0" anchor="ctr"/>
          <a:lstStyle/>
          <a:p>
            <a:pPr indent="0" marL="0">
              <a:buNone/>
            </a:pPr>
            <a:r>
              <a:rPr lang="en-US" sz="2000" b="1" dirty="0">
                <a:solidFill>
                  <a:srgbClr val="000000"/>
                </a:solidFill>
                <a:latin typeface="Arial" pitchFamily="34" charset="0"/>
                <a:ea typeface="Arial" pitchFamily="34" charset="-122"/>
                <a:cs typeface="Arial" pitchFamily="34" charset="-120"/>
              </a:rPr>
              <a:t>The screen is read on your own machine. Only placeholders reach the server.</a:t>
            </a:r>
            <a:endParaRPr lang="en-US" sz="2000" dirty="0"/>
          </a:p>
        </p:txBody>
      </p:sp>
      <p:sp>
        <p:nvSpPr>
          <p:cNvPr id="15" name="Text 11"/>
          <p:cNvSpPr txBox="1"/>
          <p:nvPr/>
        </p:nvSpPr>
        <p:spPr>
          <a:xfrm>
            <a:off x="548640" y="5486400"/>
            <a:ext cx="11064240" cy="658368"/>
          </a:xfrm>
          <a:prstGeom prst="rect">
            <a:avLst/>
          </a:prstGeom>
          <a:noFill/>
          <a:ln/>
        </p:spPr>
        <p:txBody>
          <a:bodyPr wrap="square" lIns="0" tIns="0" rIns="0" bIns="0" rtlCol="0" anchor="t"/>
          <a:lstStyle/>
          <a:p>
            <a:pPr indent="0" marL="0">
              <a:buNone/>
            </a:pPr>
            <a:r>
              <a:rPr lang="en-US" sz="1700" i="1" dirty="0">
                <a:solidFill>
                  <a:srgbClr val="404040"/>
                </a:solidFill>
                <a:latin typeface="Arial" pitchFamily="34" charset="0"/>
                <a:ea typeface="Arial" pitchFamily="34" charset="-122"/>
                <a:cs typeface="Arial" pitchFamily="34" charset="-120"/>
              </a:rPr>
              <a:t>A privacy-preserving vision agent that runs inside the browser. Every model on both sides is open weights, so it can be deployed entirely offline.</a:t>
            </a:r>
            <a:endParaRPr lang="en-US" sz="1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home/claude/t26/image2.png">    </p:cNvPr>
          <p:cNvPicPr>
            <a:picLocks noChangeAspect="1"/>
          </p:cNvPicPr>
          <p:nvPr/>
        </p:nvPicPr>
        <p:blipFill>
          <a:blip r:embed="rId1"/>
          <a:stretch>
            <a:fillRect/>
          </a:stretch>
        </p:blipFill>
        <p:spPr>
          <a:xfrm>
            <a:off x="9784080" y="0"/>
            <a:ext cx="2249424" cy="1060704"/>
          </a:xfrm>
          <a:prstGeom prst="rect">
            <a:avLst/>
          </a:prstGeom>
        </p:spPr>
      </p:pic>
      <p:sp>
        <p:nvSpPr>
          <p:cNvPr id="3" name="Shape 0"/>
          <p:cNvSpPr/>
          <p:nvPr/>
        </p:nvSpPr>
        <p:spPr>
          <a:xfrm>
            <a:off x="0" y="6355080"/>
            <a:ext cx="12188952" cy="502920"/>
          </a:xfrm>
          <a:prstGeom prst="rect">
            <a:avLst/>
          </a:prstGeom>
          <a:solidFill>
            <a:srgbClr val="0070C0"/>
          </a:solidFill>
          <a:ln w="12700">
            <a:solidFill>
              <a:srgbClr val="0070C0"/>
            </a:solidFill>
            <a:prstDash val="solid"/>
          </a:ln>
        </p:spPr>
      </p:sp>
      <p:sp>
        <p:nvSpPr>
          <p:cNvPr id="4" name="Text 1"/>
          <p:cNvSpPr txBox="1"/>
          <p:nvPr/>
        </p:nvSpPr>
        <p:spPr>
          <a:xfrm>
            <a:off x="4645152" y="6355080"/>
            <a:ext cx="3200400" cy="365760"/>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@SIH Idea submission- Template</a:t>
            </a:r>
            <a:endParaRPr lang="en-US" sz="1200" dirty="0"/>
          </a:p>
        </p:txBody>
      </p:sp>
      <p:sp>
        <p:nvSpPr>
          <p:cNvPr id="5" name="Text 2"/>
          <p:cNvSpPr txBox="1"/>
          <p:nvPr/>
        </p:nvSpPr>
        <p:spPr>
          <a:xfrm>
            <a:off x="10607040" y="6355080"/>
            <a:ext cx="54864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6" name="Shape 3"/>
          <p:cNvSpPr/>
          <p:nvPr/>
        </p:nvSpPr>
        <p:spPr>
          <a:xfrm>
            <a:off x="292608" y="91440"/>
            <a:ext cx="1060704" cy="713232"/>
          </a:xfrm>
          <a:prstGeom prst="ellipse">
            <a:avLst/>
          </a:prstGeom>
          <a:solidFill>
            <a:srgbClr val="FFFFFF"/>
          </a:solidFill>
          <a:ln w="15875">
            <a:solidFill>
              <a:srgbClr val="8064A2"/>
            </a:solidFill>
            <a:prstDash val="solid"/>
          </a:ln>
        </p:spPr>
      </p:sp>
      <p:sp>
        <p:nvSpPr>
          <p:cNvPr id="7" name="Text 4"/>
          <p:cNvSpPr txBox="1"/>
          <p:nvPr/>
        </p:nvSpPr>
        <p:spPr>
          <a:xfrm>
            <a:off x="292608" y="91440"/>
            <a:ext cx="1060704" cy="713232"/>
          </a:xfrm>
          <a:prstGeom prst="rect">
            <a:avLst/>
          </a:prstGeom>
          <a:noFill/>
          <a:ln/>
        </p:spPr>
        <p:txBody>
          <a:bodyPr wrap="square" lIns="0" tIns="0" rIns="0" bIns="0" rtlCol="0" anchor="ctr"/>
          <a:lstStyle/>
          <a:p>
            <a:pPr algn="ctr" indent="0" marL="0">
              <a:buNone/>
            </a:pPr>
            <a:r>
              <a:rPr lang="en-US" sz="1300" dirty="0">
                <a:solidFill>
                  <a:srgbClr val="000000"/>
                </a:solidFill>
                <a:latin typeface="Arial" pitchFamily="34" charset="0"/>
                <a:ea typeface="Arial" pitchFamily="34" charset="-122"/>
                <a:cs typeface="Arial" pitchFamily="34" charset="-120"/>
              </a:rPr>
              <a:t>Aura</a:t>
            </a:r>
            <a:endParaRPr lang="en-US" sz="1300" dirty="0"/>
          </a:p>
        </p:txBody>
      </p:sp>
      <p:sp>
        <p:nvSpPr>
          <p:cNvPr id="8" name="Text 5"/>
          <p:cNvSpPr txBox="1"/>
          <p:nvPr/>
        </p:nvSpPr>
        <p:spPr>
          <a:xfrm>
            <a:off x="1463040" y="54864"/>
            <a:ext cx="8229600" cy="749808"/>
          </a:xfrm>
          <a:prstGeom prst="rect">
            <a:avLst/>
          </a:prstGeom>
          <a:noFill/>
          <a:ln/>
        </p:spPr>
        <p:txBody>
          <a:bodyPr wrap="square" lIns="0" tIns="0" rIns="0" bIns="0" rtlCol="0" anchor="ctr"/>
          <a:lstStyle/>
          <a:p>
            <a:pPr algn="ctr" indent="0" marL="0">
              <a:buNone/>
            </a:pPr>
            <a:r>
              <a:rPr lang="en-US" sz="2800" b="1" dirty="0">
                <a:solidFill>
                  <a:srgbClr val="000000"/>
                </a:solidFill>
                <a:latin typeface="Times New Roman" pitchFamily="34" charset="0"/>
                <a:ea typeface="Times New Roman" pitchFamily="34" charset="-122"/>
                <a:cs typeface="Times New Roman" pitchFamily="34" charset="-120"/>
              </a:rPr>
              <a:t>AuraVeil: A Privacy-Preserving Browser Vision Agent</a:t>
            </a:r>
            <a:endParaRPr lang="en-US" sz="2800" dirty="0"/>
          </a:p>
        </p:txBody>
      </p:sp>
      <p:sp>
        <p:nvSpPr>
          <p:cNvPr id="9" name="Text 6"/>
          <p:cNvSpPr txBox="1"/>
          <p:nvPr/>
        </p:nvSpPr>
        <p:spPr>
          <a:xfrm>
            <a:off x="329184" y="932688"/>
            <a:ext cx="5577840" cy="292608"/>
          </a:xfrm>
          <a:prstGeom prst="rect">
            <a:avLst/>
          </a:prstGeom>
          <a:noFill/>
          <a:ln/>
        </p:spPr>
        <p:txBody>
          <a:bodyPr wrap="square" lIns="0" tIns="0" rIns="0" bIns="0" rtlCol="0" anchor="ctr"/>
          <a:lstStyle/>
          <a:p>
            <a:pPr indent="0" marL="0">
              <a:buNone/>
            </a:pPr>
            <a:r>
              <a:rPr lang="en-US" sz="1400" b="1" u="sng" dirty="0">
                <a:solidFill>
                  <a:srgbClr val="1F4E79"/>
                </a:solidFill>
                <a:latin typeface="Arial" pitchFamily="34" charset="0"/>
                <a:ea typeface="Arial" pitchFamily="34" charset="-122"/>
                <a:cs typeface="Arial" pitchFamily="34" charset="-120"/>
              </a:rPr>
              <a:t>◆  Proposed Solution (Describe your Idea/Solution/Prototype)</a:t>
            </a:r>
            <a:endParaRPr lang="en-US" sz="1400" dirty="0"/>
          </a:p>
        </p:txBody>
      </p:sp>
      <p:sp>
        <p:nvSpPr>
          <p:cNvPr id="10" name="Text 7"/>
          <p:cNvSpPr txBox="1"/>
          <p:nvPr/>
        </p:nvSpPr>
        <p:spPr>
          <a:xfrm>
            <a:off x="384048" y="1335024"/>
            <a:ext cx="5632704" cy="2688336"/>
          </a:xfrm>
          <a:prstGeom prst="rect">
            <a:avLst/>
          </a:prstGeom>
          <a:noFill/>
          <a:ln/>
        </p:spPr>
        <p:txBody>
          <a:bodyPr wrap="square" lIns="0" tIns="0" rIns="0" bIns="0" rtlCol="0" anchor="t"/>
          <a:lstStyle/>
          <a:p>
            <a:pPr indent="0" marL="0">
              <a:lnSpc>
                <a:spcPct val="100000"/>
              </a:lnSpc>
              <a:buNone/>
            </a:pPr>
            <a:r>
              <a:rPr lang="en-US" sz="1500" b="1" dirty="0">
                <a:solidFill>
                  <a:srgbClr val="1F4E79"/>
                </a:solidFill>
                <a:latin typeface="Arial" pitchFamily="34" charset="0"/>
                <a:ea typeface="Arial" pitchFamily="34" charset="-122"/>
                <a:cs typeface="Arial" pitchFamily="34" charset="-120"/>
              </a:rPr>
              <a:t>1  </a:t>
            </a:r>
            <a:pPr indent="0" marL="0">
              <a:lnSpc>
                <a:spcPct val="100000"/>
              </a:lnSpc>
              <a:spcAft>
                <a:spcPts val="1400"/>
              </a:spcAft>
              <a:buNone/>
            </a:pPr>
            <a:r>
              <a:rPr lang="en-US" sz="1500" dirty="0">
                <a:solidFill>
                  <a:srgbClr val="000000"/>
                </a:solidFill>
                <a:latin typeface="Arial" pitchFamily="34" charset="0"/>
                <a:ea typeface="Arial" pitchFamily="34" charset="-122"/>
                <a:cs typeface="Arial" pitchFamily="34" charset="-120"/>
              </a:rPr>
              <a:t>Read the screen on the device with small vision models.</a:t>
            </a:r>
            <a:endParaRPr lang="en-US" sz="1500" dirty="0"/>
          </a:p>
          <a:p>
            <a:pPr indent="0" marL="0">
              <a:lnSpc>
                <a:spcPct val="100000"/>
              </a:lnSpc>
              <a:buNone/>
            </a:pPr>
            <a:r>
              <a:rPr lang="en-US" sz="1500" b="1" dirty="0">
                <a:solidFill>
                  <a:srgbClr val="1F4E79"/>
                </a:solidFill>
                <a:latin typeface="Arial" pitchFamily="34" charset="0"/>
                <a:ea typeface="Arial" pitchFamily="34" charset="-122"/>
                <a:cs typeface="Arial" pitchFamily="34" charset="-120"/>
              </a:rPr>
              <a:t>2  </a:t>
            </a:r>
            <a:pPr indent="0" marL="0">
              <a:lnSpc>
                <a:spcPct val="100000"/>
              </a:lnSpc>
              <a:spcAft>
                <a:spcPts val="1400"/>
              </a:spcAft>
              <a:buNone/>
            </a:pPr>
            <a:r>
              <a:rPr lang="en-US" sz="1500" dirty="0">
                <a:solidFill>
                  <a:srgbClr val="000000"/>
                </a:solidFill>
                <a:latin typeface="Arial" pitchFamily="34" charset="0"/>
                <a:ea typeface="Arial" pitchFamily="34" charset="-122"/>
                <a:cs typeface="Arial" pitchFamily="34" charset="-120"/>
              </a:rPr>
              <a:t>Find every sensitive field with three detectors.</a:t>
            </a:r>
            <a:endParaRPr lang="en-US" sz="1500" dirty="0"/>
          </a:p>
          <a:p>
            <a:pPr indent="0" marL="0">
              <a:lnSpc>
                <a:spcPct val="100000"/>
              </a:lnSpc>
              <a:buNone/>
            </a:pPr>
            <a:r>
              <a:rPr lang="en-US" sz="1500" b="1" dirty="0">
                <a:solidFill>
                  <a:srgbClr val="1F4E79"/>
                </a:solidFill>
                <a:latin typeface="Arial" pitchFamily="34" charset="0"/>
                <a:ea typeface="Arial" pitchFamily="34" charset="-122"/>
                <a:cs typeface="Arial" pitchFamily="34" charset="-120"/>
              </a:rPr>
              <a:t>3  </a:t>
            </a:r>
            <a:pPr indent="0" marL="0">
              <a:lnSpc>
                <a:spcPct val="100000"/>
              </a:lnSpc>
              <a:spcAft>
                <a:spcPts val="1400"/>
              </a:spcAft>
              <a:buNone/>
            </a:pPr>
            <a:r>
              <a:rPr lang="en-US" sz="1500" dirty="0">
                <a:solidFill>
                  <a:srgbClr val="000000"/>
                </a:solidFill>
                <a:latin typeface="Arial" pitchFamily="34" charset="0"/>
                <a:ea typeface="Arial" pitchFamily="34" charset="-122"/>
                <a:cs typeface="Arial" pitchFamily="34" charset="-120"/>
              </a:rPr>
              <a:t>Black it out and replace the value with a placeholder.</a:t>
            </a:r>
            <a:endParaRPr lang="en-US" sz="1500" dirty="0"/>
          </a:p>
          <a:p>
            <a:pPr indent="0" marL="0">
              <a:lnSpc>
                <a:spcPct val="100000"/>
              </a:lnSpc>
              <a:buNone/>
            </a:pPr>
            <a:r>
              <a:rPr lang="en-US" sz="1500" b="1" dirty="0">
                <a:solidFill>
                  <a:srgbClr val="1F4E79"/>
                </a:solidFill>
                <a:latin typeface="Arial" pitchFamily="34" charset="0"/>
                <a:ea typeface="Arial" pitchFamily="34" charset="-122"/>
                <a:cs typeface="Arial" pitchFamily="34" charset="-120"/>
              </a:rPr>
              <a:t>4  </a:t>
            </a:r>
            <a:pPr indent="0" marL="0">
              <a:lnSpc>
                <a:spcPct val="100000"/>
              </a:lnSpc>
              <a:spcAft>
                <a:spcPts val="1400"/>
              </a:spcAft>
              <a:buNone/>
            </a:pPr>
            <a:r>
              <a:rPr lang="en-US" sz="1500" dirty="0">
                <a:solidFill>
                  <a:srgbClr val="000000"/>
                </a:solidFill>
                <a:latin typeface="Arial" pitchFamily="34" charset="0"/>
                <a:ea typeface="Arial" pitchFamily="34" charset="-122"/>
                <a:cs typeface="Arial" pitchFamily="34" charset="-120"/>
              </a:rPr>
              <a:t>Send only the sanitised description, through one gate.</a:t>
            </a:r>
            <a:endParaRPr lang="en-US" sz="1500" dirty="0"/>
          </a:p>
          <a:p>
            <a:pPr indent="0" marL="0">
              <a:lnSpc>
                <a:spcPct val="100000"/>
              </a:lnSpc>
              <a:buNone/>
            </a:pPr>
            <a:r>
              <a:rPr lang="en-US" sz="1500" b="1" dirty="0">
                <a:solidFill>
                  <a:srgbClr val="1F4E79"/>
                </a:solidFill>
                <a:latin typeface="Arial" pitchFamily="34" charset="0"/>
                <a:ea typeface="Arial" pitchFamily="34" charset="-122"/>
                <a:cs typeface="Arial" pitchFamily="34" charset="-120"/>
              </a:rPr>
              <a:t>5  </a:t>
            </a:r>
            <a:pPr indent="0" marL="0">
              <a:lnSpc>
                <a:spcPct val="100000"/>
              </a:lnSpc>
              <a:spcAft>
                <a:spcPts val="1400"/>
              </a:spcAft>
              <a:buNone/>
            </a:pPr>
            <a:r>
              <a:rPr lang="en-US" sz="1500" dirty="0">
                <a:solidFill>
                  <a:srgbClr val="000000"/>
                </a:solidFill>
                <a:latin typeface="Arial" pitchFamily="34" charset="0"/>
                <a:ea typeface="Arial" pitchFamily="34" charset="-122"/>
                <a:cs typeface="Arial" pitchFamily="34" charset="-120"/>
              </a:rPr>
              <a:t>The server plans over placeholders and returns actions.</a:t>
            </a:r>
            <a:endParaRPr lang="en-US" sz="1500" dirty="0"/>
          </a:p>
          <a:p>
            <a:pPr indent="0" marL="0">
              <a:lnSpc>
                <a:spcPct val="100000"/>
              </a:lnSpc>
              <a:buNone/>
            </a:pPr>
            <a:r>
              <a:rPr lang="en-US" sz="1500" b="1" dirty="0">
                <a:solidFill>
                  <a:srgbClr val="1F4E79"/>
                </a:solidFill>
                <a:latin typeface="Arial" pitchFamily="34" charset="0"/>
                <a:ea typeface="Arial" pitchFamily="34" charset="-122"/>
                <a:cs typeface="Arial" pitchFamily="34" charset="-120"/>
              </a:rPr>
              <a:t>6  </a:t>
            </a:r>
            <a:pPr indent="0" marL="0">
              <a:lnSpc>
                <a:spcPct val="100000"/>
              </a:lnSpc>
              <a:buNone/>
            </a:pPr>
            <a:r>
              <a:rPr lang="en-US" sz="1500" dirty="0">
                <a:solidFill>
                  <a:srgbClr val="000000"/>
                </a:solidFill>
                <a:latin typeface="Arial" pitchFamily="34" charset="0"/>
                <a:ea typeface="Arial" pitchFamily="34" charset="-122"/>
                <a:cs typeface="Arial" pitchFamily="34" charset="-120"/>
              </a:rPr>
              <a:t>The device resolves it and fills in the real value.</a:t>
            </a:r>
            <a:endParaRPr lang="en-US" sz="1500" dirty="0"/>
          </a:p>
        </p:txBody>
      </p:sp>
      <p:sp>
        <p:nvSpPr>
          <p:cNvPr id="11" name="Text 8"/>
          <p:cNvSpPr txBox="1"/>
          <p:nvPr/>
        </p:nvSpPr>
        <p:spPr>
          <a:xfrm>
            <a:off x="6144768" y="932688"/>
            <a:ext cx="5705856" cy="292608"/>
          </a:xfrm>
          <a:prstGeom prst="rect">
            <a:avLst/>
          </a:prstGeom>
          <a:noFill/>
          <a:ln/>
        </p:spPr>
        <p:txBody>
          <a:bodyPr wrap="square" lIns="0" tIns="0" rIns="0" bIns="0" rtlCol="0" anchor="ctr"/>
          <a:lstStyle/>
          <a:p>
            <a:pPr indent="0" marL="0">
              <a:buNone/>
            </a:pPr>
            <a:r>
              <a:rPr lang="en-US" sz="1400" b="1" u="sng" dirty="0">
                <a:solidFill>
                  <a:srgbClr val="1F4E79"/>
                </a:solidFill>
                <a:latin typeface="Arial" pitchFamily="34" charset="0"/>
                <a:ea typeface="Arial" pitchFamily="34" charset="-122"/>
                <a:cs typeface="Arial" pitchFamily="34" charset="-120"/>
              </a:rPr>
              <a:t>◆  How it addresses the problem</a:t>
            </a:r>
            <a:endParaRPr lang="en-US" sz="1400" dirty="0"/>
          </a:p>
        </p:txBody>
      </p:sp>
      <p:sp>
        <p:nvSpPr>
          <p:cNvPr id="12" name="Text 9"/>
          <p:cNvSpPr txBox="1"/>
          <p:nvPr/>
        </p:nvSpPr>
        <p:spPr>
          <a:xfrm>
            <a:off x="6199632" y="1335024"/>
            <a:ext cx="5650992" cy="1005840"/>
          </a:xfrm>
          <a:prstGeom prst="rect">
            <a:avLst/>
          </a:prstGeom>
          <a:noFill/>
          <a:ln/>
        </p:spPr>
        <p:txBody>
          <a:bodyPr wrap="square" lIns="0" tIns="0" rIns="0" bIns="0" rtlCol="0" anchor="t"/>
          <a:lstStyle/>
          <a:p>
            <a:pPr indent="0" marL="0">
              <a:lnSpc>
                <a:spcPct val="100000"/>
              </a:lnSpc>
              <a:buNone/>
            </a:pPr>
            <a:r>
              <a:rPr lang="en-US" sz="1500" dirty="0">
                <a:solidFill>
                  <a:srgbClr val="000000"/>
                </a:solidFill>
                <a:latin typeface="Arial" pitchFamily="34" charset="0"/>
                <a:ea typeface="Arial" pitchFamily="34" charset="-122"/>
                <a:cs typeface="Arial" pitchFamily="34" charset="-120"/>
              </a:rPr>
              <a:t>The agent still gets the full screen context it needs to act, while the user gives up nothing. Detection and redaction happen on the device, so the server can plan and act but has nothing sensitive to lose.</a:t>
            </a:r>
            <a:endParaRPr lang="en-US" sz="1500" dirty="0"/>
          </a:p>
        </p:txBody>
      </p:sp>
      <p:sp>
        <p:nvSpPr>
          <p:cNvPr id="13" name="Text 10"/>
          <p:cNvSpPr txBox="1"/>
          <p:nvPr/>
        </p:nvSpPr>
        <p:spPr>
          <a:xfrm>
            <a:off x="6144768" y="2432304"/>
            <a:ext cx="5705856" cy="292608"/>
          </a:xfrm>
          <a:prstGeom prst="rect">
            <a:avLst/>
          </a:prstGeom>
          <a:noFill/>
          <a:ln/>
        </p:spPr>
        <p:txBody>
          <a:bodyPr wrap="square" lIns="0" tIns="0" rIns="0" bIns="0" rtlCol="0" anchor="ctr"/>
          <a:lstStyle/>
          <a:p>
            <a:pPr indent="0" marL="0">
              <a:buNone/>
            </a:pPr>
            <a:r>
              <a:rPr lang="en-US" sz="1400" b="1" u="sng" dirty="0">
                <a:solidFill>
                  <a:srgbClr val="1F4E79"/>
                </a:solidFill>
                <a:latin typeface="Arial" pitchFamily="34" charset="0"/>
                <a:ea typeface="Arial" pitchFamily="34" charset="-122"/>
                <a:cs typeface="Arial" pitchFamily="34" charset="-120"/>
              </a:rPr>
              <a:t>◆  Innovation and uniqueness of the solution</a:t>
            </a:r>
            <a:endParaRPr lang="en-US" sz="1400" dirty="0"/>
          </a:p>
        </p:txBody>
      </p:sp>
      <p:sp>
        <p:nvSpPr>
          <p:cNvPr id="14" name="Text 11"/>
          <p:cNvSpPr txBox="1"/>
          <p:nvPr/>
        </p:nvSpPr>
        <p:spPr>
          <a:xfrm>
            <a:off x="6199632" y="2816352"/>
            <a:ext cx="5650992" cy="1225296"/>
          </a:xfrm>
          <a:prstGeom prst="rect">
            <a:avLst/>
          </a:prstGeom>
          <a:noFill/>
          <a:ln/>
        </p:spPr>
        <p:txBody>
          <a:bodyPr wrap="square" lIns="0" tIns="0" rIns="0" bIns="0" rtlCol="0" anchor="t"/>
          <a:lstStyle/>
          <a:p>
            <a:pPr marL="177800" indent="-177800">
              <a:lnSpc>
                <a:spcPct val="100000"/>
              </a:lnSpc>
              <a:spcAft>
                <a:spcPts val="800"/>
              </a:spcAft>
              <a:buSzPct val="100000"/>
              <a:buChar char="▪"/>
            </a:pPr>
            <a:r>
              <a:rPr lang="en-US" sz="1500" dirty="0">
                <a:solidFill>
                  <a:srgbClr val="000000"/>
                </a:solidFill>
                <a:latin typeface="Arial" pitchFamily="34" charset="0"/>
                <a:ea typeface="Arial" pitchFamily="34" charset="-122"/>
                <a:cs typeface="Arial" pitchFamily="34" charset="-120"/>
              </a:rPr>
              <a:t>The browser gives us the field label, so we know what a number means.</a:t>
            </a:r>
            <a:endParaRPr lang="en-US" sz="1500" dirty="0"/>
          </a:p>
          <a:p>
            <a:pPr marL="177800" indent="-177800">
              <a:lnSpc>
                <a:spcPct val="100000"/>
              </a:lnSpc>
              <a:spcAft>
                <a:spcPts val="800"/>
              </a:spcAft>
              <a:buSzPct val="100000"/>
              <a:buChar char="▪"/>
            </a:pPr>
            <a:r>
              <a:rPr lang="en-US" sz="1500" dirty="0">
                <a:solidFill>
                  <a:srgbClr val="000000"/>
                </a:solidFill>
                <a:latin typeface="Arial" pitchFamily="34" charset="0"/>
                <a:ea typeface="Arial" pitchFamily="34" charset="-122"/>
                <a:cs typeface="Arial" pitchFamily="34" charset="-120"/>
              </a:rPr>
              <a:t>The server reasons over placeholders, never over real values.</a:t>
            </a:r>
            <a:endParaRPr lang="en-US" sz="1500" dirty="0"/>
          </a:p>
          <a:p>
            <a:pPr marL="177800" indent="-177800">
              <a:lnSpc>
                <a:spcPct val="100000"/>
              </a:lnSpc>
              <a:buSzPct val="100000"/>
              <a:buChar char="▪"/>
            </a:pPr>
            <a:r>
              <a:rPr lang="en-US" sz="1500" dirty="0">
                <a:solidFill>
                  <a:srgbClr val="000000"/>
                </a:solidFill>
                <a:latin typeface="Arial" pitchFamily="34" charset="0"/>
                <a:ea typeface="Arial" pitchFamily="34" charset="-122"/>
                <a:cs typeface="Arial" pitchFamily="34" charset="-120"/>
              </a:rPr>
              <a:t>One egress point, plus a receipt of exactly what left the machine.</a:t>
            </a:r>
            <a:endParaRPr lang="en-US" sz="1500" dirty="0"/>
          </a:p>
        </p:txBody>
      </p:sp>
      <p:pic>
        <p:nvPicPr>
          <p:cNvPr id="15" name="Image 1" descr="/home/claude/hero6.png">    </p:cNvPr>
          <p:cNvPicPr>
            <a:picLocks noChangeAspect="1"/>
          </p:cNvPicPr>
          <p:nvPr/>
        </p:nvPicPr>
        <p:blipFill>
          <a:blip r:embed="rId2"/>
          <a:stretch>
            <a:fillRect/>
          </a:stretch>
        </p:blipFill>
        <p:spPr>
          <a:xfrm>
            <a:off x="329184" y="4224528"/>
            <a:ext cx="11521440" cy="1719072"/>
          </a:xfrm>
          <a:prstGeom prst="rect">
            <a:avLst/>
          </a:prstGeom>
        </p:spPr>
      </p:pic>
      <p:sp>
        <p:nvSpPr>
          <p:cNvPr id="16" name="Text 12"/>
          <p:cNvSpPr txBox="1"/>
          <p:nvPr/>
        </p:nvSpPr>
        <p:spPr>
          <a:xfrm>
            <a:off x="329184" y="5998464"/>
            <a:ext cx="11521440" cy="274320"/>
          </a:xfrm>
          <a:prstGeom prst="rect">
            <a:avLst/>
          </a:prstGeom>
          <a:noFill/>
          <a:ln/>
        </p:spPr>
        <p:txBody>
          <a:bodyPr wrap="square" lIns="0" tIns="0" rIns="0" bIns="0" rtlCol="0" anchor="ctr"/>
          <a:lstStyle/>
          <a:p>
            <a:pPr algn="ctr" indent="0" marL="0">
              <a:buNone/>
            </a:pPr>
            <a:r>
              <a:rPr lang="en-US" sz="1300" b="1" dirty="0">
                <a:solidFill>
                  <a:srgbClr val="C00000"/>
                </a:solidFill>
                <a:latin typeface="Arial" pitchFamily="34" charset="0"/>
                <a:ea typeface="Arial" pitchFamily="34" charset="-122"/>
                <a:cs typeface="Arial" pitchFamily="34" charset="-120"/>
              </a:rPr>
              <a:t>Redaction, demonstrated.  </a:t>
            </a:r>
            <a:pPr algn="ctr" indent="0" marL="0">
              <a:buNone/>
            </a:pPr>
            <a:r>
              <a:rPr lang="en-US" sz="1300" dirty="0">
                <a:solidFill>
                  <a:srgbClr val="000000"/>
                </a:solidFill>
                <a:latin typeface="Arial" pitchFamily="34" charset="0"/>
                <a:ea typeface="Arial" pitchFamily="34" charset="-122"/>
                <a:cs typeface="Arial" pitchFamily="34" charset="-120"/>
              </a:rPr>
              <a:t>Blur is reversible, so we black out and strip the text underneath. The password never leaves.</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home/claude/t26/image2.png">    </p:cNvPr>
          <p:cNvPicPr>
            <a:picLocks noChangeAspect="1"/>
          </p:cNvPicPr>
          <p:nvPr/>
        </p:nvPicPr>
        <p:blipFill>
          <a:blip r:embed="rId1"/>
          <a:stretch>
            <a:fillRect/>
          </a:stretch>
        </p:blipFill>
        <p:spPr>
          <a:xfrm>
            <a:off x="9784080" y="0"/>
            <a:ext cx="2249424" cy="1060704"/>
          </a:xfrm>
          <a:prstGeom prst="rect">
            <a:avLst/>
          </a:prstGeom>
        </p:spPr>
      </p:pic>
      <p:sp>
        <p:nvSpPr>
          <p:cNvPr id="3" name="Shape 0"/>
          <p:cNvSpPr/>
          <p:nvPr/>
        </p:nvSpPr>
        <p:spPr>
          <a:xfrm>
            <a:off x="0" y="6355080"/>
            <a:ext cx="12188952" cy="502920"/>
          </a:xfrm>
          <a:prstGeom prst="rect">
            <a:avLst/>
          </a:prstGeom>
          <a:solidFill>
            <a:srgbClr val="0070C0"/>
          </a:solidFill>
          <a:ln w="12700">
            <a:solidFill>
              <a:srgbClr val="0070C0"/>
            </a:solidFill>
            <a:prstDash val="solid"/>
          </a:ln>
        </p:spPr>
      </p:sp>
      <p:sp>
        <p:nvSpPr>
          <p:cNvPr id="4" name="Text 1"/>
          <p:cNvSpPr txBox="1"/>
          <p:nvPr/>
        </p:nvSpPr>
        <p:spPr>
          <a:xfrm>
            <a:off x="4645152" y="6355080"/>
            <a:ext cx="3200400" cy="365760"/>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@SIH Idea submission- Template</a:t>
            </a:r>
            <a:endParaRPr lang="en-US" sz="1200" dirty="0"/>
          </a:p>
        </p:txBody>
      </p:sp>
      <p:sp>
        <p:nvSpPr>
          <p:cNvPr id="5" name="Text 2"/>
          <p:cNvSpPr txBox="1"/>
          <p:nvPr/>
        </p:nvSpPr>
        <p:spPr>
          <a:xfrm>
            <a:off x="10607040" y="6355080"/>
            <a:ext cx="54864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6" name="Shape 3"/>
          <p:cNvSpPr/>
          <p:nvPr/>
        </p:nvSpPr>
        <p:spPr>
          <a:xfrm>
            <a:off x="292608" y="91440"/>
            <a:ext cx="1060704" cy="713232"/>
          </a:xfrm>
          <a:prstGeom prst="ellipse">
            <a:avLst/>
          </a:prstGeom>
          <a:solidFill>
            <a:srgbClr val="FFFFFF"/>
          </a:solidFill>
          <a:ln w="15875">
            <a:solidFill>
              <a:srgbClr val="8064A2"/>
            </a:solidFill>
            <a:prstDash val="solid"/>
          </a:ln>
        </p:spPr>
      </p:sp>
      <p:sp>
        <p:nvSpPr>
          <p:cNvPr id="7" name="Text 4"/>
          <p:cNvSpPr txBox="1"/>
          <p:nvPr/>
        </p:nvSpPr>
        <p:spPr>
          <a:xfrm>
            <a:off x="292608" y="91440"/>
            <a:ext cx="1060704" cy="713232"/>
          </a:xfrm>
          <a:prstGeom prst="rect">
            <a:avLst/>
          </a:prstGeom>
          <a:noFill/>
          <a:ln/>
        </p:spPr>
        <p:txBody>
          <a:bodyPr wrap="square" lIns="0" tIns="0" rIns="0" bIns="0" rtlCol="0" anchor="ctr"/>
          <a:lstStyle/>
          <a:p>
            <a:pPr algn="ctr" indent="0" marL="0">
              <a:buNone/>
            </a:pPr>
            <a:r>
              <a:rPr lang="en-US" sz="1300" dirty="0">
                <a:solidFill>
                  <a:srgbClr val="000000"/>
                </a:solidFill>
                <a:latin typeface="Arial" pitchFamily="34" charset="0"/>
                <a:ea typeface="Arial" pitchFamily="34" charset="-122"/>
                <a:cs typeface="Arial" pitchFamily="34" charset="-120"/>
              </a:rPr>
              <a:t>Aura</a:t>
            </a:r>
            <a:endParaRPr lang="en-US" sz="1300" dirty="0"/>
          </a:p>
        </p:txBody>
      </p:sp>
      <p:sp>
        <p:nvSpPr>
          <p:cNvPr id="8" name="Text 5"/>
          <p:cNvSpPr txBox="1"/>
          <p:nvPr/>
        </p:nvSpPr>
        <p:spPr>
          <a:xfrm>
            <a:off x="1463040" y="54864"/>
            <a:ext cx="8229600" cy="749808"/>
          </a:xfrm>
          <a:prstGeom prst="rect">
            <a:avLst/>
          </a:prstGeom>
          <a:noFill/>
          <a:ln/>
        </p:spPr>
        <p:txBody>
          <a:bodyPr wrap="square" lIns="0" tIns="0" rIns="0" bIns="0" rtlCol="0" anchor="ctr"/>
          <a:lstStyle/>
          <a:p>
            <a:pPr algn="ctr" indent="0" marL="0">
              <a:buNone/>
            </a:pPr>
            <a:r>
              <a:rPr lang="en-US" sz="2800" b="1" dirty="0">
                <a:solidFill>
                  <a:srgbClr val="000000"/>
                </a:solidFill>
                <a:latin typeface="Times New Roman" pitchFamily="34" charset="0"/>
                <a:ea typeface="Times New Roman" pitchFamily="34" charset="-122"/>
                <a:cs typeface="Times New Roman" pitchFamily="34" charset="-120"/>
              </a:rPr>
              <a:t>TECHNICAL APPROACH</a:t>
            </a:r>
            <a:endParaRPr lang="en-US" sz="2800" dirty="0"/>
          </a:p>
        </p:txBody>
      </p:sp>
      <p:pic>
        <p:nvPicPr>
          <p:cNvPr id="9" name="Image 1" descr="/home/claude/flow4.png">    </p:cNvPr>
          <p:cNvPicPr>
            <a:picLocks noChangeAspect="1"/>
          </p:cNvPicPr>
          <p:nvPr/>
        </p:nvPicPr>
        <p:blipFill>
          <a:blip r:embed="rId2"/>
          <a:stretch>
            <a:fillRect/>
          </a:stretch>
        </p:blipFill>
        <p:spPr>
          <a:xfrm>
            <a:off x="786384" y="932688"/>
            <a:ext cx="10607040" cy="3282696"/>
          </a:xfrm>
          <a:prstGeom prst="rect">
            <a:avLst/>
          </a:prstGeom>
        </p:spPr>
      </p:pic>
      <p:sp>
        <p:nvSpPr>
          <p:cNvPr id="10" name="Text 6"/>
          <p:cNvSpPr txBox="1"/>
          <p:nvPr/>
        </p:nvSpPr>
        <p:spPr>
          <a:xfrm>
            <a:off x="329184" y="4334256"/>
            <a:ext cx="5541264" cy="292608"/>
          </a:xfrm>
          <a:prstGeom prst="rect">
            <a:avLst/>
          </a:prstGeom>
          <a:noFill/>
          <a:ln/>
        </p:spPr>
        <p:txBody>
          <a:bodyPr wrap="square" lIns="0" tIns="0" rIns="0" bIns="0" rtlCol="0" anchor="ctr"/>
          <a:lstStyle/>
          <a:p>
            <a:pPr indent="0" marL="0">
              <a:buNone/>
            </a:pPr>
            <a:r>
              <a:rPr lang="en-US" sz="1400" b="1" u="sng" dirty="0">
                <a:solidFill>
                  <a:srgbClr val="1F4E79"/>
                </a:solidFill>
                <a:latin typeface="Arial" pitchFamily="34" charset="0"/>
                <a:ea typeface="Arial" pitchFamily="34" charset="-122"/>
                <a:cs typeface="Arial" pitchFamily="34" charset="-120"/>
              </a:rPr>
              <a:t>◆  Technologies to be used</a:t>
            </a:r>
            <a:endParaRPr lang="en-US" sz="1400" dirty="0"/>
          </a:p>
        </p:txBody>
      </p:sp>
      <p:sp>
        <p:nvSpPr>
          <p:cNvPr id="11" name="Text 7"/>
          <p:cNvSpPr txBox="1"/>
          <p:nvPr/>
        </p:nvSpPr>
        <p:spPr>
          <a:xfrm>
            <a:off x="356616" y="4572000"/>
            <a:ext cx="1298448" cy="182880"/>
          </a:xfrm>
          <a:prstGeom prst="rect">
            <a:avLst/>
          </a:prstGeom>
          <a:noFill/>
          <a:ln/>
        </p:spPr>
        <p:txBody>
          <a:bodyPr wrap="square" lIns="0" tIns="0" rIns="0" bIns="0" rtlCol="0" anchor="ctr"/>
          <a:lstStyle/>
          <a:p>
            <a:pPr indent="0" marL="0">
              <a:buNone/>
            </a:pPr>
            <a:r>
              <a:rPr lang="en-US" sz="850" b="1" dirty="0">
                <a:solidFill>
                  <a:srgbClr val="404040"/>
                </a:solidFill>
                <a:latin typeface="Arial" pitchFamily="34" charset="0"/>
                <a:ea typeface="Arial" pitchFamily="34" charset="-122"/>
                <a:cs typeface="Arial" pitchFamily="34" charset="-120"/>
              </a:rPr>
              <a:t>Browser client</a:t>
            </a:r>
            <a:endParaRPr lang="en-US" sz="850" dirty="0"/>
          </a:p>
        </p:txBody>
      </p:sp>
      <p:pic>
        <p:nvPicPr>
          <p:cNvPr id="12" name="Image 2" descr="/home/claude/logos/googlechrome.png">    </p:cNvPr>
          <p:cNvPicPr>
            <a:picLocks noChangeAspect="1"/>
          </p:cNvPicPr>
          <p:nvPr/>
        </p:nvPicPr>
        <p:blipFill>
          <a:blip r:embed="rId3"/>
          <a:stretch>
            <a:fillRect/>
          </a:stretch>
        </p:blipFill>
        <p:spPr>
          <a:xfrm>
            <a:off x="384048" y="4773168"/>
            <a:ext cx="246888" cy="246888"/>
          </a:xfrm>
          <a:prstGeom prst="rect">
            <a:avLst/>
          </a:prstGeom>
        </p:spPr>
      </p:pic>
      <p:pic>
        <p:nvPicPr>
          <p:cNvPr id="13" name="Image 3" descr="/home/claude/logos/firefoxbrowser.png">    </p:cNvPr>
          <p:cNvPicPr>
            <a:picLocks noChangeAspect="1"/>
          </p:cNvPicPr>
          <p:nvPr/>
        </p:nvPicPr>
        <p:blipFill>
          <a:blip r:embed="rId4"/>
          <a:stretch>
            <a:fillRect/>
          </a:stretch>
        </p:blipFill>
        <p:spPr>
          <a:xfrm>
            <a:off x="685800" y="4773168"/>
            <a:ext cx="246888" cy="246888"/>
          </a:xfrm>
          <a:prstGeom prst="rect">
            <a:avLst/>
          </a:prstGeom>
        </p:spPr>
      </p:pic>
      <p:pic>
        <p:nvPicPr>
          <p:cNvPr id="14" name="Image 4" descr="/home/claude/logos/javascript.png">    </p:cNvPr>
          <p:cNvPicPr>
            <a:picLocks noChangeAspect="1"/>
          </p:cNvPicPr>
          <p:nvPr/>
        </p:nvPicPr>
        <p:blipFill>
          <a:blip r:embed="rId5"/>
          <a:stretch>
            <a:fillRect/>
          </a:stretch>
        </p:blipFill>
        <p:spPr>
          <a:xfrm>
            <a:off x="987552" y="4773168"/>
            <a:ext cx="246888" cy="246888"/>
          </a:xfrm>
          <a:prstGeom prst="rect">
            <a:avLst/>
          </a:prstGeom>
        </p:spPr>
      </p:pic>
      <p:pic>
        <p:nvPicPr>
          <p:cNvPr id="15" name="Image 5" descr="/home/claude/logos/webassembly.png">    </p:cNvPr>
          <p:cNvPicPr>
            <a:picLocks noChangeAspect="1"/>
          </p:cNvPicPr>
          <p:nvPr/>
        </p:nvPicPr>
        <p:blipFill>
          <a:blip r:embed="rId6"/>
          <a:stretch>
            <a:fillRect/>
          </a:stretch>
        </p:blipFill>
        <p:spPr>
          <a:xfrm>
            <a:off x="1289304" y="4773168"/>
            <a:ext cx="246888" cy="246888"/>
          </a:xfrm>
          <a:prstGeom prst="rect">
            <a:avLst/>
          </a:prstGeom>
        </p:spPr>
      </p:pic>
      <p:sp>
        <p:nvSpPr>
          <p:cNvPr id="16" name="Text 8"/>
          <p:cNvSpPr txBox="1"/>
          <p:nvPr/>
        </p:nvSpPr>
        <p:spPr>
          <a:xfrm>
            <a:off x="1801368" y="4572000"/>
            <a:ext cx="1298448" cy="182880"/>
          </a:xfrm>
          <a:prstGeom prst="rect">
            <a:avLst/>
          </a:prstGeom>
          <a:noFill/>
          <a:ln/>
        </p:spPr>
        <p:txBody>
          <a:bodyPr wrap="square" lIns="0" tIns="0" rIns="0" bIns="0" rtlCol="0" anchor="ctr"/>
          <a:lstStyle/>
          <a:p>
            <a:pPr indent="0" marL="0">
              <a:buNone/>
            </a:pPr>
            <a:r>
              <a:rPr lang="en-US" sz="850" b="1" dirty="0">
                <a:solidFill>
                  <a:srgbClr val="404040"/>
                </a:solidFill>
                <a:latin typeface="Arial" pitchFamily="34" charset="0"/>
                <a:ea typeface="Arial" pitchFamily="34" charset="-122"/>
                <a:cs typeface="Arial" pitchFamily="34" charset="-120"/>
              </a:rPr>
              <a:t>On-device models</a:t>
            </a:r>
            <a:endParaRPr lang="en-US" sz="850" dirty="0"/>
          </a:p>
        </p:txBody>
      </p:sp>
      <p:pic>
        <p:nvPicPr>
          <p:cNvPr id="17" name="Image 6" descr="/home/claude/logos/onnx.png">    </p:cNvPr>
          <p:cNvPicPr>
            <a:picLocks noChangeAspect="1"/>
          </p:cNvPicPr>
          <p:nvPr/>
        </p:nvPicPr>
        <p:blipFill>
          <a:blip r:embed="rId7"/>
          <a:stretch>
            <a:fillRect/>
          </a:stretch>
        </p:blipFill>
        <p:spPr>
          <a:xfrm>
            <a:off x="1828800" y="4773168"/>
            <a:ext cx="246888" cy="246888"/>
          </a:xfrm>
          <a:prstGeom prst="rect">
            <a:avLst/>
          </a:prstGeom>
        </p:spPr>
      </p:pic>
      <p:pic>
        <p:nvPicPr>
          <p:cNvPr id="18" name="Image 7" descr="/home/claude/logos/huggingface.png">    </p:cNvPr>
          <p:cNvPicPr>
            <a:picLocks noChangeAspect="1"/>
          </p:cNvPicPr>
          <p:nvPr/>
        </p:nvPicPr>
        <p:blipFill>
          <a:blip r:embed="rId8"/>
          <a:stretch>
            <a:fillRect/>
          </a:stretch>
        </p:blipFill>
        <p:spPr>
          <a:xfrm>
            <a:off x="2130552" y="4773168"/>
            <a:ext cx="246888" cy="246888"/>
          </a:xfrm>
          <a:prstGeom prst="rect">
            <a:avLst/>
          </a:prstGeom>
        </p:spPr>
      </p:pic>
      <p:pic>
        <p:nvPicPr>
          <p:cNvPr id="19" name="Image 8" descr="/home/claude/logos/pytorch.png">    </p:cNvPr>
          <p:cNvPicPr>
            <a:picLocks noChangeAspect="1"/>
          </p:cNvPicPr>
          <p:nvPr/>
        </p:nvPicPr>
        <p:blipFill>
          <a:blip r:embed="rId9"/>
          <a:stretch>
            <a:fillRect/>
          </a:stretch>
        </p:blipFill>
        <p:spPr>
          <a:xfrm>
            <a:off x="2432304" y="4773168"/>
            <a:ext cx="246888" cy="246888"/>
          </a:xfrm>
          <a:prstGeom prst="rect">
            <a:avLst/>
          </a:prstGeom>
        </p:spPr>
      </p:pic>
      <p:pic>
        <p:nvPicPr>
          <p:cNvPr id="20" name="Image 9" descr="/home/claude/logos/opencv.png">    </p:cNvPr>
          <p:cNvPicPr>
            <a:picLocks noChangeAspect="1"/>
          </p:cNvPicPr>
          <p:nvPr/>
        </p:nvPicPr>
        <p:blipFill>
          <a:blip r:embed="rId10"/>
          <a:stretch>
            <a:fillRect/>
          </a:stretch>
        </p:blipFill>
        <p:spPr>
          <a:xfrm>
            <a:off x="2734056" y="4773168"/>
            <a:ext cx="246888" cy="246888"/>
          </a:xfrm>
          <a:prstGeom prst="rect">
            <a:avLst/>
          </a:prstGeom>
        </p:spPr>
      </p:pic>
      <p:sp>
        <p:nvSpPr>
          <p:cNvPr id="21" name="Text 9"/>
          <p:cNvSpPr txBox="1"/>
          <p:nvPr/>
        </p:nvSpPr>
        <p:spPr>
          <a:xfrm>
            <a:off x="3246120" y="4572000"/>
            <a:ext cx="1298448" cy="182880"/>
          </a:xfrm>
          <a:prstGeom prst="rect">
            <a:avLst/>
          </a:prstGeom>
          <a:noFill/>
          <a:ln/>
        </p:spPr>
        <p:txBody>
          <a:bodyPr wrap="square" lIns="0" tIns="0" rIns="0" bIns="0" rtlCol="0" anchor="ctr"/>
          <a:lstStyle/>
          <a:p>
            <a:pPr indent="0" marL="0">
              <a:buNone/>
            </a:pPr>
            <a:r>
              <a:rPr lang="en-US" sz="850" b="1" dirty="0">
                <a:solidFill>
                  <a:srgbClr val="404040"/>
                </a:solidFill>
                <a:latin typeface="Arial" pitchFamily="34" charset="0"/>
                <a:ea typeface="Arial" pitchFamily="34" charset="-122"/>
                <a:cs typeface="Arial" pitchFamily="34" charset="-120"/>
              </a:rPr>
              <a:t>Server</a:t>
            </a:r>
            <a:endParaRPr lang="en-US" sz="850" dirty="0"/>
          </a:p>
        </p:txBody>
      </p:sp>
      <p:pic>
        <p:nvPicPr>
          <p:cNvPr id="22" name="Image 10" descr="/home/claude/logos/python.png">    </p:cNvPr>
          <p:cNvPicPr>
            <a:picLocks noChangeAspect="1"/>
          </p:cNvPicPr>
          <p:nvPr/>
        </p:nvPicPr>
        <p:blipFill>
          <a:blip r:embed="rId11"/>
          <a:stretch>
            <a:fillRect/>
          </a:stretch>
        </p:blipFill>
        <p:spPr>
          <a:xfrm>
            <a:off x="3273552" y="4773168"/>
            <a:ext cx="246888" cy="246888"/>
          </a:xfrm>
          <a:prstGeom prst="rect">
            <a:avLst/>
          </a:prstGeom>
        </p:spPr>
      </p:pic>
      <p:pic>
        <p:nvPicPr>
          <p:cNvPr id="23" name="Image 11" descr="/home/claude/logos/fastapi.png">    </p:cNvPr>
          <p:cNvPicPr>
            <a:picLocks noChangeAspect="1"/>
          </p:cNvPicPr>
          <p:nvPr/>
        </p:nvPicPr>
        <p:blipFill>
          <a:blip r:embed="rId12"/>
          <a:stretch>
            <a:fillRect/>
          </a:stretch>
        </p:blipFill>
        <p:spPr>
          <a:xfrm>
            <a:off x="3575304" y="4773168"/>
            <a:ext cx="246888" cy="246888"/>
          </a:xfrm>
          <a:prstGeom prst="rect">
            <a:avLst/>
          </a:prstGeom>
        </p:spPr>
      </p:pic>
      <p:pic>
        <p:nvPicPr>
          <p:cNvPr id="24" name="Image 12" descr="/home/claude/logos/docker.png">    </p:cNvPr>
          <p:cNvPicPr>
            <a:picLocks noChangeAspect="1"/>
          </p:cNvPicPr>
          <p:nvPr/>
        </p:nvPicPr>
        <p:blipFill>
          <a:blip r:embed="rId13"/>
          <a:stretch>
            <a:fillRect/>
          </a:stretch>
        </p:blipFill>
        <p:spPr>
          <a:xfrm>
            <a:off x="3877056" y="4773168"/>
            <a:ext cx="246888" cy="246888"/>
          </a:xfrm>
          <a:prstGeom prst="rect">
            <a:avLst/>
          </a:prstGeom>
        </p:spPr>
      </p:pic>
      <p:pic>
        <p:nvPicPr>
          <p:cNvPr id="25" name="Image 13" descr="/home/claude/logos/nvidia.png">    </p:cNvPr>
          <p:cNvPicPr>
            <a:picLocks noChangeAspect="1"/>
          </p:cNvPicPr>
          <p:nvPr/>
        </p:nvPicPr>
        <p:blipFill>
          <a:blip r:embed="rId14"/>
          <a:stretch>
            <a:fillRect/>
          </a:stretch>
        </p:blipFill>
        <p:spPr>
          <a:xfrm>
            <a:off x="4178808" y="4773168"/>
            <a:ext cx="246888" cy="246888"/>
          </a:xfrm>
          <a:prstGeom prst="rect">
            <a:avLst/>
          </a:prstGeom>
        </p:spPr>
      </p:pic>
      <p:sp>
        <p:nvSpPr>
          <p:cNvPr id="26" name="Text 10"/>
          <p:cNvSpPr txBox="1"/>
          <p:nvPr/>
        </p:nvSpPr>
        <p:spPr>
          <a:xfrm>
            <a:off x="4690872" y="4572000"/>
            <a:ext cx="960120" cy="182880"/>
          </a:xfrm>
          <a:prstGeom prst="rect">
            <a:avLst/>
          </a:prstGeom>
          <a:noFill/>
          <a:ln/>
        </p:spPr>
        <p:txBody>
          <a:bodyPr wrap="square" lIns="0" tIns="0" rIns="0" bIns="0" rtlCol="0" anchor="ctr"/>
          <a:lstStyle/>
          <a:p>
            <a:pPr indent="0" marL="0">
              <a:buNone/>
            </a:pPr>
            <a:r>
              <a:rPr lang="en-US" sz="850" b="1" dirty="0">
                <a:solidFill>
                  <a:srgbClr val="404040"/>
                </a:solidFill>
                <a:latin typeface="Arial" pitchFamily="34" charset="0"/>
                <a:ea typeface="Arial" pitchFamily="34" charset="-122"/>
                <a:cs typeface="Arial" pitchFamily="34" charset="-120"/>
              </a:rPr>
              <a:t>Build and test</a:t>
            </a:r>
            <a:endParaRPr lang="en-US" sz="850" dirty="0"/>
          </a:p>
        </p:txBody>
      </p:sp>
      <p:pic>
        <p:nvPicPr>
          <p:cNvPr id="27" name="Image 14" descr="/home/claude/logos/nodedotjs.png">    </p:cNvPr>
          <p:cNvPicPr>
            <a:picLocks noChangeAspect="1"/>
          </p:cNvPicPr>
          <p:nvPr/>
        </p:nvPicPr>
        <p:blipFill>
          <a:blip r:embed="rId15"/>
          <a:stretch>
            <a:fillRect/>
          </a:stretch>
        </p:blipFill>
        <p:spPr>
          <a:xfrm>
            <a:off x="4718304" y="4773168"/>
            <a:ext cx="246888" cy="246888"/>
          </a:xfrm>
          <a:prstGeom prst="rect">
            <a:avLst/>
          </a:prstGeom>
        </p:spPr>
      </p:pic>
      <p:pic>
        <p:nvPicPr>
          <p:cNvPr id="28" name="Image 15" descr="/home/claude/logos/github.png">    </p:cNvPr>
          <p:cNvPicPr>
            <a:picLocks noChangeAspect="1"/>
          </p:cNvPicPr>
          <p:nvPr/>
        </p:nvPicPr>
        <p:blipFill>
          <a:blip r:embed="rId16"/>
          <a:stretch>
            <a:fillRect/>
          </a:stretch>
        </p:blipFill>
        <p:spPr>
          <a:xfrm>
            <a:off x="5020056" y="4773168"/>
            <a:ext cx="246888" cy="246888"/>
          </a:xfrm>
          <a:prstGeom prst="rect">
            <a:avLst/>
          </a:prstGeom>
        </p:spPr>
      </p:pic>
      <p:sp>
        <p:nvSpPr>
          <p:cNvPr id="29" name="Text 11"/>
          <p:cNvSpPr txBox="1"/>
          <p:nvPr/>
        </p:nvSpPr>
        <p:spPr>
          <a:xfrm>
            <a:off x="384048" y="5102352"/>
            <a:ext cx="5431536" cy="1152144"/>
          </a:xfrm>
          <a:prstGeom prst="rect">
            <a:avLst/>
          </a:prstGeom>
          <a:noFill/>
          <a:ln/>
        </p:spPr>
        <p:txBody>
          <a:bodyPr wrap="square" lIns="0" tIns="0" rIns="0" bIns="0" rtlCol="0" anchor="t"/>
          <a:lstStyle/>
          <a:p>
            <a:pPr indent="0" marL="0">
              <a:lnSpc>
                <a:spcPct val="97000"/>
              </a:lnSpc>
              <a:buNone/>
            </a:pPr>
            <a:r>
              <a:rPr lang="en-US" sz="1000" b="1" dirty="0">
                <a:solidFill>
                  <a:srgbClr val="548235"/>
                </a:solidFill>
                <a:latin typeface="Arial" pitchFamily="34" charset="0"/>
                <a:ea typeface="Arial" pitchFamily="34" charset="-122"/>
                <a:cs typeface="Arial" pitchFamily="34" charset="-120"/>
              </a:rPr>
              <a:t>Browser client  </a:t>
            </a:r>
            <a:pPr indent="0" marL="0">
              <a:lnSpc>
                <a:spcPct val="97000"/>
              </a:lnSpc>
              <a:spcAft>
                <a:spcPts val="400"/>
              </a:spcAft>
              <a:buNone/>
            </a:pPr>
            <a:r>
              <a:rPr lang="en-US" sz="1000" dirty="0">
                <a:solidFill>
                  <a:srgbClr val="000000"/>
                </a:solidFill>
                <a:latin typeface="Arial" pitchFamily="34" charset="0"/>
                <a:ea typeface="Arial" pitchFamily="34" charset="-122"/>
                <a:cs typeface="Arial" pitchFamily="34" charset="-120"/>
              </a:rPr>
              <a:t>Chrome Manifest V3 and Firefox extension, offscreen document, WebGPU with a WebAssembly fallback.</a:t>
            </a:r>
            <a:endParaRPr lang="en-US" sz="1000" dirty="0"/>
          </a:p>
          <a:p>
            <a:pPr indent="0" marL="0">
              <a:lnSpc>
                <a:spcPct val="97000"/>
              </a:lnSpc>
              <a:buNone/>
            </a:pPr>
            <a:r>
              <a:rPr lang="en-US" sz="1000" b="1" dirty="0">
                <a:solidFill>
                  <a:srgbClr val="548235"/>
                </a:solidFill>
                <a:latin typeface="Arial" pitchFamily="34" charset="0"/>
                <a:ea typeface="Arial" pitchFamily="34" charset="-122"/>
                <a:cs typeface="Arial" pitchFamily="34" charset="-120"/>
              </a:rPr>
              <a:t>On-device models  </a:t>
            </a:r>
            <a:pPr indent="0" marL="0">
              <a:lnSpc>
                <a:spcPct val="97000"/>
              </a:lnSpc>
              <a:spcAft>
                <a:spcPts val="400"/>
              </a:spcAft>
              <a:buNone/>
            </a:pPr>
            <a:r>
              <a:rPr lang="en-US" sz="1000" dirty="0">
                <a:solidFill>
                  <a:srgbClr val="000000"/>
                </a:solidFill>
                <a:latin typeface="Arial" pitchFamily="34" charset="0"/>
                <a:ea typeface="Arial" pitchFamily="34" charset="-122"/>
                <a:cs typeface="Arial" pitchFamily="34" charset="-120"/>
              </a:rPr>
              <a:t>ONNX Runtime Web and Transformers.js: YOLOv10n, MobileViT, BlazeFace, GLiNER-PII, Florence-2.</a:t>
            </a:r>
            <a:endParaRPr lang="en-US" sz="1000" dirty="0"/>
          </a:p>
          <a:p>
            <a:pPr indent="0" marL="0">
              <a:lnSpc>
                <a:spcPct val="97000"/>
              </a:lnSpc>
              <a:buNone/>
            </a:pPr>
            <a:r>
              <a:rPr lang="en-US" sz="1000" b="1" dirty="0">
                <a:solidFill>
                  <a:srgbClr val="548235"/>
                </a:solidFill>
                <a:latin typeface="Arial" pitchFamily="34" charset="0"/>
                <a:ea typeface="Arial" pitchFamily="34" charset="-122"/>
                <a:cs typeface="Arial" pitchFamily="34" charset="-120"/>
              </a:rPr>
              <a:t>Server  </a:t>
            </a:r>
            <a:pPr indent="0" marL="0">
              <a:lnSpc>
                <a:spcPct val="97000"/>
              </a:lnSpc>
              <a:spcAft>
                <a:spcPts val="400"/>
              </a:spcAft>
              <a:buNone/>
            </a:pPr>
            <a:r>
              <a:rPr lang="en-US" sz="1000" dirty="0">
                <a:solidFill>
                  <a:srgbClr val="000000"/>
                </a:solidFill>
                <a:latin typeface="Arial" pitchFamily="34" charset="0"/>
                <a:ea typeface="Arial" pitchFamily="34" charset="-122"/>
                <a:cs typeface="Arial" pitchFamily="34" charset="-120"/>
              </a:rPr>
              <a:t>FastAPI with vLLM. Qwen2.5-VL-7B or UI-TARS, int4 on one 24 GB GPU.</a:t>
            </a:r>
            <a:endParaRPr lang="en-US" sz="1000" dirty="0"/>
          </a:p>
          <a:p>
            <a:pPr indent="0" marL="0">
              <a:lnSpc>
                <a:spcPct val="97000"/>
              </a:lnSpc>
              <a:buNone/>
            </a:pPr>
            <a:r>
              <a:rPr lang="en-US" sz="1000" b="1" dirty="0">
                <a:solidFill>
                  <a:srgbClr val="548235"/>
                </a:solidFill>
                <a:latin typeface="Arial" pitchFamily="34" charset="0"/>
                <a:ea typeface="Arial" pitchFamily="34" charset="-122"/>
                <a:cs typeface="Arial" pitchFamily="34" charset="-120"/>
              </a:rPr>
              <a:t>Build and test  </a:t>
            </a:r>
            <a:pPr indent="0" marL="0">
              <a:lnSpc>
                <a:spcPct val="97000"/>
              </a:lnSpc>
              <a:buNone/>
            </a:pPr>
            <a:r>
              <a:rPr lang="en-US" sz="1000" dirty="0">
                <a:solidFill>
                  <a:srgbClr val="000000"/>
                </a:solidFill>
                <a:latin typeface="Arial" pitchFamily="34" charset="0"/>
                <a:ea typeface="Arial" pitchFamily="34" charset="-122"/>
                <a:cs typeface="Arial" pitchFamily="34" charset="-120"/>
              </a:rPr>
              <a:t>Node and GitHub, with a Playwright harness on ai4privacy, WebPII and ScreenSpot-v2.</a:t>
            </a:r>
            <a:endParaRPr lang="en-US" sz="1000" dirty="0"/>
          </a:p>
        </p:txBody>
      </p:sp>
      <p:sp>
        <p:nvSpPr>
          <p:cNvPr id="30" name="Text 12"/>
          <p:cNvSpPr txBox="1"/>
          <p:nvPr/>
        </p:nvSpPr>
        <p:spPr>
          <a:xfrm>
            <a:off x="6089904" y="4334256"/>
            <a:ext cx="5760720" cy="292608"/>
          </a:xfrm>
          <a:prstGeom prst="rect">
            <a:avLst/>
          </a:prstGeom>
          <a:noFill/>
          <a:ln/>
        </p:spPr>
        <p:txBody>
          <a:bodyPr wrap="square" lIns="0" tIns="0" rIns="0" bIns="0" rtlCol="0" anchor="ctr"/>
          <a:lstStyle/>
          <a:p>
            <a:pPr indent="0" marL="0">
              <a:buNone/>
            </a:pPr>
            <a:r>
              <a:rPr lang="en-US" sz="1400" b="1" u="sng" dirty="0">
                <a:solidFill>
                  <a:srgbClr val="1F4E79"/>
                </a:solidFill>
                <a:latin typeface="Arial" pitchFamily="34" charset="0"/>
                <a:ea typeface="Arial" pitchFamily="34" charset="-122"/>
                <a:cs typeface="Arial" pitchFamily="34" charset="-120"/>
              </a:rPr>
              <a:t>◆  Methodology and process for implementation</a:t>
            </a:r>
            <a:endParaRPr lang="en-US" sz="1400" dirty="0"/>
          </a:p>
        </p:txBody>
      </p:sp>
      <p:sp>
        <p:nvSpPr>
          <p:cNvPr id="31" name="Text 13"/>
          <p:cNvSpPr txBox="1"/>
          <p:nvPr/>
        </p:nvSpPr>
        <p:spPr>
          <a:xfrm>
            <a:off x="6144768" y="4681728"/>
            <a:ext cx="5705856" cy="1572768"/>
          </a:xfrm>
          <a:prstGeom prst="rect">
            <a:avLst/>
          </a:prstGeom>
          <a:noFill/>
          <a:ln/>
        </p:spPr>
        <p:txBody>
          <a:bodyPr wrap="square" lIns="0" tIns="0" rIns="0" bIns="0" rtlCol="0" anchor="t"/>
          <a:lstStyle/>
          <a:p>
            <a:pPr indent="0" marL="0">
              <a:lnSpc>
                <a:spcPct val="100000"/>
              </a:lnSpc>
              <a:buNone/>
            </a:pPr>
            <a:r>
              <a:rPr lang="en-US" sz="1250" b="1" dirty="0">
                <a:solidFill>
                  <a:srgbClr val="1F4E79"/>
                </a:solidFill>
                <a:latin typeface="Arial" pitchFamily="34" charset="0"/>
                <a:ea typeface="Arial" pitchFamily="34" charset="-122"/>
                <a:cs typeface="Arial" pitchFamily="34" charset="-120"/>
              </a:rPr>
              <a:t>Phase 1  </a:t>
            </a:r>
            <a:pPr indent="0" marL="0">
              <a:lnSpc>
                <a:spcPct val="100000"/>
              </a:lnSpc>
              <a:spcAft>
                <a:spcPts val="900"/>
              </a:spcAft>
              <a:buNone/>
            </a:pPr>
            <a:r>
              <a:rPr lang="en-US" sz="1250" dirty="0">
                <a:solidFill>
                  <a:srgbClr val="000000"/>
                </a:solidFill>
                <a:latin typeface="Arial" pitchFamily="34" charset="0"/>
                <a:ea typeface="Arial" pitchFamily="34" charset="-122"/>
                <a:cs typeface="Arial" pitchFamily="34" charset="-120"/>
              </a:rPr>
              <a:t>Screen reading: capture, page structure, change gate.</a:t>
            </a:r>
            <a:endParaRPr lang="en-US" sz="1250" dirty="0"/>
          </a:p>
          <a:p>
            <a:pPr indent="0" marL="0">
              <a:lnSpc>
                <a:spcPct val="100000"/>
              </a:lnSpc>
              <a:buNone/>
            </a:pPr>
            <a:r>
              <a:rPr lang="en-US" sz="1250" b="1" dirty="0">
                <a:solidFill>
                  <a:srgbClr val="1F4E79"/>
                </a:solidFill>
                <a:latin typeface="Arial" pitchFamily="34" charset="0"/>
                <a:ea typeface="Arial" pitchFamily="34" charset="-122"/>
                <a:cs typeface="Arial" pitchFamily="34" charset="-120"/>
              </a:rPr>
              <a:t>Phase 2  </a:t>
            </a:r>
            <a:pPr indent="0" marL="0">
              <a:lnSpc>
                <a:spcPct val="100000"/>
              </a:lnSpc>
              <a:spcAft>
                <a:spcPts val="900"/>
              </a:spcAft>
              <a:buNone/>
            </a:pPr>
            <a:r>
              <a:rPr lang="en-US" sz="1250" dirty="0">
                <a:solidFill>
                  <a:srgbClr val="000000"/>
                </a:solidFill>
                <a:latin typeface="Arial" pitchFamily="34" charset="0"/>
                <a:ea typeface="Arial" pitchFamily="34" charset="-122"/>
                <a:cs typeface="Arial" pitchFamily="34" charset="-120"/>
              </a:rPr>
              <a:t>Privacy engine: detectors and the India identifier pack.</a:t>
            </a:r>
            <a:endParaRPr lang="en-US" sz="1250" dirty="0"/>
          </a:p>
          <a:p>
            <a:pPr indent="0" marL="0">
              <a:lnSpc>
                <a:spcPct val="100000"/>
              </a:lnSpc>
              <a:buNone/>
            </a:pPr>
            <a:r>
              <a:rPr lang="en-US" sz="1250" b="1" dirty="0">
                <a:solidFill>
                  <a:srgbClr val="1F4E79"/>
                </a:solidFill>
                <a:latin typeface="Arial" pitchFamily="34" charset="0"/>
                <a:ea typeface="Arial" pitchFamily="34" charset="-122"/>
                <a:cs typeface="Arial" pitchFamily="34" charset="-120"/>
              </a:rPr>
              <a:t>Phase 3  </a:t>
            </a:r>
            <a:pPr indent="0" marL="0">
              <a:lnSpc>
                <a:spcPct val="100000"/>
              </a:lnSpc>
              <a:spcAft>
                <a:spcPts val="900"/>
              </a:spcAft>
              <a:buNone/>
            </a:pPr>
            <a:r>
              <a:rPr lang="en-US" sz="1250" dirty="0">
                <a:solidFill>
                  <a:srgbClr val="000000"/>
                </a:solidFill>
                <a:latin typeface="Arial" pitchFamily="34" charset="0"/>
                <a:ea typeface="Arial" pitchFamily="34" charset="-122"/>
                <a:cs typeface="Arial" pitchFamily="34" charset="-120"/>
              </a:rPr>
              <a:t>Vision tier: models on WebGPU in the browser.</a:t>
            </a:r>
            <a:endParaRPr lang="en-US" sz="1250" dirty="0"/>
          </a:p>
          <a:p>
            <a:pPr indent="0" marL="0">
              <a:lnSpc>
                <a:spcPct val="100000"/>
              </a:lnSpc>
              <a:buNone/>
            </a:pPr>
            <a:r>
              <a:rPr lang="en-US" sz="1250" b="1" dirty="0">
                <a:solidFill>
                  <a:srgbClr val="1F4E79"/>
                </a:solidFill>
                <a:latin typeface="Arial" pitchFamily="34" charset="0"/>
                <a:ea typeface="Arial" pitchFamily="34" charset="-122"/>
                <a:cs typeface="Arial" pitchFamily="34" charset="-120"/>
              </a:rPr>
              <a:t>Phase 4  </a:t>
            </a:r>
            <a:pPr indent="0" marL="0">
              <a:lnSpc>
                <a:spcPct val="100000"/>
              </a:lnSpc>
              <a:spcAft>
                <a:spcPts val="900"/>
              </a:spcAft>
              <a:buNone/>
            </a:pPr>
            <a:r>
              <a:rPr lang="en-US" sz="1250" dirty="0">
                <a:solidFill>
                  <a:srgbClr val="000000"/>
                </a:solidFill>
                <a:latin typeface="Arial" pitchFamily="34" charset="0"/>
                <a:ea typeface="Arial" pitchFamily="34" charset="-122"/>
                <a:cs typeface="Arial" pitchFamily="34" charset="-120"/>
              </a:rPr>
              <a:t>Protocol and server: manifest, vault, typed actions.</a:t>
            </a:r>
            <a:endParaRPr lang="en-US" sz="1250" dirty="0"/>
          </a:p>
          <a:p>
            <a:pPr indent="0" marL="0">
              <a:lnSpc>
                <a:spcPct val="100000"/>
              </a:lnSpc>
              <a:buNone/>
            </a:pPr>
            <a:r>
              <a:rPr lang="en-US" sz="1250" b="1" dirty="0">
                <a:solidFill>
                  <a:srgbClr val="1F4E79"/>
                </a:solidFill>
                <a:latin typeface="Arial" pitchFamily="34" charset="0"/>
                <a:ea typeface="Arial" pitchFamily="34" charset="-122"/>
                <a:cs typeface="Arial" pitchFamily="34" charset="-120"/>
              </a:rPr>
              <a:t>Phase 5  </a:t>
            </a:r>
            <a:pPr indent="0" marL="0">
              <a:lnSpc>
                <a:spcPct val="100000"/>
              </a:lnSpc>
              <a:buNone/>
            </a:pPr>
            <a:r>
              <a:rPr lang="en-US" sz="1250" dirty="0">
                <a:solidFill>
                  <a:srgbClr val="000000"/>
                </a:solidFill>
                <a:latin typeface="Arial" pitchFamily="34" charset="0"/>
                <a:ea typeface="Arial" pitchFamily="34" charset="-122"/>
                <a:cs typeface="Arial" pitchFamily="34" charset="-120"/>
              </a:rPr>
              <a:t>Harden: Firefox, latency, memory, adversarial tests.</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home/claude/t26/image2.png">    </p:cNvPr>
          <p:cNvPicPr>
            <a:picLocks noChangeAspect="1"/>
          </p:cNvPicPr>
          <p:nvPr/>
        </p:nvPicPr>
        <p:blipFill>
          <a:blip r:embed="rId1"/>
          <a:stretch>
            <a:fillRect/>
          </a:stretch>
        </p:blipFill>
        <p:spPr>
          <a:xfrm>
            <a:off x="9784080" y="0"/>
            <a:ext cx="2249424" cy="1060704"/>
          </a:xfrm>
          <a:prstGeom prst="rect">
            <a:avLst/>
          </a:prstGeom>
        </p:spPr>
      </p:pic>
      <p:sp>
        <p:nvSpPr>
          <p:cNvPr id="3" name="Shape 0"/>
          <p:cNvSpPr/>
          <p:nvPr/>
        </p:nvSpPr>
        <p:spPr>
          <a:xfrm>
            <a:off x="0" y="6355080"/>
            <a:ext cx="12188952" cy="502920"/>
          </a:xfrm>
          <a:prstGeom prst="rect">
            <a:avLst/>
          </a:prstGeom>
          <a:solidFill>
            <a:srgbClr val="0070C0"/>
          </a:solidFill>
          <a:ln w="12700">
            <a:solidFill>
              <a:srgbClr val="0070C0"/>
            </a:solidFill>
            <a:prstDash val="solid"/>
          </a:ln>
        </p:spPr>
      </p:sp>
      <p:sp>
        <p:nvSpPr>
          <p:cNvPr id="4" name="Text 1"/>
          <p:cNvSpPr txBox="1"/>
          <p:nvPr/>
        </p:nvSpPr>
        <p:spPr>
          <a:xfrm>
            <a:off x="4645152" y="6355080"/>
            <a:ext cx="3200400" cy="365760"/>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@SIH Idea submission- Template</a:t>
            </a:r>
            <a:endParaRPr lang="en-US" sz="1200" dirty="0"/>
          </a:p>
        </p:txBody>
      </p:sp>
      <p:sp>
        <p:nvSpPr>
          <p:cNvPr id="5" name="Text 2"/>
          <p:cNvSpPr txBox="1"/>
          <p:nvPr/>
        </p:nvSpPr>
        <p:spPr>
          <a:xfrm>
            <a:off x="10607040" y="6355080"/>
            <a:ext cx="54864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6" name="Shape 3"/>
          <p:cNvSpPr/>
          <p:nvPr/>
        </p:nvSpPr>
        <p:spPr>
          <a:xfrm>
            <a:off x="292608" y="91440"/>
            <a:ext cx="1060704" cy="713232"/>
          </a:xfrm>
          <a:prstGeom prst="ellipse">
            <a:avLst/>
          </a:prstGeom>
          <a:solidFill>
            <a:srgbClr val="FFFFFF"/>
          </a:solidFill>
          <a:ln w="15875">
            <a:solidFill>
              <a:srgbClr val="8064A2"/>
            </a:solidFill>
            <a:prstDash val="solid"/>
          </a:ln>
        </p:spPr>
      </p:sp>
      <p:sp>
        <p:nvSpPr>
          <p:cNvPr id="7" name="Text 4"/>
          <p:cNvSpPr txBox="1"/>
          <p:nvPr/>
        </p:nvSpPr>
        <p:spPr>
          <a:xfrm>
            <a:off x="292608" y="91440"/>
            <a:ext cx="1060704" cy="713232"/>
          </a:xfrm>
          <a:prstGeom prst="rect">
            <a:avLst/>
          </a:prstGeom>
          <a:noFill/>
          <a:ln/>
        </p:spPr>
        <p:txBody>
          <a:bodyPr wrap="square" lIns="0" tIns="0" rIns="0" bIns="0" rtlCol="0" anchor="ctr"/>
          <a:lstStyle/>
          <a:p>
            <a:pPr algn="ctr" indent="0" marL="0">
              <a:buNone/>
            </a:pPr>
            <a:r>
              <a:rPr lang="en-US" sz="1300" dirty="0">
                <a:solidFill>
                  <a:srgbClr val="000000"/>
                </a:solidFill>
                <a:latin typeface="Arial" pitchFamily="34" charset="0"/>
                <a:ea typeface="Arial" pitchFamily="34" charset="-122"/>
                <a:cs typeface="Arial" pitchFamily="34" charset="-120"/>
              </a:rPr>
              <a:t>Aura</a:t>
            </a:r>
            <a:endParaRPr lang="en-US" sz="1300" dirty="0"/>
          </a:p>
        </p:txBody>
      </p:sp>
      <p:sp>
        <p:nvSpPr>
          <p:cNvPr id="8" name="Text 5"/>
          <p:cNvSpPr txBox="1"/>
          <p:nvPr/>
        </p:nvSpPr>
        <p:spPr>
          <a:xfrm>
            <a:off x="1463040" y="54864"/>
            <a:ext cx="8229600" cy="749808"/>
          </a:xfrm>
          <a:prstGeom prst="rect">
            <a:avLst/>
          </a:prstGeom>
          <a:noFill/>
          <a:ln/>
        </p:spPr>
        <p:txBody>
          <a:bodyPr wrap="square" lIns="0" tIns="0" rIns="0" bIns="0" rtlCol="0" anchor="ctr"/>
          <a:lstStyle/>
          <a:p>
            <a:pPr algn="ctr" indent="0" marL="0">
              <a:buNone/>
            </a:pPr>
            <a:r>
              <a:rPr lang="en-US" sz="2800" b="1" dirty="0">
                <a:solidFill>
                  <a:srgbClr val="000000"/>
                </a:solidFill>
                <a:latin typeface="Times New Roman" pitchFamily="34" charset="0"/>
                <a:ea typeface="Times New Roman" pitchFamily="34" charset="-122"/>
                <a:cs typeface="Times New Roman" pitchFamily="34" charset="-120"/>
              </a:rPr>
              <a:t>FEASIBILITY AND VIABILITY</a:t>
            </a:r>
            <a:endParaRPr lang="en-US" sz="2800" dirty="0"/>
          </a:p>
        </p:txBody>
      </p:sp>
      <p:sp>
        <p:nvSpPr>
          <p:cNvPr id="9" name="Text 6"/>
          <p:cNvSpPr txBox="1"/>
          <p:nvPr/>
        </p:nvSpPr>
        <p:spPr>
          <a:xfrm>
            <a:off x="329184" y="1097280"/>
            <a:ext cx="3749040" cy="292608"/>
          </a:xfrm>
          <a:prstGeom prst="rect">
            <a:avLst/>
          </a:prstGeom>
          <a:noFill/>
          <a:ln/>
        </p:spPr>
        <p:txBody>
          <a:bodyPr wrap="square" lIns="0" tIns="0" rIns="0" bIns="0" rtlCol="0" anchor="ctr"/>
          <a:lstStyle/>
          <a:p>
            <a:pPr indent="0" marL="0">
              <a:buNone/>
            </a:pPr>
            <a:r>
              <a:rPr lang="en-US" sz="1250" b="1" u="sng" dirty="0">
                <a:solidFill>
                  <a:srgbClr val="1F4E79"/>
                </a:solidFill>
                <a:latin typeface="Arial" pitchFamily="34" charset="0"/>
                <a:ea typeface="Arial" pitchFamily="34" charset="-122"/>
                <a:cs typeface="Arial" pitchFamily="34" charset="-120"/>
              </a:rPr>
              <a:t>◆  Analysis of the feasibility of the idea</a:t>
            </a:r>
            <a:endParaRPr lang="en-US" sz="1250" dirty="0"/>
          </a:p>
        </p:txBody>
      </p:sp>
      <p:sp>
        <p:nvSpPr>
          <p:cNvPr id="10" name="Text 7"/>
          <p:cNvSpPr txBox="1"/>
          <p:nvPr/>
        </p:nvSpPr>
        <p:spPr>
          <a:xfrm>
            <a:off x="384048" y="1481328"/>
            <a:ext cx="3639312" cy="2432304"/>
          </a:xfrm>
          <a:prstGeom prst="rect">
            <a:avLst/>
          </a:prstGeom>
          <a:noFill/>
          <a:ln/>
        </p:spPr>
        <p:txBody>
          <a:bodyPr wrap="square" lIns="0" tIns="0" rIns="0" bIns="0" rtlCol="0" anchor="t"/>
          <a:lstStyle/>
          <a:p>
            <a:pPr indent="0" marL="0">
              <a:lnSpc>
                <a:spcPct val="100000"/>
              </a:lnSpc>
              <a:buNone/>
            </a:pPr>
            <a:r>
              <a:rPr lang="en-US" sz="1600" b="1" dirty="0">
                <a:solidFill>
                  <a:srgbClr val="548235"/>
                </a:solidFill>
                <a:latin typeface="Arial" pitchFamily="34" charset="0"/>
                <a:ea typeface="Arial" pitchFamily="34" charset="-122"/>
                <a:cs typeface="Arial" pitchFamily="34" charset="-120"/>
              </a:rPr>
              <a:t>Technical  </a:t>
            </a:r>
            <a:pPr indent="0" marL="0">
              <a:lnSpc>
                <a:spcPct val="100000"/>
              </a:lnSpc>
              <a:spcAft>
                <a:spcPts val="1200"/>
              </a:spcAft>
              <a:buNone/>
            </a:pPr>
            <a:r>
              <a:rPr lang="en-US" sz="1600" dirty="0">
                <a:solidFill>
                  <a:srgbClr val="000000"/>
                </a:solidFill>
                <a:latin typeface="Arial" pitchFamily="34" charset="0"/>
                <a:ea typeface="Arial" pitchFamily="34" charset="-122"/>
                <a:cs typeface="Arial" pitchFamily="34" charset="-120"/>
              </a:rPr>
              <a:t>Every part ships today, and we train nothing. Every model is an existing open-weight download.</a:t>
            </a:r>
            <a:endParaRPr lang="en-US" sz="1600" dirty="0"/>
          </a:p>
          <a:p>
            <a:pPr indent="0" marL="0">
              <a:lnSpc>
                <a:spcPct val="100000"/>
              </a:lnSpc>
              <a:buNone/>
            </a:pPr>
            <a:r>
              <a:rPr lang="en-US" sz="1600" b="1" dirty="0">
                <a:solidFill>
                  <a:srgbClr val="548235"/>
                </a:solidFill>
                <a:latin typeface="Arial" pitchFamily="34" charset="0"/>
                <a:ea typeface="Arial" pitchFamily="34" charset="-122"/>
                <a:cs typeface="Arial" pitchFamily="34" charset="-120"/>
              </a:rPr>
              <a:t>Operational  </a:t>
            </a:r>
            <a:pPr indent="0" marL="0">
              <a:lnSpc>
                <a:spcPct val="100000"/>
              </a:lnSpc>
              <a:spcAft>
                <a:spcPts val="1200"/>
              </a:spcAft>
              <a:buNone/>
            </a:pPr>
            <a:r>
              <a:rPr lang="en-US" sz="1600" dirty="0">
                <a:solidFill>
                  <a:srgbClr val="000000"/>
                </a:solidFill>
                <a:latin typeface="Arial" pitchFamily="34" charset="0"/>
                <a:ea typeface="Arial" pitchFamily="34" charset="-122"/>
                <a:cs typeface="Arial" pitchFamily="34" charset="-120"/>
              </a:rPr>
              <a:t>A normal extension install. No admin rights and no new hardware.</a:t>
            </a:r>
            <a:endParaRPr lang="en-US" sz="1600" dirty="0"/>
          </a:p>
          <a:p>
            <a:pPr indent="0" marL="0">
              <a:lnSpc>
                <a:spcPct val="100000"/>
              </a:lnSpc>
              <a:buNone/>
            </a:pPr>
            <a:r>
              <a:rPr lang="en-US" sz="1600" b="1" dirty="0">
                <a:solidFill>
                  <a:srgbClr val="548235"/>
                </a:solidFill>
                <a:latin typeface="Arial" pitchFamily="34" charset="0"/>
                <a:ea typeface="Arial" pitchFamily="34" charset="-122"/>
                <a:cs typeface="Arial" pitchFamily="34" charset="-120"/>
              </a:rPr>
              <a:t>Economic  </a:t>
            </a:r>
            <a:pPr indent="0" marL="0">
              <a:lnSpc>
                <a:spcPct val="100000"/>
              </a:lnSpc>
              <a:buNone/>
            </a:pPr>
            <a:r>
              <a:rPr lang="en-US" sz="1600" dirty="0">
                <a:solidFill>
                  <a:srgbClr val="000000"/>
                </a:solidFill>
                <a:latin typeface="Arial" pitchFamily="34" charset="0"/>
                <a:ea typeface="Arial" pitchFamily="34" charset="-122"/>
                <a:cs typeface="Arial" pitchFamily="34" charset="-120"/>
              </a:rPr>
              <a:t>Most steps never reach the cloud. Every model is Apache-2.0 or MIT.</a:t>
            </a:r>
            <a:endParaRPr lang="en-US" sz="1600" dirty="0"/>
          </a:p>
        </p:txBody>
      </p:sp>
      <p:sp>
        <p:nvSpPr>
          <p:cNvPr id="11" name="Shape 8"/>
          <p:cNvSpPr/>
          <p:nvPr/>
        </p:nvSpPr>
        <p:spPr>
          <a:xfrm>
            <a:off x="329184" y="4078224"/>
            <a:ext cx="3749040" cy="2121408"/>
          </a:xfrm>
          <a:prstGeom prst="rect">
            <a:avLst/>
          </a:prstGeom>
          <a:solidFill>
            <a:srgbClr val="FBE5D6"/>
          </a:solidFill>
          <a:ln w="19050">
            <a:solidFill>
              <a:srgbClr val="C55A11"/>
            </a:solidFill>
            <a:prstDash val="solid"/>
          </a:ln>
        </p:spPr>
      </p:sp>
      <p:sp>
        <p:nvSpPr>
          <p:cNvPr id="12" name="Text 9"/>
          <p:cNvSpPr txBox="1"/>
          <p:nvPr/>
        </p:nvSpPr>
        <p:spPr>
          <a:xfrm>
            <a:off x="457200" y="4151376"/>
            <a:ext cx="3493008" cy="1993392"/>
          </a:xfrm>
          <a:prstGeom prst="rect">
            <a:avLst/>
          </a:prstGeom>
          <a:noFill/>
          <a:ln/>
        </p:spPr>
        <p:txBody>
          <a:bodyPr wrap="square" lIns="0" tIns="0" rIns="0" bIns="0" rtlCol="0" anchor="t"/>
          <a:lstStyle/>
          <a:p>
            <a:pPr indent="0" marL="0">
              <a:lnSpc>
                <a:spcPct val="100000"/>
              </a:lnSpc>
              <a:buNone/>
            </a:pPr>
            <a:r>
              <a:rPr lang="en-US" sz="1800" b="1" dirty="0">
                <a:solidFill>
                  <a:srgbClr val="C55A11"/>
                </a:solidFill>
                <a:latin typeface="Arial" pitchFamily="34" charset="0"/>
                <a:ea typeface="Arial" pitchFamily="34" charset="-122"/>
                <a:cs typeface="Arial" pitchFamily="34" charset="-120"/>
              </a:rPr>
              <a:t>Why a new approach is needed
</a:t>
            </a:r>
            <a:pPr indent="0" marL="0">
              <a:lnSpc>
                <a:spcPct val="100000"/>
              </a:lnSpc>
              <a:buNone/>
            </a:pPr>
            <a:r>
              <a:rPr lang="en-US" sz="1600" dirty="0">
                <a:solidFill>
                  <a:srgbClr val="000000"/>
                </a:solidFill>
                <a:latin typeface="Arial" pitchFamily="34" charset="0"/>
                <a:ea typeface="Arial" pitchFamily="34" charset="-122"/>
                <a:cs typeface="Arial" pitchFamily="34" charset="-120"/>
              </a:rPr>
              <a:t>Today's AI browsers still send screenshots and page HTML to the model provider. We move the boundary to the network call itself, enforced in one place that is easy to audit.</a:t>
            </a:r>
            <a:endParaRPr lang="en-US" sz="1800" dirty="0"/>
          </a:p>
        </p:txBody>
      </p:sp>
      <p:sp>
        <p:nvSpPr>
          <p:cNvPr id="13" name="Text 10"/>
          <p:cNvSpPr txBox="1"/>
          <p:nvPr/>
        </p:nvSpPr>
        <p:spPr>
          <a:xfrm>
            <a:off x="4315968" y="1097280"/>
            <a:ext cx="3694176" cy="292608"/>
          </a:xfrm>
          <a:prstGeom prst="rect">
            <a:avLst/>
          </a:prstGeom>
          <a:noFill/>
          <a:ln/>
        </p:spPr>
        <p:txBody>
          <a:bodyPr wrap="square" lIns="0" tIns="0" rIns="0" bIns="0" rtlCol="0" anchor="ctr"/>
          <a:lstStyle/>
          <a:p>
            <a:pPr indent="0" marL="0">
              <a:buNone/>
            </a:pPr>
            <a:r>
              <a:rPr lang="en-US" sz="1250" b="1" u="sng" dirty="0">
                <a:solidFill>
                  <a:srgbClr val="1F4E79"/>
                </a:solidFill>
                <a:latin typeface="Arial" pitchFamily="34" charset="0"/>
                <a:ea typeface="Arial" pitchFamily="34" charset="-122"/>
                <a:cs typeface="Arial" pitchFamily="34" charset="-120"/>
              </a:rPr>
              <a:t>◆  Potential challenges and risks</a:t>
            </a:r>
            <a:endParaRPr lang="en-US" sz="1250" dirty="0"/>
          </a:p>
        </p:txBody>
      </p:sp>
      <p:sp>
        <p:nvSpPr>
          <p:cNvPr id="14" name="Text 11"/>
          <p:cNvSpPr txBox="1"/>
          <p:nvPr/>
        </p:nvSpPr>
        <p:spPr>
          <a:xfrm>
            <a:off x="8156448" y="1097280"/>
            <a:ext cx="3694176" cy="292608"/>
          </a:xfrm>
          <a:prstGeom prst="rect">
            <a:avLst/>
          </a:prstGeom>
          <a:noFill/>
          <a:ln/>
        </p:spPr>
        <p:txBody>
          <a:bodyPr wrap="square" lIns="0" tIns="0" rIns="0" bIns="0" rtlCol="0" anchor="ctr"/>
          <a:lstStyle/>
          <a:p>
            <a:pPr indent="0" marL="0">
              <a:buNone/>
            </a:pPr>
            <a:r>
              <a:rPr lang="en-US" sz="1250" b="1" u="sng" dirty="0">
                <a:solidFill>
                  <a:srgbClr val="1F4E79"/>
                </a:solidFill>
                <a:latin typeface="Arial" pitchFamily="34" charset="0"/>
                <a:ea typeface="Arial" pitchFamily="34" charset="-122"/>
                <a:cs typeface="Arial" pitchFamily="34" charset="-120"/>
              </a:rPr>
              <a:t>◆  Strategies for overcoming these challenges</a:t>
            </a:r>
            <a:endParaRPr lang="en-US" sz="1250" dirty="0"/>
          </a:p>
        </p:txBody>
      </p:sp>
      <p:sp>
        <p:nvSpPr>
          <p:cNvPr id="15" name="Shape 12"/>
          <p:cNvSpPr/>
          <p:nvPr/>
        </p:nvSpPr>
        <p:spPr>
          <a:xfrm>
            <a:off x="4315968" y="1481328"/>
            <a:ext cx="3694176" cy="905256"/>
          </a:xfrm>
          <a:prstGeom prst="rect">
            <a:avLst/>
          </a:prstGeom>
          <a:solidFill>
            <a:srgbClr val="FBE5E5"/>
          </a:solidFill>
          <a:ln w="19050">
            <a:solidFill>
              <a:srgbClr val="E0A0A0"/>
            </a:solidFill>
            <a:prstDash val="solid"/>
          </a:ln>
        </p:spPr>
      </p:sp>
      <p:sp>
        <p:nvSpPr>
          <p:cNvPr id="16" name="Shape 13"/>
          <p:cNvSpPr/>
          <p:nvPr/>
        </p:nvSpPr>
        <p:spPr>
          <a:xfrm>
            <a:off x="8156448" y="1481328"/>
            <a:ext cx="3694176" cy="905256"/>
          </a:xfrm>
          <a:prstGeom prst="rect">
            <a:avLst/>
          </a:prstGeom>
          <a:solidFill>
            <a:srgbClr val="E2EFDA"/>
          </a:solidFill>
          <a:ln w="19050">
            <a:solidFill>
              <a:srgbClr val="548235"/>
            </a:solidFill>
            <a:prstDash val="solid"/>
          </a:ln>
        </p:spPr>
      </p:sp>
      <p:sp>
        <p:nvSpPr>
          <p:cNvPr id="17" name="Text 14"/>
          <p:cNvSpPr txBox="1"/>
          <p:nvPr/>
        </p:nvSpPr>
        <p:spPr>
          <a:xfrm>
            <a:off x="4425696" y="1527048"/>
            <a:ext cx="3474720" cy="813816"/>
          </a:xfrm>
          <a:prstGeom prst="rect">
            <a:avLst/>
          </a:prstGeom>
          <a:noFill/>
          <a:ln/>
        </p:spPr>
        <p:txBody>
          <a:bodyPr wrap="square" lIns="0" tIns="0" rIns="0" bIns="0" rtlCol="0" anchor="ctr"/>
          <a:lstStyle/>
          <a:p>
            <a:pPr indent="0" marL="0">
              <a:lnSpc>
                <a:spcPct val="100000"/>
              </a:lnSpc>
              <a:buNone/>
            </a:pPr>
            <a:r>
              <a:rPr lang="en-US" sz="1600" dirty="0">
                <a:solidFill>
                  <a:srgbClr val="000000"/>
                </a:solidFill>
                <a:latin typeface="Arial" pitchFamily="34" charset="0"/>
                <a:ea typeface="Arial" pitchFamily="34" charset="-122"/>
                <a:cs typeface="Arial" pitchFamily="34" charset="-120"/>
              </a:rPr>
              <a:t>WebGPU is not on every browser yet.</a:t>
            </a:r>
            <a:endParaRPr lang="en-US" sz="1600" dirty="0"/>
          </a:p>
        </p:txBody>
      </p:sp>
      <p:sp>
        <p:nvSpPr>
          <p:cNvPr id="18" name="Text 15"/>
          <p:cNvSpPr txBox="1"/>
          <p:nvPr/>
        </p:nvSpPr>
        <p:spPr>
          <a:xfrm>
            <a:off x="8266176" y="1527048"/>
            <a:ext cx="3474720" cy="813816"/>
          </a:xfrm>
          <a:prstGeom prst="rect">
            <a:avLst/>
          </a:prstGeom>
          <a:noFill/>
          <a:ln/>
        </p:spPr>
        <p:txBody>
          <a:bodyPr wrap="square" lIns="0" tIns="0" rIns="0" bIns="0" rtlCol="0" anchor="ctr"/>
          <a:lstStyle/>
          <a:p>
            <a:pPr indent="0" marL="0">
              <a:lnSpc>
                <a:spcPct val="100000"/>
              </a:lnSpc>
              <a:buNone/>
            </a:pPr>
            <a:r>
              <a:rPr lang="en-US" sz="1600" dirty="0">
                <a:solidFill>
                  <a:srgbClr val="000000"/>
                </a:solidFill>
                <a:latin typeface="Arial" pitchFamily="34" charset="0"/>
                <a:ea typeface="Arial" pitchFamily="34" charset="-122"/>
                <a:cs typeface="Arial" pitchFamily="34" charset="-120"/>
              </a:rPr>
              <a:t>A WebAssembly fallback, and a structure-only mode when there is no GPU.</a:t>
            </a:r>
            <a:endParaRPr lang="en-US" sz="1600" dirty="0"/>
          </a:p>
        </p:txBody>
      </p:sp>
      <p:sp>
        <p:nvSpPr>
          <p:cNvPr id="19" name="Shape 16"/>
          <p:cNvSpPr/>
          <p:nvPr/>
        </p:nvSpPr>
        <p:spPr>
          <a:xfrm>
            <a:off x="4315968" y="2423160"/>
            <a:ext cx="3694176" cy="905256"/>
          </a:xfrm>
          <a:prstGeom prst="rect">
            <a:avLst/>
          </a:prstGeom>
          <a:solidFill>
            <a:srgbClr val="FBE5E5"/>
          </a:solidFill>
          <a:ln w="19050">
            <a:solidFill>
              <a:srgbClr val="E0A0A0"/>
            </a:solidFill>
            <a:prstDash val="solid"/>
          </a:ln>
        </p:spPr>
      </p:sp>
      <p:sp>
        <p:nvSpPr>
          <p:cNvPr id="20" name="Shape 17"/>
          <p:cNvSpPr/>
          <p:nvPr/>
        </p:nvSpPr>
        <p:spPr>
          <a:xfrm>
            <a:off x="8156448" y="2423160"/>
            <a:ext cx="3694176" cy="905256"/>
          </a:xfrm>
          <a:prstGeom prst="rect">
            <a:avLst/>
          </a:prstGeom>
          <a:solidFill>
            <a:srgbClr val="E2EFDA"/>
          </a:solidFill>
          <a:ln w="19050">
            <a:solidFill>
              <a:srgbClr val="548235"/>
            </a:solidFill>
            <a:prstDash val="solid"/>
          </a:ln>
        </p:spPr>
      </p:sp>
      <p:sp>
        <p:nvSpPr>
          <p:cNvPr id="21" name="Text 18"/>
          <p:cNvSpPr txBox="1"/>
          <p:nvPr/>
        </p:nvSpPr>
        <p:spPr>
          <a:xfrm>
            <a:off x="4425696" y="2468880"/>
            <a:ext cx="3474720" cy="813816"/>
          </a:xfrm>
          <a:prstGeom prst="rect">
            <a:avLst/>
          </a:prstGeom>
          <a:noFill/>
          <a:ln/>
        </p:spPr>
        <p:txBody>
          <a:bodyPr wrap="square" lIns="0" tIns="0" rIns="0" bIns="0" rtlCol="0" anchor="ctr"/>
          <a:lstStyle/>
          <a:p>
            <a:pPr indent="0" marL="0">
              <a:lnSpc>
                <a:spcPct val="100000"/>
              </a:lnSpc>
              <a:buNone/>
            </a:pPr>
            <a:r>
              <a:rPr lang="en-US" sz="1600" dirty="0">
                <a:solidFill>
                  <a:srgbClr val="000000"/>
                </a:solidFill>
                <a:latin typeface="Arial" pitchFamily="34" charset="0"/>
                <a:ea typeface="Arial" pitchFamily="34" charset="-122"/>
                <a:cs typeface="Arial" pitchFamily="34" charset="-120"/>
              </a:rPr>
              <a:t>One missed identifier is a breach, and cloud models are poor at spotting PII in screenshots.</a:t>
            </a:r>
            <a:endParaRPr lang="en-US" sz="1600" dirty="0"/>
          </a:p>
        </p:txBody>
      </p:sp>
      <p:sp>
        <p:nvSpPr>
          <p:cNvPr id="22" name="Text 19"/>
          <p:cNvSpPr txBox="1"/>
          <p:nvPr/>
        </p:nvSpPr>
        <p:spPr>
          <a:xfrm>
            <a:off x="8266176" y="2468880"/>
            <a:ext cx="3474720" cy="813816"/>
          </a:xfrm>
          <a:prstGeom prst="rect">
            <a:avLst/>
          </a:prstGeom>
          <a:noFill/>
          <a:ln/>
        </p:spPr>
        <p:txBody>
          <a:bodyPr wrap="square" lIns="0" tIns="0" rIns="0" bIns="0" rtlCol="0" anchor="ctr"/>
          <a:lstStyle/>
          <a:p>
            <a:pPr indent="0" marL="0">
              <a:lnSpc>
                <a:spcPct val="100000"/>
              </a:lnSpc>
              <a:buNone/>
            </a:pPr>
            <a:r>
              <a:rPr lang="en-US" sz="1600" dirty="0">
                <a:solidFill>
                  <a:srgbClr val="000000"/>
                </a:solidFill>
                <a:latin typeface="Arial" pitchFamily="34" charset="0"/>
                <a:ea typeface="Arial" pitchFamily="34" charset="-122"/>
                <a:cs typeface="Arial" pitchFamily="34" charset="-120"/>
              </a:rPr>
              <a:t>Detection stays local: three independent detectors, and anything uncertain is redacted.</a:t>
            </a:r>
            <a:endParaRPr lang="en-US" sz="1600" dirty="0"/>
          </a:p>
        </p:txBody>
      </p:sp>
      <p:sp>
        <p:nvSpPr>
          <p:cNvPr id="23" name="Shape 20"/>
          <p:cNvSpPr/>
          <p:nvPr/>
        </p:nvSpPr>
        <p:spPr>
          <a:xfrm>
            <a:off x="4315968" y="3364992"/>
            <a:ext cx="3694176" cy="905256"/>
          </a:xfrm>
          <a:prstGeom prst="rect">
            <a:avLst/>
          </a:prstGeom>
          <a:solidFill>
            <a:srgbClr val="FBE5E5"/>
          </a:solidFill>
          <a:ln w="19050">
            <a:solidFill>
              <a:srgbClr val="E0A0A0"/>
            </a:solidFill>
            <a:prstDash val="solid"/>
          </a:ln>
        </p:spPr>
      </p:sp>
      <p:sp>
        <p:nvSpPr>
          <p:cNvPr id="24" name="Shape 21"/>
          <p:cNvSpPr/>
          <p:nvPr/>
        </p:nvSpPr>
        <p:spPr>
          <a:xfrm>
            <a:off x="8156448" y="3364992"/>
            <a:ext cx="3694176" cy="905256"/>
          </a:xfrm>
          <a:prstGeom prst="rect">
            <a:avLst/>
          </a:prstGeom>
          <a:solidFill>
            <a:srgbClr val="E2EFDA"/>
          </a:solidFill>
          <a:ln w="19050">
            <a:solidFill>
              <a:srgbClr val="548235"/>
            </a:solidFill>
            <a:prstDash val="solid"/>
          </a:ln>
        </p:spPr>
      </p:sp>
      <p:sp>
        <p:nvSpPr>
          <p:cNvPr id="25" name="Text 22"/>
          <p:cNvSpPr txBox="1"/>
          <p:nvPr/>
        </p:nvSpPr>
        <p:spPr>
          <a:xfrm>
            <a:off x="4425696" y="3410712"/>
            <a:ext cx="3474720" cy="813816"/>
          </a:xfrm>
          <a:prstGeom prst="rect">
            <a:avLst/>
          </a:prstGeom>
          <a:noFill/>
          <a:ln/>
        </p:spPr>
        <p:txBody>
          <a:bodyPr wrap="square" lIns="0" tIns="0" rIns="0" bIns="0" rtlCol="0" anchor="ctr"/>
          <a:lstStyle/>
          <a:p>
            <a:pPr indent="0" marL="0">
              <a:lnSpc>
                <a:spcPct val="100000"/>
              </a:lnSpc>
              <a:buNone/>
            </a:pPr>
            <a:r>
              <a:rPr lang="en-US" sz="1600" dirty="0">
                <a:solidFill>
                  <a:srgbClr val="000000"/>
                </a:solidFill>
                <a:latin typeface="Arial" pitchFamily="34" charset="0"/>
                <a:ea typeface="Arial" pitchFamily="34" charset="-122"/>
                <a:cs typeface="Arial" pitchFamily="34" charset="-120"/>
              </a:rPr>
              <a:t>Redacting too much would break the agent.</a:t>
            </a:r>
            <a:endParaRPr lang="en-US" sz="1600" dirty="0"/>
          </a:p>
        </p:txBody>
      </p:sp>
      <p:sp>
        <p:nvSpPr>
          <p:cNvPr id="26" name="Text 23"/>
          <p:cNvSpPr txBox="1"/>
          <p:nvPr/>
        </p:nvSpPr>
        <p:spPr>
          <a:xfrm>
            <a:off x="8266176" y="3410712"/>
            <a:ext cx="3474720" cy="813816"/>
          </a:xfrm>
          <a:prstGeom prst="rect">
            <a:avLst/>
          </a:prstGeom>
          <a:noFill/>
          <a:ln/>
        </p:spPr>
        <p:txBody>
          <a:bodyPr wrap="square" lIns="0" tIns="0" rIns="0" bIns="0" rtlCol="0" anchor="ctr"/>
          <a:lstStyle/>
          <a:p>
            <a:pPr indent="0" marL="0">
              <a:lnSpc>
                <a:spcPct val="100000"/>
              </a:lnSpc>
              <a:buNone/>
            </a:pPr>
            <a:r>
              <a:rPr lang="en-US" sz="1600" dirty="0">
                <a:solidFill>
                  <a:srgbClr val="000000"/>
                </a:solidFill>
                <a:latin typeface="Arial" pitchFamily="34" charset="0"/>
                <a:ea typeface="Arial" pitchFamily="34" charset="-122"/>
                <a:cs typeface="Arial" pitchFamily="34" charset="-120"/>
              </a:rPr>
              <a:t>Checksums and the field label raise precision, and placeholders keep the field type.</a:t>
            </a:r>
            <a:endParaRPr lang="en-US" sz="1600" dirty="0"/>
          </a:p>
        </p:txBody>
      </p:sp>
      <p:sp>
        <p:nvSpPr>
          <p:cNvPr id="27" name="Shape 24"/>
          <p:cNvSpPr/>
          <p:nvPr/>
        </p:nvSpPr>
        <p:spPr>
          <a:xfrm>
            <a:off x="4315968" y="4306824"/>
            <a:ext cx="3694176" cy="905256"/>
          </a:xfrm>
          <a:prstGeom prst="rect">
            <a:avLst/>
          </a:prstGeom>
          <a:solidFill>
            <a:srgbClr val="FBE5E5"/>
          </a:solidFill>
          <a:ln w="19050">
            <a:solidFill>
              <a:srgbClr val="E0A0A0"/>
            </a:solidFill>
            <a:prstDash val="solid"/>
          </a:ln>
        </p:spPr>
      </p:sp>
      <p:sp>
        <p:nvSpPr>
          <p:cNvPr id="28" name="Shape 25"/>
          <p:cNvSpPr/>
          <p:nvPr/>
        </p:nvSpPr>
        <p:spPr>
          <a:xfrm>
            <a:off x="8156448" y="4306824"/>
            <a:ext cx="3694176" cy="905256"/>
          </a:xfrm>
          <a:prstGeom prst="rect">
            <a:avLst/>
          </a:prstGeom>
          <a:solidFill>
            <a:srgbClr val="E2EFDA"/>
          </a:solidFill>
          <a:ln w="19050">
            <a:solidFill>
              <a:srgbClr val="548235"/>
            </a:solidFill>
            <a:prstDash val="solid"/>
          </a:ln>
        </p:spPr>
      </p:sp>
      <p:sp>
        <p:nvSpPr>
          <p:cNvPr id="29" name="Text 26"/>
          <p:cNvSpPr txBox="1"/>
          <p:nvPr/>
        </p:nvSpPr>
        <p:spPr>
          <a:xfrm>
            <a:off x="4425696" y="4352544"/>
            <a:ext cx="3474720" cy="813816"/>
          </a:xfrm>
          <a:prstGeom prst="rect">
            <a:avLst/>
          </a:prstGeom>
          <a:noFill/>
          <a:ln/>
        </p:spPr>
        <p:txBody>
          <a:bodyPr wrap="square" lIns="0" tIns="0" rIns="0" bIns="0" rtlCol="0" anchor="ctr"/>
          <a:lstStyle/>
          <a:p>
            <a:pPr indent="0" marL="0">
              <a:lnSpc>
                <a:spcPct val="100000"/>
              </a:lnSpc>
              <a:buNone/>
            </a:pPr>
            <a:r>
              <a:rPr lang="en-US" sz="1600" dirty="0">
                <a:solidFill>
                  <a:srgbClr val="000000"/>
                </a:solidFill>
                <a:latin typeface="Arial" pitchFamily="34" charset="0"/>
                <a:ea typeface="Arial" pitchFamily="34" charset="-122"/>
                <a:cs typeface="Arial" pitchFamily="34" charset="-120"/>
              </a:rPr>
              <a:t>Latency and memory on an ordinary laptop.</a:t>
            </a:r>
            <a:endParaRPr lang="en-US" sz="1600" dirty="0"/>
          </a:p>
        </p:txBody>
      </p:sp>
      <p:sp>
        <p:nvSpPr>
          <p:cNvPr id="30" name="Text 27"/>
          <p:cNvSpPr txBox="1"/>
          <p:nvPr/>
        </p:nvSpPr>
        <p:spPr>
          <a:xfrm>
            <a:off x="8266176" y="4352544"/>
            <a:ext cx="3474720" cy="813816"/>
          </a:xfrm>
          <a:prstGeom prst="rect">
            <a:avLst/>
          </a:prstGeom>
          <a:noFill/>
          <a:ln/>
        </p:spPr>
        <p:txBody>
          <a:bodyPr wrap="square" lIns="0" tIns="0" rIns="0" bIns="0" rtlCol="0" anchor="ctr"/>
          <a:lstStyle/>
          <a:p>
            <a:pPr indent="0" marL="0">
              <a:lnSpc>
                <a:spcPct val="100000"/>
              </a:lnSpc>
              <a:buNone/>
            </a:pPr>
            <a:r>
              <a:rPr lang="en-US" sz="1600" dirty="0">
                <a:solidFill>
                  <a:srgbClr val="000000"/>
                </a:solidFill>
                <a:latin typeface="Arial" pitchFamily="34" charset="0"/>
                <a:ea typeface="Arial" pitchFamily="34" charset="-122"/>
                <a:cs typeface="Arial" pitchFamily="34" charset="-120"/>
              </a:rPr>
              <a:t>Skip unchanged screens, crop regions, keep models warm, and only call the server when unsure.</a:t>
            </a:r>
            <a:endParaRPr lang="en-US" sz="1600" dirty="0"/>
          </a:p>
        </p:txBody>
      </p:sp>
      <p:sp>
        <p:nvSpPr>
          <p:cNvPr id="31" name="Shape 28"/>
          <p:cNvSpPr/>
          <p:nvPr/>
        </p:nvSpPr>
        <p:spPr>
          <a:xfrm>
            <a:off x="4315968" y="5248656"/>
            <a:ext cx="3694176" cy="905256"/>
          </a:xfrm>
          <a:prstGeom prst="rect">
            <a:avLst/>
          </a:prstGeom>
          <a:solidFill>
            <a:srgbClr val="FBE5E5"/>
          </a:solidFill>
          <a:ln w="19050">
            <a:solidFill>
              <a:srgbClr val="E0A0A0"/>
            </a:solidFill>
            <a:prstDash val="solid"/>
          </a:ln>
        </p:spPr>
      </p:sp>
      <p:sp>
        <p:nvSpPr>
          <p:cNvPr id="32" name="Shape 29"/>
          <p:cNvSpPr/>
          <p:nvPr/>
        </p:nvSpPr>
        <p:spPr>
          <a:xfrm>
            <a:off x="8156448" y="5248656"/>
            <a:ext cx="3694176" cy="905256"/>
          </a:xfrm>
          <a:prstGeom prst="rect">
            <a:avLst/>
          </a:prstGeom>
          <a:solidFill>
            <a:srgbClr val="E2EFDA"/>
          </a:solidFill>
          <a:ln w="19050">
            <a:solidFill>
              <a:srgbClr val="548235"/>
            </a:solidFill>
            <a:prstDash val="solid"/>
          </a:ln>
        </p:spPr>
      </p:sp>
      <p:sp>
        <p:nvSpPr>
          <p:cNvPr id="33" name="Text 30"/>
          <p:cNvSpPr txBox="1"/>
          <p:nvPr/>
        </p:nvSpPr>
        <p:spPr>
          <a:xfrm>
            <a:off x="4425696" y="5294376"/>
            <a:ext cx="3474720" cy="813816"/>
          </a:xfrm>
          <a:prstGeom prst="rect">
            <a:avLst/>
          </a:prstGeom>
          <a:noFill/>
          <a:ln/>
        </p:spPr>
        <p:txBody>
          <a:bodyPr wrap="square" lIns="0" tIns="0" rIns="0" bIns="0" rtlCol="0" anchor="ctr"/>
          <a:lstStyle/>
          <a:p>
            <a:pPr indent="0" marL="0">
              <a:lnSpc>
                <a:spcPct val="100000"/>
              </a:lnSpc>
              <a:buNone/>
            </a:pPr>
            <a:r>
              <a:rPr lang="en-US" sz="1600" dirty="0">
                <a:solidFill>
                  <a:srgbClr val="000000"/>
                </a:solidFill>
                <a:latin typeface="Arial" pitchFamily="34" charset="0"/>
                <a:ea typeface="Arial" pitchFamily="34" charset="-122"/>
                <a:cs typeface="Arial" pitchFamily="34" charset="-120"/>
              </a:rPr>
              <a:t>Chrome extensions kill background workers after 30 seconds.</a:t>
            </a:r>
            <a:endParaRPr lang="en-US" sz="1600" dirty="0"/>
          </a:p>
        </p:txBody>
      </p:sp>
      <p:sp>
        <p:nvSpPr>
          <p:cNvPr id="34" name="Text 31"/>
          <p:cNvSpPr txBox="1"/>
          <p:nvPr/>
        </p:nvSpPr>
        <p:spPr>
          <a:xfrm>
            <a:off x="8266176" y="5294376"/>
            <a:ext cx="3474720" cy="813816"/>
          </a:xfrm>
          <a:prstGeom prst="rect">
            <a:avLst/>
          </a:prstGeom>
          <a:noFill/>
          <a:ln/>
        </p:spPr>
        <p:txBody>
          <a:bodyPr wrap="square" lIns="0" tIns="0" rIns="0" bIns="0" rtlCol="0" anchor="ctr"/>
          <a:lstStyle/>
          <a:p>
            <a:pPr indent="0" marL="0">
              <a:lnSpc>
                <a:spcPct val="100000"/>
              </a:lnSpc>
              <a:buNone/>
            </a:pPr>
            <a:r>
              <a:rPr lang="en-US" sz="1600" dirty="0">
                <a:solidFill>
                  <a:srgbClr val="000000"/>
                </a:solidFill>
                <a:latin typeface="Arial" pitchFamily="34" charset="0"/>
                <a:ea typeface="Arial" pitchFamily="34" charset="-122"/>
                <a:cs typeface="Arial" pitchFamily="34" charset="-120"/>
              </a:rPr>
              <a:t>Models live in an offscreen document that has no timeout.</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home/claude/t26/image2.png">    </p:cNvPr>
          <p:cNvPicPr>
            <a:picLocks noChangeAspect="1"/>
          </p:cNvPicPr>
          <p:nvPr/>
        </p:nvPicPr>
        <p:blipFill>
          <a:blip r:embed="rId1"/>
          <a:stretch>
            <a:fillRect/>
          </a:stretch>
        </p:blipFill>
        <p:spPr>
          <a:xfrm>
            <a:off x="9784080" y="0"/>
            <a:ext cx="2249424" cy="1060704"/>
          </a:xfrm>
          <a:prstGeom prst="rect">
            <a:avLst/>
          </a:prstGeom>
        </p:spPr>
      </p:pic>
      <p:sp>
        <p:nvSpPr>
          <p:cNvPr id="3" name="Shape 0"/>
          <p:cNvSpPr/>
          <p:nvPr/>
        </p:nvSpPr>
        <p:spPr>
          <a:xfrm>
            <a:off x="0" y="6355080"/>
            <a:ext cx="12188952" cy="502920"/>
          </a:xfrm>
          <a:prstGeom prst="rect">
            <a:avLst/>
          </a:prstGeom>
          <a:solidFill>
            <a:srgbClr val="0070C0"/>
          </a:solidFill>
          <a:ln w="12700">
            <a:solidFill>
              <a:srgbClr val="0070C0"/>
            </a:solidFill>
            <a:prstDash val="solid"/>
          </a:ln>
        </p:spPr>
      </p:sp>
      <p:sp>
        <p:nvSpPr>
          <p:cNvPr id="4" name="Text 1"/>
          <p:cNvSpPr txBox="1"/>
          <p:nvPr/>
        </p:nvSpPr>
        <p:spPr>
          <a:xfrm>
            <a:off x="4645152" y="6355080"/>
            <a:ext cx="3200400" cy="365760"/>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@SIH Idea submission- Template</a:t>
            </a:r>
            <a:endParaRPr lang="en-US" sz="1200" dirty="0"/>
          </a:p>
        </p:txBody>
      </p:sp>
      <p:sp>
        <p:nvSpPr>
          <p:cNvPr id="5" name="Text 2"/>
          <p:cNvSpPr txBox="1"/>
          <p:nvPr/>
        </p:nvSpPr>
        <p:spPr>
          <a:xfrm>
            <a:off x="10607040" y="6355080"/>
            <a:ext cx="54864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6" name="Shape 3"/>
          <p:cNvSpPr/>
          <p:nvPr/>
        </p:nvSpPr>
        <p:spPr>
          <a:xfrm>
            <a:off x="292608" y="91440"/>
            <a:ext cx="1060704" cy="713232"/>
          </a:xfrm>
          <a:prstGeom prst="ellipse">
            <a:avLst/>
          </a:prstGeom>
          <a:solidFill>
            <a:srgbClr val="FFFFFF"/>
          </a:solidFill>
          <a:ln w="15875">
            <a:solidFill>
              <a:srgbClr val="8064A2"/>
            </a:solidFill>
            <a:prstDash val="solid"/>
          </a:ln>
        </p:spPr>
      </p:sp>
      <p:sp>
        <p:nvSpPr>
          <p:cNvPr id="7" name="Text 4"/>
          <p:cNvSpPr txBox="1"/>
          <p:nvPr/>
        </p:nvSpPr>
        <p:spPr>
          <a:xfrm>
            <a:off x="292608" y="91440"/>
            <a:ext cx="1060704" cy="713232"/>
          </a:xfrm>
          <a:prstGeom prst="rect">
            <a:avLst/>
          </a:prstGeom>
          <a:noFill/>
          <a:ln/>
        </p:spPr>
        <p:txBody>
          <a:bodyPr wrap="square" lIns="0" tIns="0" rIns="0" bIns="0" rtlCol="0" anchor="ctr"/>
          <a:lstStyle/>
          <a:p>
            <a:pPr algn="ctr" indent="0" marL="0">
              <a:buNone/>
            </a:pPr>
            <a:r>
              <a:rPr lang="en-US" sz="1300" dirty="0">
                <a:solidFill>
                  <a:srgbClr val="000000"/>
                </a:solidFill>
                <a:latin typeface="Arial" pitchFamily="34" charset="0"/>
                <a:ea typeface="Arial" pitchFamily="34" charset="-122"/>
                <a:cs typeface="Arial" pitchFamily="34" charset="-120"/>
              </a:rPr>
              <a:t>Aura</a:t>
            </a:r>
            <a:endParaRPr lang="en-US" sz="1300" dirty="0"/>
          </a:p>
        </p:txBody>
      </p:sp>
      <p:sp>
        <p:nvSpPr>
          <p:cNvPr id="8" name="Text 5"/>
          <p:cNvSpPr txBox="1"/>
          <p:nvPr/>
        </p:nvSpPr>
        <p:spPr>
          <a:xfrm>
            <a:off x="1463040" y="54864"/>
            <a:ext cx="8229600" cy="749808"/>
          </a:xfrm>
          <a:prstGeom prst="rect">
            <a:avLst/>
          </a:prstGeom>
          <a:noFill/>
          <a:ln/>
        </p:spPr>
        <p:txBody>
          <a:bodyPr wrap="square" lIns="0" tIns="0" rIns="0" bIns="0" rtlCol="0" anchor="ctr"/>
          <a:lstStyle/>
          <a:p>
            <a:pPr algn="ctr" indent="0" marL="0">
              <a:buNone/>
            </a:pPr>
            <a:r>
              <a:rPr lang="en-US" sz="2800" b="1" dirty="0">
                <a:solidFill>
                  <a:srgbClr val="000000"/>
                </a:solidFill>
                <a:latin typeface="Times New Roman" pitchFamily="34" charset="0"/>
                <a:ea typeface="Times New Roman" pitchFamily="34" charset="-122"/>
                <a:cs typeface="Times New Roman" pitchFamily="34" charset="-120"/>
              </a:rPr>
              <a:t>IMPACT AND BENEFITS</a:t>
            </a:r>
            <a:endParaRPr lang="en-US" sz="2800" dirty="0"/>
          </a:p>
        </p:txBody>
      </p:sp>
      <p:sp>
        <p:nvSpPr>
          <p:cNvPr id="9" name="Text 6"/>
          <p:cNvSpPr txBox="1"/>
          <p:nvPr/>
        </p:nvSpPr>
        <p:spPr>
          <a:xfrm>
            <a:off x="329184" y="914400"/>
            <a:ext cx="11521440" cy="292608"/>
          </a:xfrm>
          <a:prstGeom prst="rect">
            <a:avLst/>
          </a:prstGeom>
          <a:noFill/>
          <a:ln/>
        </p:spPr>
        <p:txBody>
          <a:bodyPr wrap="square" lIns="0" tIns="0" rIns="0" bIns="0" rtlCol="0" anchor="ctr"/>
          <a:lstStyle/>
          <a:p>
            <a:pPr indent="0" marL="0">
              <a:buNone/>
            </a:pPr>
            <a:r>
              <a:rPr lang="en-US" sz="1500" b="1" u="sng" dirty="0">
                <a:solidFill>
                  <a:srgbClr val="1F4E79"/>
                </a:solidFill>
                <a:latin typeface="Arial" pitchFamily="34" charset="0"/>
                <a:ea typeface="Arial" pitchFamily="34" charset="-122"/>
                <a:cs typeface="Arial" pitchFamily="34" charset="-120"/>
              </a:rPr>
              <a:t>◆  Potential impact on the target audience</a:t>
            </a:r>
            <a:endParaRPr lang="en-US" sz="1500" dirty="0"/>
          </a:p>
        </p:txBody>
      </p:sp>
      <p:pic>
        <p:nvPicPr>
          <p:cNvPr id="10" name="Image 1" descr="/home/claude/impact4.png">    </p:cNvPr>
          <p:cNvPicPr>
            <a:picLocks noChangeAspect="1"/>
          </p:cNvPicPr>
          <p:nvPr/>
        </p:nvPicPr>
        <p:blipFill>
          <a:blip r:embed="rId2"/>
          <a:stretch>
            <a:fillRect/>
          </a:stretch>
        </p:blipFill>
        <p:spPr>
          <a:xfrm>
            <a:off x="329184" y="1225296"/>
            <a:ext cx="11521440" cy="3346704"/>
          </a:xfrm>
          <a:prstGeom prst="rect">
            <a:avLst/>
          </a:prstGeom>
        </p:spPr>
      </p:pic>
      <p:sp>
        <p:nvSpPr>
          <p:cNvPr id="11" name="Text 7"/>
          <p:cNvSpPr txBox="1"/>
          <p:nvPr/>
        </p:nvSpPr>
        <p:spPr>
          <a:xfrm>
            <a:off x="329184" y="4645152"/>
            <a:ext cx="11521440" cy="292608"/>
          </a:xfrm>
          <a:prstGeom prst="rect">
            <a:avLst/>
          </a:prstGeom>
          <a:noFill/>
          <a:ln/>
        </p:spPr>
        <p:txBody>
          <a:bodyPr wrap="square" lIns="0" tIns="0" rIns="0" bIns="0" rtlCol="0" anchor="ctr"/>
          <a:lstStyle/>
          <a:p>
            <a:pPr indent="0" marL="0">
              <a:buNone/>
            </a:pPr>
            <a:r>
              <a:rPr lang="en-US" sz="1400" b="1" u="sng" dirty="0">
                <a:solidFill>
                  <a:srgbClr val="1F4E79"/>
                </a:solidFill>
                <a:latin typeface="Arial" pitchFamily="34" charset="0"/>
                <a:ea typeface="Arial" pitchFamily="34" charset="-122"/>
                <a:cs typeface="Arial" pitchFamily="34" charset="-120"/>
              </a:rPr>
              <a:t>◆  Benefits of the solution (social, economic, environmental, etc.)</a:t>
            </a:r>
            <a:endParaRPr lang="en-US" sz="1400" dirty="0"/>
          </a:p>
        </p:txBody>
      </p:sp>
      <p:sp>
        <p:nvSpPr>
          <p:cNvPr id="12" name="Shape 8"/>
          <p:cNvSpPr/>
          <p:nvPr/>
        </p:nvSpPr>
        <p:spPr>
          <a:xfrm>
            <a:off x="329184" y="4974336"/>
            <a:ext cx="3730752" cy="749808"/>
          </a:xfrm>
          <a:prstGeom prst="rect">
            <a:avLst/>
          </a:prstGeom>
          <a:solidFill>
            <a:srgbClr val="E2EFDA"/>
          </a:solidFill>
          <a:ln w="19050">
            <a:solidFill>
              <a:srgbClr val="548235"/>
            </a:solidFill>
            <a:prstDash val="solid"/>
          </a:ln>
        </p:spPr>
      </p:sp>
      <p:sp>
        <p:nvSpPr>
          <p:cNvPr id="13" name="Text 9"/>
          <p:cNvSpPr txBox="1"/>
          <p:nvPr/>
        </p:nvSpPr>
        <p:spPr>
          <a:xfrm>
            <a:off x="438912" y="5010912"/>
            <a:ext cx="3511296" cy="676656"/>
          </a:xfrm>
          <a:prstGeom prst="rect">
            <a:avLst/>
          </a:prstGeom>
          <a:noFill/>
          <a:ln/>
        </p:spPr>
        <p:txBody>
          <a:bodyPr wrap="square" lIns="0" tIns="0" rIns="0" bIns="0" rtlCol="0" anchor="t"/>
          <a:lstStyle/>
          <a:p>
            <a:pPr indent="0" marL="0">
              <a:lnSpc>
                <a:spcPct val="100000"/>
              </a:lnSpc>
              <a:buNone/>
            </a:pPr>
            <a:r>
              <a:rPr lang="en-US" sz="1400" b="1" dirty="0">
                <a:solidFill>
                  <a:srgbClr val="548235"/>
                </a:solidFill>
                <a:latin typeface="Arial" pitchFamily="34" charset="0"/>
                <a:ea typeface="Arial" pitchFamily="34" charset="-122"/>
                <a:cs typeface="Arial" pitchFamily="34" charset="-120"/>
              </a:rPr>
              <a:t>Social   </a:t>
            </a:r>
            <a:pPr indent="0" marL="0">
              <a:lnSpc>
                <a:spcPct val="100000"/>
              </a:lnSpc>
              <a:buNone/>
            </a:pPr>
            <a:r>
              <a:rPr lang="en-US" sz="1250" dirty="0">
                <a:solidFill>
                  <a:srgbClr val="000000"/>
                </a:solidFill>
                <a:latin typeface="Arial" pitchFamily="34" charset="0"/>
                <a:ea typeface="Arial" pitchFamily="34" charset="-122"/>
                <a:cs typeface="Arial" pitchFamily="34" charset="-120"/>
              </a:rPr>
              <a:t>Usable where AI agents are ruled out today, and the same filter blocks instructions hidden in a webpage.</a:t>
            </a:r>
            <a:endParaRPr lang="en-US" sz="1400" dirty="0"/>
          </a:p>
        </p:txBody>
      </p:sp>
      <p:sp>
        <p:nvSpPr>
          <p:cNvPr id="14" name="Shape 10"/>
          <p:cNvSpPr/>
          <p:nvPr/>
        </p:nvSpPr>
        <p:spPr>
          <a:xfrm>
            <a:off x="4224528" y="4974336"/>
            <a:ext cx="3730752" cy="749808"/>
          </a:xfrm>
          <a:prstGeom prst="rect">
            <a:avLst/>
          </a:prstGeom>
          <a:solidFill>
            <a:srgbClr val="FBE5D6"/>
          </a:solidFill>
          <a:ln w="19050">
            <a:solidFill>
              <a:srgbClr val="C55A11"/>
            </a:solidFill>
            <a:prstDash val="solid"/>
          </a:ln>
        </p:spPr>
      </p:sp>
      <p:sp>
        <p:nvSpPr>
          <p:cNvPr id="15" name="Text 11"/>
          <p:cNvSpPr txBox="1"/>
          <p:nvPr/>
        </p:nvSpPr>
        <p:spPr>
          <a:xfrm>
            <a:off x="4334256" y="5010912"/>
            <a:ext cx="3511296" cy="676656"/>
          </a:xfrm>
          <a:prstGeom prst="rect">
            <a:avLst/>
          </a:prstGeom>
          <a:noFill/>
          <a:ln/>
        </p:spPr>
        <p:txBody>
          <a:bodyPr wrap="square" lIns="0" tIns="0" rIns="0" bIns="0" rtlCol="0" anchor="t"/>
          <a:lstStyle/>
          <a:p>
            <a:pPr indent="0" marL="0">
              <a:lnSpc>
                <a:spcPct val="100000"/>
              </a:lnSpc>
              <a:buNone/>
            </a:pPr>
            <a:r>
              <a:rPr lang="en-US" sz="1400" b="1" dirty="0">
                <a:solidFill>
                  <a:srgbClr val="C55A11"/>
                </a:solidFill>
                <a:latin typeface="Arial" pitchFamily="34" charset="0"/>
                <a:ea typeface="Arial" pitchFamily="34" charset="-122"/>
                <a:cs typeface="Arial" pitchFamily="34" charset="-120"/>
              </a:rPr>
              <a:t>Economic   </a:t>
            </a:r>
            <a:pPr indent="0" marL="0">
              <a:lnSpc>
                <a:spcPct val="100000"/>
              </a:lnSpc>
              <a:buNone/>
            </a:pPr>
            <a:r>
              <a:rPr lang="en-US" sz="1250" dirty="0">
                <a:solidFill>
                  <a:srgbClr val="000000"/>
                </a:solidFill>
                <a:latin typeface="Arial" pitchFamily="34" charset="0"/>
                <a:ea typeface="Arial" pitchFamily="34" charset="-122"/>
                <a:cs typeface="Arial" pitchFamily="34" charset="-120"/>
              </a:rPr>
              <a:t>Most steps never leave the device, so cost does not grow with users. No per-seat API bill, no lock-in.</a:t>
            </a:r>
            <a:endParaRPr lang="en-US" sz="1400" dirty="0"/>
          </a:p>
        </p:txBody>
      </p:sp>
      <p:sp>
        <p:nvSpPr>
          <p:cNvPr id="16" name="Shape 12"/>
          <p:cNvSpPr/>
          <p:nvPr/>
        </p:nvSpPr>
        <p:spPr>
          <a:xfrm>
            <a:off x="8119872" y="4974336"/>
            <a:ext cx="3730752" cy="749808"/>
          </a:xfrm>
          <a:prstGeom prst="rect">
            <a:avLst/>
          </a:prstGeom>
          <a:solidFill>
            <a:srgbClr val="DEEBF7"/>
          </a:solidFill>
          <a:ln w="19050">
            <a:solidFill>
              <a:srgbClr val="1F4E79"/>
            </a:solidFill>
            <a:prstDash val="solid"/>
          </a:ln>
        </p:spPr>
      </p:sp>
      <p:sp>
        <p:nvSpPr>
          <p:cNvPr id="17" name="Text 13"/>
          <p:cNvSpPr txBox="1"/>
          <p:nvPr/>
        </p:nvSpPr>
        <p:spPr>
          <a:xfrm>
            <a:off x="8229600" y="5010912"/>
            <a:ext cx="3511296" cy="676656"/>
          </a:xfrm>
          <a:prstGeom prst="rect">
            <a:avLst/>
          </a:prstGeom>
          <a:noFill/>
          <a:ln/>
        </p:spPr>
        <p:txBody>
          <a:bodyPr wrap="square" lIns="0" tIns="0" rIns="0" bIns="0" rtlCol="0" anchor="t"/>
          <a:lstStyle/>
          <a:p>
            <a:pPr indent="0" marL="0">
              <a:lnSpc>
                <a:spcPct val="100000"/>
              </a:lnSpc>
              <a:buNone/>
            </a:pPr>
            <a:r>
              <a:rPr lang="en-US" sz="1400" b="1" dirty="0">
                <a:solidFill>
                  <a:srgbClr val="1F4E79"/>
                </a:solidFill>
                <a:latin typeface="Arial" pitchFamily="34" charset="0"/>
                <a:ea typeface="Arial" pitchFamily="34" charset="-122"/>
                <a:cs typeface="Arial" pitchFamily="34" charset="-120"/>
              </a:rPr>
              <a:t>Environmental   </a:t>
            </a:r>
            <a:pPr indent="0" marL="0">
              <a:lnSpc>
                <a:spcPct val="100000"/>
              </a:lnSpc>
              <a:buNone/>
            </a:pPr>
            <a:r>
              <a:rPr lang="en-US" sz="1250" dirty="0">
                <a:solidFill>
                  <a:srgbClr val="000000"/>
                </a:solidFill>
                <a:latin typeface="Arial" pitchFamily="34" charset="0"/>
                <a:ea typeface="Arial" pitchFamily="34" charset="-122"/>
                <a:cs typeface="Arial" pitchFamily="34" charset="-120"/>
              </a:rPr>
              <a:t>Small models run on laptops institutions already own; unchanged screens never reach a data centre.</a:t>
            </a:r>
            <a:endParaRPr lang="en-US" sz="1400" dirty="0"/>
          </a:p>
        </p:txBody>
      </p:sp>
      <p:sp>
        <p:nvSpPr>
          <p:cNvPr id="18" name="Shape 14"/>
          <p:cNvSpPr/>
          <p:nvPr/>
        </p:nvSpPr>
        <p:spPr>
          <a:xfrm>
            <a:off x="329184" y="5815584"/>
            <a:ext cx="2756916" cy="457200"/>
          </a:xfrm>
          <a:prstGeom prst="rect">
            <a:avLst/>
          </a:prstGeom>
          <a:solidFill>
            <a:srgbClr val="F2F2F2"/>
          </a:solidFill>
          <a:ln w="19050">
            <a:solidFill>
              <a:srgbClr val="BFBFBF"/>
            </a:solidFill>
            <a:prstDash val="solid"/>
          </a:ln>
        </p:spPr>
      </p:sp>
      <p:sp>
        <p:nvSpPr>
          <p:cNvPr id="19" name="Text 15"/>
          <p:cNvSpPr txBox="1"/>
          <p:nvPr/>
        </p:nvSpPr>
        <p:spPr>
          <a:xfrm>
            <a:off x="420624" y="5833872"/>
            <a:ext cx="2574036" cy="420624"/>
          </a:xfrm>
          <a:prstGeom prst="rect">
            <a:avLst/>
          </a:prstGeom>
          <a:noFill/>
          <a:ln/>
        </p:spPr>
        <p:txBody>
          <a:bodyPr wrap="square" lIns="0" tIns="0" rIns="0" bIns="0" rtlCol="0" anchor="ctr"/>
          <a:lstStyle/>
          <a:p>
            <a:pPr indent="0" marL="0">
              <a:lnSpc>
                <a:spcPct val="100000"/>
              </a:lnSpc>
              <a:buNone/>
            </a:pPr>
            <a:r>
              <a:rPr lang="en-US" sz="1700" b="1" dirty="0">
                <a:solidFill>
                  <a:srgbClr val="548235"/>
                </a:solidFill>
                <a:latin typeface="Times New Roman" pitchFamily="34" charset="0"/>
                <a:ea typeface="Times New Roman" pitchFamily="34" charset="-122"/>
                <a:cs typeface="Times New Roman" pitchFamily="34" charset="-120"/>
              </a:rPr>
              <a:t>0  </a:t>
            </a:r>
            <a:pPr indent="0" marL="0">
              <a:lnSpc>
                <a:spcPct val="100000"/>
              </a:lnSpc>
              <a:buNone/>
            </a:pPr>
            <a:r>
              <a:rPr lang="en-US" sz="1100" dirty="0">
                <a:solidFill>
                  <a:srgbClr val="404040"/>
                </a:solidFill>
                <a:latin typeface="Arial" pitchFamily="34" charset="0"/>
                <a:ea typeface="Arial" pitchFamily="34" charset="-122"/>
                <a:cs typeface="Arial" pitchFamily="34" charset="-120"/>
              </a:rPr>
              <a:t>raw identifiers on the wire</a:t>
            </a:r>
            <a:endParaRPr lang="en-US" sz="1700" dirty="0"/>
          </a:p>
        </p:txBody>
      </p:sp>
      <p:sp>
        <p:nvSpPr>
          <p:cNvPr id="20" name="Shape 16"/>
          <p:cNvSpPr/>
          <p:nvPr/>
        </p:nvSpPr>
        <p:spPr>
          <a:xfrm>
            <a:off x="3250692" y="5815584"/>
            <a:ext cx="2756916" cy="457200"/>
          </a:xfrm>
          <a:prstGeom prst="rect">
            <a:avLst/>
          </a:prstGeom>
          <a:solidFill>
            <a:srgbClr val="F2F2F2"/>
          </a:solidFill>
          <a:ln w="19050">
            <a:solidFill>
              <a:srgbClr val="BFBFBF"/>
            </a:solidFill>
            <a:prstDash val="solid"/>
          </a:ln>
        </p:spPr>
      </p:sp>
      <p:sp>
        <p:nvSpPr>
          <p:cNvPr id="21" name="Text 17"/>
          <p:cNvSpPr txBox="1"/>
          <p:nvPr/>
        </p:nvSpPr>
        <p:spPr>
          <a:xfrm>
            <a:off x="3342132" y="5833872"/>
            <a:ext cx="2574036" cy="420624"/>
          </a:xfrm>
          <a:prstGeom prst="rect">
            <a:avLst/>
          </a:prstGeom>
          <a:noFill/>
          <a:ln/>
        </p:spPr>
        <p:txBody>
          <a:bodyPr wrap="square" lIns="0" tIns="0" rIns="0" bIns="0" rtlCol="0" anchor="ctr"/>
          <a:lstStyle/>
          <a:p>
            <a:pPr indent="0" marL="0">
              <a:lnSpc>
                <a:spcPct val="100000"/>
              </a:lnSpc>
              <a:buNone/>
            </a:pPr>
            <a:r>
              <a:rPr lang="en-US" sz="1700" b="1" dirty="0">
                <a:solidFill>
                  <a:srgbClr val="548235"/>
                </a:solidFill>
                <a:latin typeface="Times New Roman" pitchFamily="34" charset="0"/>
                <a:ea typeface="Times New Roman" pitchFamily="34" charset="-122"/>
                <a:cs typeface="Times New Roman" pitchFamily="34" charset="-120"/>
              </a:rPr>
              <a:t>&lt; 10 MB  </a:t>
            </a:r>
            <a:pPr indent="0" marL="0">
              <a:lnSpc>
                <a:spcPct val="100000"/>
              </a:lnSpc>
              <a:buNone/>
            </a:pPr>
            <a:r>
              <a:rPr lang="en-US" sz="1100" dirty="0">
                <a:solidFill>
                  <a:srgbClr val="404040"/>
                </a:solidFill>
                <a:latin typeface="Arial" pitchFamily="34" charset="0"/>
                <a:ea typeface="Arial" pitchFamily="34" charset="-122"/>
                <a:cs typeface="Arial" pitchFamily="34" charset="-120"/>
              </a:rPr>
              <a:t>to the first on-device inference</a:t>
            </a:r>
            <a:endParaRPr lang="en-US" sz="1700" dirty="0"/>
          </a:p>
        </p:txBody>
      </p:sp>
      <p:sp>
        <p:nvSpPr>
          <p:cNvPr id="22" name="Shape 18"/>
          <p:cNvSpPr/>
          <p:nvPr/>
        </p:nvSpPr>
        <p:spPr>
          <a:xfrm>
            <a:off x="6172200" y="5815584"/>
            <a:ext cx="2756916" cy="457200"/>
          </a:xfrm>
          <a:prstGeom prst="rect">
            <a:avLst/>
          </a:prstGeom>
          <a:solidFill>
            <a:srgbClr val="F2F2F2"/>
          </a:solidFill>
          <a:ln w="19050">
            <a:solidFill>
              <a:srgbClr val="BFBFBF"/>
            </a:solidFill>
            <a:prstDash val="solid"/>
          </a:ln>
        </p:spPr>
      </p:sp>
      <p:sp>
        <p:nvSpPr>
          <p:cNvPr id="23" name="Text 19"/>
          <p:cNvSpPr txBox="1"/>
          <p:nvPr/>
        </p:nvSpPr>
        <p:spPr>
          <a:xfrm>
            <a:off x="6263640" y="5833872"/>
            <a:ext cx="2574036" cy="420624"/>
          </a:xfrm>
          <a:prstGeom prst="rect">
            <a:avLst/>
          </a:prstGeom>
          <a:noFill/>
          <a:ln/>
        </p:spPr>
        <p:txBody>
          <a:bodyPr wrap="square" lIns="0" tIns="0" rIns="0" bIns="0" rtlCol="0" anchor="ctr"/>
          <a:lstStyle/>
          <a:p>
            <a:pPr indent="0" marL="0">
              <a:lnSpc>
                <a:spcPct val="100000"/>
              </a:lnSpc>
              <a:buNone/>
            </a:pPr>
            <a:r>
              <a:rPr lang="en-US" sz="1700" b="1" dirty="0">
                <a:solidFill>
                  <a:srgbClr val="548235"/>
                </a:solidFill>
                <a:latin typeface="Times New Roman" pitchFamily="34" charset="0"/>
                <a:ea typeface="Times New Roman" pitchFamily="34" charset="-122"/>
                <a:cs typeface="Times New Roman" pitchFamily="34" charset="-120"/>
              </a:rPr>
              <a:t>8.4x  </a:t>
            </a:r>
            <a:pPr indent="0" marL="0">
              <a:lnSpc>
                <a:spcPct val="100000"/>
              </a:lnSpc>
              <a:buNone/>
            </a:pPr>
            <a:r>
              <a:rPr lang="en-US" sz="1100" dirty="0">
                <a:solidFill>
                  <a:srgbClr val="404040"/>
                </a:solidFill>
                <a:latin typeface="Arial" pitchFamily="34" charset="0"/>
                <a:ea typeface="Arial" pitchFamily="34" charset="-122"/>
                <a:cs typeface="Arial" pitchFamily="34" charset="-120"/>
              </a:rPr>
              <a:t>cheaper than raw HTML</a:t>
            </a:r>
            <a:endParaRPr lang="en-US" sz="1700" dirty="0"/>
          </a:p>
        </p:txBody>
      </p:sp>
      <p:sp>
        <p:nvSpPr>
          <p:cNvPr id="24" name="Shape 20"/>
          <p:cNvSpPr/>
          <p:nvPr/>
        </p:nvSpPr>
        <p:spPr>
          <a:xfrm>
            <a:off x="9093708" y="5815584"/>
            <a:ext cx="2756916" cy="457200"/>
          </a:xfrm>
          <a:prstGeom prst="rect">
            <a:avLst/>
          </a:prstGeom>
          <a:solidFill>
            <a:srgbClr val="F2F2F2"/>
          </a:solidFill>
          <a:ln w="19050">
            <a:solidFill>
              <a:srgbClr val="BFBFBF"/>
            </a:solidFill>
            <a:prstDash val="solid"/>
          </a:ln>
        </p:spPr>
      </p:sp>
      <p:sp>
        <p:nvSpPr>
          <p:cNvPr id="25" name="Text 21"/>
          <p:cNvSpPr txBox="1"/>
          <p:nvPr/>
        </p:nvSpPr>
        <p:spPr>
          <a:xfrm>
            <a:off x="9185148" y="5833872"/>
            <a:ext cx="2574036" cy="420624"/>
          </a:xfrm>
          <a:prstGeom prst="rect">
            <a:avLst/>
          </a:prstGeom>
          <a:noFill/>
          <a:ln/>
        </p:spPr>
        <p:txBody>
          <a:bodyPr wrap="square" lIns="0" tIns="0" rIns="0" bIns="0" rtlCol="0" anchor="ctr"/>
          <a:lstStyle/>
          <a:p>
            <a:pPr indent="0" marL="0">
              <a:lnSpc>
                <a:spcPct val="100000"/>
              </a:lnSpc>
              <a:buNone/>
            </a:pPr>
            <a:r>
              <a:rPr lang="en-US" sz="1700" b="1" dirty="0">
                <a:solidFill>
                  <a:srgbClr val="548235"/>
                </a:solidFill>
                <a:latin typeface="Times New Roman" pitchFamily="34" charset="0"/>
                <a:ea typeface="Times New Roman" pitchFamily="34" charset="-122"/>
                <a:cs typeface="Times New Roman" pitchFamily="34" charset="-120"/>
              </a:rPr>
              <a:t>1 GPU  </a:t>
            </a:r>
            <a:pPr indent="0" marL="0">
              <a:lnSpc>
                <a:spcPct val="100000"/>
              </a:lnSpc>
              <a:buNone/>
            </a:pPr>
            <a:r>
              <a:rPr lang="en-US" sz="1100" dirty="0">
                <a:solidFill>
                  <a:srgbClr val="404040"/>
                </a:solidFill>
                <a:latin typeface="Arial" pitchFamily="34" charset="0"/>
                <a:ea typeface="Arial" pitchFamily="34" charset="-122"/>
                <a:cs typeface="Arial" pitchFamily="34" charset="-120"/>
              </a:rPr>
              <a:t>runs the server, fully offline</a:t>
            </a:r>
            <a:endParaRPr lang="en-US" sz="1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home/claude/t26/image2.png">    </p:cNvPr>
          <p:cNvPicPr>
            <a:picLocks noChangeAspect="1"/>
          </p:cNvPicPr>
          <p:nvPr/>
        </p:nvPicPr>
        <p:blipFill>
          <a:blip r:embed="rId1"/>
          <a:stretch>
            <a:fillRect/>
          </a:stretch>
        </p:blipFill>
        <p:spPr>
          <a:xfrm>
            <a:off x="9784080" y="0"/>
            <a:ext cx="2249424" cy="1060704"/>
          </a:xfrm>
          <a:prstGeom prst="rect">
            <a:avLst/>
          </a:prstGeom>
        </p:spPr>
      </p:pic>
      <p:sp>
        <p:nvSpPr>
          <p:cNvPr id="3" name="Shape 0"/>
          <p:cNvSpPr/>
          <p:nvPr/>
        </p:nvSpPr>
        <p:spPr>
          <a:xfrm>
            <a:off x="0" y="6355080"/>
            <a:ext cx="12188952" cy="502920"/>
          </a:xfrm>
          <a:prstGeom prst="rect">
            <a:avLst/>
          </a:prstGeom>
          <a:solidFill>
            <a:srgbClr val="0070C0"/>
          </a:solidFill>
          <a:ln w="12700">
            <a:solidFill>
              <a:srgbClr val="0070C0"/>
            </a:solidFill>
            <a:prstDash val="solid"/>
          </a:ln>
        </p:spPr>
      </p:sp>
      <p:sp>
        <p:nvSpPr>
          <p:cNvPr id="4" name="Text 1"/>
          <p:cNvSpPr txBox="1"/>
          <p:nvPr/>
        </p:nvSpPr>
        <p:spPr>
          <a:xfrm>
            <a:off x="4645152" y="6355080"/>
            <a:ext cx="3200400" cy="365760"/>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@SIH Idea submission- Template</a:t>
            </a:r>
            <a:endParaRPr lang="en-US" sz="1200" dirty="0"/>
          </a:p>
        </p:txBody>
      </p:sp>
      <p:sp>
        <p:nvSpPr>
          <p:cNvPr id="5" name="Text 2"/>
          <p:cNvSpPr txBox="1"/>
          <p:nvPr/>
        </p:nvSpPr>
        <p:spPr>
          <a:xfrm>
            <a:off x="10607040" y="6355080"/>
            <a:ext cx="54864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6" name="Shape 3"/>
          <p:cNvSpPr/>
          <p:nvPr/>
        </p:nvSpPr>
        <p:spPr>
          <a:xfrm>
            <a:off x="292608" y="91440"/>
            <a:ext cx="1060704" cy="713232"/>
          </a:xfrm>
          <a:prstGeom prst="ellipse">
            <a:avLst/>
          </a:prstGeom>
          <a:solidFill>
            <a:srgbClr val="FFFFFF"/>
          </a:solidFill>
          <a:ln w="15875">
            <a:solidFill>
              <a:srgbClr val="8064A2"/>
            </a:solidFill>
            <a:prstDash val="solid"/>
          </a:ln>
        </p:spPr>
      </p:sp>
      <p:sp>
        <p:nvSpPr>
          <p:cNvPr id="7" name="Text 4"/>
          <p:cNvSpPr txBox="1"/>
          <p:nvPr/>
        </p:nvSpPr>
        <p:spPr>
          <a:xfrm>
            <a:off x="292608" y="91440"/>
            <a:ext cx="1060704" cy="713232"/>
          </a:xfrm>
          <a:prstGeom prst="rect">
            <a:avLst/>
          </a:prstGeom>
          <a:noFill/>
          <a:ln/>
        </p:spPr>
        <p:txBody>
          <a:bodyPr wrap="square" lIns="0" tIns="0" rIns="0" bIns="0" rtlCol="0" anchor="ctr"/>
          <a:lstStyle/>
          <a:p>
            <a:pPr algn="ctr" indent="0" marL="0">
              <a:buNone/>
            </a:pPr>
            <a:r>
              <a:rPr lang="en-US" sz="1300" dirty="0">
                <a:solidFill>
                  <a:srgbClr val="000000"/>
                </a:solidFill>
                <a:latin typeface="Arial" pitchFamily="34" charset="0"/>
                <a:ea typeface="Arial" pitchFamily="34" charset="-122"/>
                <a:cs typeface="Arial" pitchFamily="34" charset="-120"/>
              </a:rPr>
              <a:t>Aura</a:t>
            </a:r>
            <a:endParaRPr lang="en-US" sz="1300" dirty="0"/>
          </a:p>
        </p:txBody>
      </p:sp>
      <p:sp>
        <p:nvSpPr>
          <p:cNvPr id="8" name="Text 5"/>
          <p:cNvSpPr txBox="1"/>
          <p:nvPr/>
        </p:nvSpPr>
        <p:spPr>
          <a:xfrm>
            <a:off x="1463040" y="54864"/>
            <a:ext cx="8229600" cy="749808"/>
          </a:xfrm>
          <a:prstGeom prst="rect">
            <a:avLst/>
          </a:prstGeom>
          <a:noFill/>
          <a:ln/>
        </p:spPr>
        <p:txBody>
          <a:bodyPr wrap="square" lIns="0" tIns="0" rIns="0" bIns="0" rtlCol="0" anchor="ctr"/>
          <a:lstStyle/>
          <a:p>
            <a:pPr algn="ctr" indent="0" marL="0">
              <a:buNone/>
            </a:pPr>
            <a:r>
              <a:rPr lang="en-US" sz="2800" b="1" dirty="0">
                <a:solidFill>
                  <a:srgbClr val="000000"/>
                </a:solidFill>
                <a:latin typeface="Times New Roman" pitchFamily="34" charset="0"/>
                <a:ea typeface="Times New Roman" pitchFamily="34" charset="-122"/>
                <a:cs typeface="Times New Roman" pitchFamily="34" charset="-120"/>
              </a:rPr>
              <a:t>RESEARCH AND REFERENCES</a:t>
            </a:r>
            <a:endParaRPr lang="en-US" sz="2800" dirty="0"/>
          </a:p>
        </p:txBody>
      </p:sp>
      <p:sp>
        <p:nvSpPr>
          <p:cNvPr id="9" name="Text 6"/>
          <p:cNvSpPr txBox="1"/>
          <p:nvPr/>
        </p:nvSpPr>
        <p:spPr>
          <a:xfrm>
            <a:off x="329184" y="932688"/>
            <a:ext cx="11521440" cy="292608"/>
          </a:xfrm>
          <a:prstGeom prst="rect">
            <a:avLst/>
          </a:prstGeom>
          <a:noFill/>
          <a:ln/>
        </p:spPr>
        <p:txBody>
          <a:bodyPr wrap="square" lIns="0" tIns="0" rIns="0" bIns="0" rtlCol="0" anchor="ctr"/>
          <a:lstStyle/>
          <a:p>
            <a:pPr indent="0" marL="0">
              <a:buNone/>
            </a:pPr>
            <a:r>
              <a:rPr lang="en-US" sz="1500" b="1" u="sng" dirty="0">
                <a:solidFill>
                  <a:srgbClr val="1F4E79"/>
                </a:solidFill>
                <a:latin typeface="Arial" pitchFamily="34" charset="0"/>
                <a:ea typeface="Arial" pitchFamily="34" charset="-122"/>
                <a:cs typeface="Arial" pitchFamily="34" charset="-120"/>
              </a:rPr>
              <a:t>◆  Details / Links of the reference and research work</a:t>
            </a:r>
            <a:endParaRPr lang="en-US" sz="1500" dirty="0"/>
          </a:p>
        </p:txBody>
      </p:sp>
      <p:sp>
        <p:nvSpPr>
          <p:cNvPr id="10" name="Shape 7"/>
          <p:cNvSpPr/>
          <p:nvPr/>
        </p:nvSpPr>
        <p:spPr>
          <a:xfrm>
            <a:off x="329184" y="1280160"/>
            <a:ext cx="5650992" cy="1481328"/>
          </a:xfrm>
          <a:prstGeom prst="rect">
            <a:avLst/>
          </a:prstGeom>
          <a:solidFill>
            <a:srgbClr val="E2EFDA"/>
          </a:solidFill>
          <a:ln w="19050">
            <a:solidFill>
              <a:srgbClr val="548235"/>
            </a:solidFill>
            <a:prstDash val="solid"/>
          </a:ln>
        </p:spPr>
      </p:sp>
      <p:sp>
        <p:nvSpPr>
          <p:cNvPr id="11" name="Text 8"/>
          <p:cNvSpPr txBox="1"/>
          <p:nvPr/>
        </p:nvSpPr>
        <p:spPr>
          <a:xfrm>
            <a:off x="457200" y="1325880"/>
            <a:ext cx="5394960" cy="292608"/>
          </a:xfrm>
          <a:prstGeom prst="rect">
            <a:avLst/>
          </a:prstGeom>
          <a:noFill/>
          <a:ln/>
        </p:spPr>
        <p:txBody>
          <a:bodyPr wrap="square" lIns="0" tIns="0" rIns="0" bIns="0" rtlCol="0" anchor="ctr"/>
          <a:lstStyle/>
          <a:p>
            <a:pPr indent="0" marL="0">
              <a:buNone/>
            </a:pPr>
            <a:r>
              <a:rPr lang="en-US" sz="1500" b="1" dirty="0">
                <a:solidFill>
                  <a:srgbClr val="548235"/>
                </a:solidFill>
                <a:latin typeface="Arial" pitchFamily="34" charset="0"/>
                <a:ea typeface="Arial" pitchFamily="34" charset="-122"/>
                <a:cs typeface="Arial" pitchFamily="34" charset="-120"/>
              </a:rPr>
              <a:t>Problem statement and Indian policy</a:t>
            </a:r>
            <a:endParaRPr lang="en-US" sz="1500" dirty="0"/>
          </a:p>
        </p:txBody>
      </p:sp>
      <p:sp>
        <p:nvSpPr>
          <p:cNvPr id="12" name="Text 9"/>
          <p:cNvSpPr txBox="1"/>
          <p:nvPr/>
        </p:nvSpPr>
        <p:spPr>
          <a:xfrm>
            <a:off x="448056" y="1627632"/>
            <a:ext cx="5431536" cy="1078992"/>
          </a:xfrm>
          <a:prstGeom prst="rect">
            <a:avLst/>
          </a:prstGeom>
          <a:noFill/>
          <a:ln/>
        </p:spPr>
        <p:txBody>
          <a:bodyPr wrap="square" lIns="0" tIns="0" rIns="0" bIns="0" rtlCol="0" anchor="t"/>
          <a:lstStyle/>
          <a:p>
            <a:pPr marL="165100" indent="-165100">
              <a:lnSpc>
                <a:spcPct val="100000"/>
              </a:lnSpc>
              <a:spcAft>
                <a:spcPts val="600"/>
              </a:spcAft>
              <a:buSzPct val="100000"/>
              <a:buChar char="▪"/>
            </a:pPr>
            <a:r>
              <a:rPr lang="en-US" sz="1200" u="sng" dirty="0">
                <a:solidFill>
                  <a:srgbClr val="1F4E79"/>
                </a:solidFill>
                <a:latin typeface="Arial" pitchFamily="34" charset="0"/>
                <a:ea typeface="Arial" pitchFamily="34" charset="-122"/>
                <a:cs typeface="Arial" pitchFamily="34" charset="-120"/>
                <a:hlinkClick r:id="rId2" invalidUrl="" action="" tgtFrame="" tooltip="" history="1" highlightClick="0" endSnd="0">
                  <a:extLst>
                    <a:ext uri="{A12FA001-AC4F-418D-AE19-62706E023703}">
                      <ahyp:hlinkClr xmlns:ahyp="http://schemas.microsoft.com/office/drawing/2018/hyperlinkcolor" val="tx"/>
                    </a:ext>
                  </a:extLst>
                </a:hlinkClick>
              </a:rPr>
              <a:t>SIH 2026 problem statement SIH26171, ISRO</a:t>
            </a:r>
            <a:endParaRPr lang="en-US" sz="1200" dirty="0"/>
          </a:p>
          <a:p>
            <a:pPr marL="165100" indent="-165100">
              <a:lnSpc>
                <a:spcPct val="100000"/>
              </a:lnSpc>
              <a:spcAft>
                <a:spcPts val="600"/>
              </a:spcAft>
              <a:buSzPct val="100000"/>
              <a:buChar char="▪"/>
            </a:pPr>
            <a:r>
              <a:rPr lang="en-US" sz="1200" u="sng" dirty="0">
                <a:solidFill>
                  <a:srgbClr val="1F4E79"/>
                </a:solidFill>
                <a:latin typeface="Arial" pitchFamily="34" charset="0"/>
                <a:ea typeface="Arial" pitchFamily="34" charset="-122"/>
                <a:cs typeface="Arial" pitchFamily="34" charset="-120"/>
                <a:hlinkClick r:id="rId3" invalidUrl="" action="" tgtFrame="" tooltip="" history="1" highlightClick="0" endSnd="0">
                  <a:extLst>
                    <a:ext uri="{A12FA001-AC4F-418D-AE19-62706E023703}">
                      <ahyp:hlinkClr xmlns:ahyp="http://schemas.microsoft.com/office/drawing/2018/hyperlinkcolor" val="tx"/>
                    </a:ext>
                  </a:extLst>
                </a:hlinkClick>
              </a:rPr>
              <a:t>Digital Personal Data Protection Act 2023 and DPDP Rules 2025, MeitY</a:t>
            </a:r>
            <a:endParaRPr lang="en-US" sz="1200" dirty="0"/>
          </a:p>
          <a:p>
            <a:pPr marL="165100" indent="-165100">
              <a:lnSpc>
                <a:spcPct val="100000"/>
              </a:lnSpc>
              <a:buSzPct val="100000"/>
              <a:buChar char="▪"/>
            </a:pPr>
            <a:r>
              <a:rPr lang="en-US" sz="1200" u="sng" dirty="0">
                <a:solidFill>
                  <a:srgbClr val="1F4E79"/>
                </a:solidFill>
                <a:latin typeface="Arial" pitchFamily="34" charset="0"/>
                <a:ea typeface="Arial" pitchFamily="34" charset="-122"/>
                <a:cs typeface="Arial" pitchFamily="34" charset="-120"/>
                <a:hlinkClick r:id="rId4" invalidUrl="" action="" tgtFrame="" tooltip="" history="1" highlightClick="0" endSnd="0">
                  <a:extLst>
                    <a:ext uri="{A12FA001-AC4F-418D-AE19-62706E023703}">
                      <ahyp:hlinkClr xmlns:ahyp="http://schemas.microsoft.com/office/drawing/2018/hyperlinkcolor" val="tx"/>
                    </a:ext>
                  </a:extLst>
                </a:hlinkClick>
              </a:rPr>
              <a:t>RBI, Storage of Payment System Data, April 2018</a:t>
            </a:r>
            <a:endParaRPr lang="en-US" sz="1200" dirty="0"/>
          </a:p>
        </p:txBody>
      </p:sp>
      <p:sp>
        <p:nvSpPr>
          <p:cNvPr id="13" name="Shape 10"/>
          <p:cNvSpPr/>
          <p:nvPr/>
        </p:nvSpPr>
        <p:spPr>
          <a:xfrm>
            <a:off x="6199632" y="1280160"/>
            <a:ext cx="5650992" cy="1481328"/>
          </a:xfrm>
          <a:prstGeom prst="rect">
            <a:avLst/>
          </a:prstGeom>
          <a:solidFill>
            <a:srgbClr val="E2EFDA"/>
          </a:solidFill>
          <a:ln w="19050">
            <a:solidFill>
              <a:srgbClr val="548235"/>
            </a:solidFill>
            <a:prstDash val="solid"/>
          </a:ln>
        </p:spPr>
      </p:sp>
      <p:sp>
        <p:nvSpPr>
          <p:cNvPr id="14" name="Text 11"/>
          <p:cNvSpPr txBox="1"/>
          <p:nvPr/>
        </p:nvSpPr>
        <p:spPr>
          <a:xfrm>
            <a:off x="6327648" y="1325880"/>
            <a:ext cx="5394960" cy="292608"/>
          </a:xfrm>
          <a:prstGeom prst="rect">
            <a:avLst/>
          </a:prstGeom>
          <a:noFill/>
          <a:ln/>
        </p:spPr>
        <p:txBody>
          <a:bodyPr wrap="square" lIns="0" tIns="0" rIns="0" bIns="0" rtlCol="0" anchor="ctr"/>
          <a:lstStyle/>
          <a:p>
            <a:pPr indent="0" marL="0">
              <a:buNone/>
            </a:pPr>
            <a:r>
              <a:rPr lang="en-US" sz="1500" b="1" dirty="0">
                <a:solidFill>
                  <a:srgbClr val="548235"/>
                </a:solidFill>
                <a:latin typeface="Arial" pitchFamily="34" charset="0"/>
                <a:ea typeface="Arial" pitchFamily="34" charset="-122"/>
                <a:cs typeface="Arial" pitchFamily="34" charset="-120"/>
              </a:rPr>
              <a:t>Running models inside the browser</a:t>
            </a:r>
            <a:endParaRPr lang="en-US" sz="1500" dirty="0"/>
          </a:p>
        </p:txBody>
      </p:sp>
      <p:sp>
        <p:nvSpPr>
          <p:cNvPr id="15" name="Text 12"/>
          <p:cNvSpPr txBox="1"/>
          <p:nvPr/>
        </p:nvSpPr>
        <p:spPr>
          <a:xfrm>
            <a:off x="6318504" y="1627632"/>
            <a:ext cx="5431536" cy="1078992"/>
          </a:xfrm>
          <a:prstGeom prst="rect">
            <a:avLst/>
          </a:prstGeom>
          <a:noFill/>
          <a:ln/>
        </p:spPr>
        <p:txBody>
          <a:bodyPr wrap="square" lIns="0" tIns="0" rIns="0" bIns="0" rtlCol="0" anchor="t"/>
          <a:lstStyle/>
          <a:p>
            <a:pPr marL="165100" indent="-165100">
              <a:lnSpc>
                <a:spcPct val="100000"/>
              </a:lnSpc>
              <a:spcAft>
                <a:spcPts val="600"/>
              </a:spcAft>
              <a:buSzPct val="100000"/>
              <a:buChar char="▪"/>
            </a:pPr>
            <a:r>
              <a:rPr lang="en-US" sz="1200" u="sng" dirty="0">
                <a:solidFill>
                  <a:srgbClr val="1F4E79"/>
                </a:solidFill>
                <a:latin typeface="Arial" pitchFamily="34" charset="0"/>
                <a:ea typeface="Arial" pitchFamily="34" charset="-122"/>
                <a:cs typeface="Arial" pitchFamily="34" charset="-120"/>
                <a:hlinkClick r:id="rId5" invalidUrl="" action="" tgtFrame="" tooltip="" history="1" highlightClick="0" endSnd="0">
                  <a:extLst>
                    <a:ext uri="{A12FA001-AC4F-418D-AE19-62706E023703}">
                      <ahyp:hlinkClr xmlns:ahyp="http://schemas.microsoft.com/office/drawing/2018/hyperlinkcolor" val="tx"/>
                    </a:ext>
                  </a:extLst>
                </a:hlinkClick>
              </a:rPr>
              <a:t>ONNX Runtime Web with the WebGPU execution provider</a:t>
            </a:r>
            <a:endParaRPr lang="en-US" sz="1200" dirty="0"/>
          </a:p>
          <a:p>
            <a:pPr marL="165100" indent="-165100">
              <a:lnSpc>
                <a:spcPct val="100000"/>
              </a:lnSpc>
              <a:spcAft>
                <a:spcPts val="600"/>
              </a:spcAft>
              <a:buSzPct val="100000"/>
              <a:buChar char="▪"/>
            </a:pPr>
            <a:r>
              <a:rPr lang="en-US" sz="1200" u="sng" dirty="0">
                <a:solidFill>
                  <a:srgbClr val="1F4E79"/>
                </a:solidFill>
                <a:latin typeface="Arial" pitchFamily="34" charset="0"/>
                <a:ea typeface="Arial" pitchFamily="34" charset="-122"/>
                <a:cs typeface="Arial" pitchFamily="34" charset="-120"/>
                <a:hlinkClick r:id="rId6" invalidUrl="" action="" tgtFrame="" tooltip="" history="1" highlightClick="0" endSnd="0">
                  <a:extLst>
                    <a:ext uri="{A12FA001-AC4F-418D-AE19-62706E023703}">
                      <ahyp:hlinkClr xmlns:ahyp="http://schemas.microsoft.com/office/drawing/2018/hyperlinkcolor" val="tx"/>
                    </a:ext>
                  </a:extLst>
                </a:hlinkClick>
              </a:rPr>
              <a:t>Transformers.js, Hugging Face</a:t>
            </a:r>
            <a:endParaRPr lang="en-US" sz="1200" dirty="0"/>
          </a:p>
          <a:p>
            <a:pPr marL="165100" indent="-165100">
              <a:lnSpc>
                <a:spcPct val="100000"/>
              </a:lnSpc>
              <a:buSzPct val="100000"/>
              <a:buChar char="▪"/>
            </a:pPr>
            <a:r>
              <a:rPr lang="en-US" sz="1200" u="sng" dirty="0">
                <a:solidFill>
                  <a:srgbClr val="1F4E79"/>
                </a:solidFill>
                <a:latin typeface="Arial" pitchFamily="34" charset="0"/>
                <a:ea typeface="Arial" pitchFamily="34" charset="-122"/>
                <a:cs typeface="Arial" pitchFamily="34" charset="-120"/>
                <a:hlinkClick r:id="rId7" invalidUrl="" action="" tgtFrame="" tooltip="" history="1" highlightClick="0" endSnd="0">
                  <a:extLst>
                    <a:ext uri="{A12FA001-AC4F-418D-AE19-62706E023703}">
                      <ahyp:hlinkClr xmlns:ahyp="http://schemas.microsoft.com/office/drawing/2018/hyperlinkcolor" val="tx"/>
                    </a:ext>
                  </a:extLst>
                </a:hlinkClick>
              </a:rPr>
              <a:t>Chrome Manifest V3: offscreen documents and service worker lifecycle</a:t>
            </a:r>
            <a:endParaRPr lang="en-US" sz="1200" dirty="0"/>
          </a:p>
        </p:txBody>
      </p:sp>
      <p:sp>
        <p:nvSpPr>
          <p:cNvPr id="16" name="Shape 13"/>
          <p:cNvSpPr/>
          <p:nvPr/>
        </p:nvSpPr>
        <p:spPr>
          <a:xfrm>
            <a:off x="329184" y="2889504"/>
            <a:ext cx="5650992" cy="1481328"/>
          </a:xfrm>
          <a:prstGeom prst="rect">
            <a:avLst/>
          </a:prstGeom>
          <a:solidFill>
            <a:srgbClr val="DEEBF7"/>
          </a:solidFill>
          <a:ln w="19050">
            <a:solidFill>
              <a:srgbClr val="1F4E79"/>
            </a:solidFill>
            <a:prstDash val="solid"/>
          </a:ln>
        </p:spPr>
      </p:sp>
      <p:sp>
        <p:nvSpPr>
          <p:cNvPr id="17" name="Text 14"/>
          <p:cNvSpPr txBox="1"/>
          <p:nvPr/>
        </p:nvSpPr>
        <p:spPr>
          <a:xfrm>
            <a:off x="457200" y="2935224"/>
            <a:ext cx="5394960" cy="292608"/>
          </a:xfrm>
          <a:prstGeom prst="rect">
            <a:avLst/>
          </a:prstGeom>
          <a:noFill/>
          <a:ln/>
        </p:spPr>
        <p:txBody>
          <a:bodyPr wrap="square" lIns="0" tIns="0" rIns="0" bIns="0" rtlCol="0" anchor="ctr"/>
          <a:lstStyle/>
          <a:p>
            <a:pPr indent="0" marL="0">
              <a:buNone/>
            </a:pPr>
            <a:r>
              <a:rPr lang="en-US" sz="1500" b="1" dirty="0">
                <a:solidFill>
                  <a:srgbClr val="1F4E79"/>
                </a:solidFill>
                <a:latin typeface="Arial" pitchFamily="34" charset="0"/>
                <a:ea typeface="Arial" pitchFamily="34" charset="-122"/>
                <a:cs typeface="Arial" pitchFamily="34" charset="-120"/>
              </a:rPr>
              <a:t>PII detection and evaluation</a:t>
            </a:r>
            <a:endParaRPr lang="en-US" sz="1500" dirty="0"/>
          </a:p>
        </p:txBody>
      </p:sp>
      <p:sp>
        <p:nvSpPr>
          <p:cNvPr id="18" name="Text 15"/>
          <p:cNvSpPr txBox="1"/>
          <p:nvPr/>
        </p:nvSpPr>
        <p:spPr>
          <a:xfrm>
            <a:off x="448056" y="3236976"/>
            <a:ext cx="5431536" cy="1078992"/>
          </a:xfrm>
          <a:prstGeom prst="rect">
            <a:avLst/>
          </a:prstGeom>
          <a:noFill/>
          <a:ln/>
        </p:spPr>
        <p:txBody>
          <a:bodyPr wrap="square" lIns="0" tIns="0" rIns="0" bIns="0" rtlCol="0" anchor="t"/>
          <a:lstStyle/>
          <a:p>
            <a:pPr marL="165100" indent="-165100">
              <a:lnSpc>
                <a:spcPct val="100000"/>
              </a:lnSpc>
              <a:spcAft>
                <a:spcPts val="600"/>
              </a:spcAft>
              <a:buSzPct val="100000"/>
              <a:buChar char="▪"/>
            </a:pPr>
            <a:r>
              <a:rPr lang="en-US" sz="1200" u="sng" dirty="0">
                <a:solidFill>
                  <a:srgbClr val="1F4E79"/>
                </a:solidFill>
                <a:latin typeface="Arial" pitchFamily="34" charset="0"/>
                <a:ea typeface="Arial" pitchFamily="34" charset="-122"/>
                <a:cs typeface="Arial" pitchFamily="34" charset="-120"/>
                <a:hlinkClick r:id="rId8" invalidUrl="" action="" tgtFrame="" tooltip="" history="1" highlightClick="0" endSnd="0">
                  <a:extLst>
                    <a:ext uri="{A12FA001-AC4F-418D-AE19-62706E023703}">
                      <ahyp:hlinkClr xmlns:ahyp="http://schemas.microsoft.com/office/drawing/2018/hyperlinkcolor" val="tx"/>
                    </a:ext>
                  </a:extLst>
                </a:hlinkClick>
              </a:rPr>
              <a:t>Microsoft Presidio: analyzer, India recognisers and image redactor</a:t>
            </a:r>
            <a:endParaRPr lang="en-US" sz="1200" dirty="0"/>
          </a:p>
          <a:p>
            <a:pPr marL="165100" indent="-165100">
              <a:lnSpc>
                <a:spcPct val="100000"/>
              </a:lnSpc>
              <a:spcAft>
                <a:spcPts val="600"/>
              </a:spcAft>
              <a:buSzPct val="100000"/>
              <a:buChar char="▪"/>
            </a:pPr>
            <a:r>
              <a:rPr lang="en-US" sz="1200" u="sng" dirty="0">
                <a:solidFill>
                  <a:srgbClr val="1F4E79"/>
                </a:solidFill>
                <a:latin typeface="Arial" pitchFamily="34" charset="0"/>
                <a:ea typeface="Arial" pitchFamily="34" charset="-122"/>
                <a:cs typeface="Arial" pitchFamily="34" charset="-120"/>
                <a:hlinkClick r:id="rId9" invalidUrl="" action="" tgtFrame="" tooltip="" history="1" highlightClick="0" endSnd="0">
                  <a:extLst>
                    <a:ext uri="{A12FA001-AC4F-418D-AE19-62706E023703}">
                      <ahyp:hlinkClr xmlns:ahyp="http://schemas.microsoft.com/office/drawing/2018/hyperlinkcolor" val="tx"/>
                    </a:ext>
                  </a:extLst>
                </a:hlinkClick>
              </a:rPr>
              <a:t>Zaratiana et al., GLiNER, NAACL 2024 (2311.08526)</a:t>
            </a:r>
            <a:endParaRPr lang="en-US" sz="1200" dirty="0"/>
          </a:p>
          <a:p>
            <a:pPr marL="165100" indent="-165100">
              <a:lnSpc>
                <a:spcPct val="100000"/>
              </a:lnSpc>
              <a:buSzPct val="100000"/>
              <a:buChar char="▪"/>
            </a:pPr>
            <a:r>
              <a:rPr lang="en-US" sz="1200" u="sng" dirty="0">
                <a:solidFill>
                  <a:srgbClr val="1F4E79"/>
                </a:solidFill>
                <a:latin typeface="Arial" pitchFamily="34" charset="0"/>
                <a:ea typeface="Arial" pitchFamily="34" charset="-122"/>
                <a:cs typeface="Arial" pitchFamily="34" charset="-120"/>
                <a:hlinkClick r:id="rId10" invalidUrl="" action="" tgtFrame="" tooltip="" history="1" highlightClick="0" endSnd="0">
                  <a:extLst>
                    <a:ext uri="{A12FA001-AC4F-418D-AE19-62706E023703}">
                      <ahyp:hlinkClr xmlns:ahyp="http://schemas.microsoft.com/office/drawing/2018/hyperlinkcolor" val="tx"/>
                    </a:ext>
                  </a:extLst>
                </a:hlinkClick>
              </a:rPr>
              <a:t>ai4privacy pii-masking-300k, our detection benchmark</a:t>
            </a:r>
            <a:endParaRPr lang="en-US" sz="1200" dirty="0"/>
          </a:p>
        </p:txBody>
      </p:sp>
      <p:sp>
        <p:nvSpPr>
          <p:cNvPr id="19" name="Shape 16"/>
          <p:cNvSpPr/>
          <p:nvPr/>
        </p:nvSpPr>
        <p:spPr>
          <a:xfrm>
            <a:off x="6199632" y="2889504"/>
            <a:ext cx="5650992" cy="1481328"/>
          </a:xfrm>
          <a:prstGeom prst="rect">
            <a:avLst/>
          </a:prstGeom>
          <a:solidFill>
            <a:srgbClr val="FBE5E5"/>
          </a:solidFill>
          <a:ln w="19050">
            <a:solidFill>
              <a:srgbClr val="C00000"/>
            </a:solidFill>
            <a:prstDash val="solid"/>
          </a:ln>
        </p:spPr>
      </p:sp>
      <p:sp>
        <p:nvSpPr>
          <p:cNvPr id="20" name="Text 17"/>
          <p:cNvSpPr txBox="1"/>
          <p:nvPr/>
        </p:nvSpPr>
        <p:spPr>
          <a:xfrm>
            <a:off x="6327648" y="2935224"/>
            <a:ext cx="5394960" cy="292608"/>
          </a:xfrm>
          <a:prstGeom prst="rect">
            <a:avLst/>
          </a:prstGeom>
          <a:noFill/>
          <a:ln/>
        </p:spPr>
        <p:txBody>
          <a:bodyPr wrap="square" lIns="0" tIns="0" rIns="0" bIns="0" rtlCol="0" anchor="ctr"/>
          <a:lstStyle/>
          <a:p>
            <a:pPr indent="0" marL="0">
              <a:buNone/>
            </a:pPr>
            <a:r>
              <a:rPr lang="en-US" sz="1500" b="1" dirty="0">
                <a:solidFill>
                  <a:srgbClr val="C00000"/>
                </a:solidFill>
                <a:latin typeface="Arial" pitchFamily="34" charset="0"/>
                <a:ea typeface="Arial" pitchFamily="34" charset="-122"/>
                <a:cs typeface="Arial" pitchFamily="34" charset="-120"/>
              </a:rPr>
              <a:t>Why we black out instead of blurring</a:t>
            </a:r>
            <a:endParaRPr lang="en-US" sz="1500" dirty="0"/>
          </a:p>
        </p:txBody>
      </p:sp>
      <p:sp>
        <p:nvSpPr>
          <p:cNvPr id="21" name="Text 18"/>
          <p:cNvSpPr txBox="1"/>
          <p:nvPr/>
        </p:nvSpPr>
        <p:spPr>
          <a:xfrm>
            <a:off x="6318504" y="3236976"/>
            <a:ext cx="5431536" cy="1078992"/>
          </a:xfrm>
          <a:prstGeom prst="rect">
            <a:avLst/>
          </a:prstGeom>
          <a:noFill/>
          <a:ln/>
        </p:spPr>
        <p:txBody>
          <a:bodyPr wrap="square" lIns="0" tIns="0" rIns="0" bIns="0" rtlCol="0" anchor="t"/>
          <a:lstStyle/>
          <a:p>
            <a:pPr marL="165100" indent="-165100">
              <a:lnSpc>
                <a:spcPct val="100000"/>
              </a:lnSpc>
              <a:spcAft>
                <a:spcPts val="600"/>
              </a:spcAft>
              <a:buSzPct val="100000"/>
              <a:buChar char="▪"/>
            </a:pPr>
            <a:r>
              <a:rPr lang="en-US" sz="1200" u="sng" dirty="0">
                <a:solidFill>
                  <a:srgbClr val="1F4E79"/>
                </a:solidFill>
                <a:latin typeface="Arial" pitchFamily="34" charset="0"/>
                <a:ea typeface="Arial" pitchFamily="34" charset="-122"/>
                <a:cs typeface="Arial" pitchFamily="34" charset="-120"/>
                <a:hlinkClick r:id="rId11" invalidUrl="" action="" tgtFrame="" tooltip="" history="1" highlightClick="0" endSnd="0">
                  <a:extLst>
                    <a:ext uri="{A12FA001-AC4F-418D-AE19-62706E023703}">
                      <ahyp:hlinkClr xmlns:ahyp="http://schemas.microsoft.com/office/drawing/2018/hyperlinkcolor" val="tx"/>
                    </a:ext>
                  </a:extLst>
                </a:hlinkClick>
              </a:rPr>
              <a:t>McPherson et al., Defeating Image Obfuscation with Deep Learning</a:t>
            </a:r>
            <a:endParaRPr lang="en-US" sz="1200" dirty="0"/>
          </a:p>
          <a:p>
            <a:pPr marL="165100" indent="-165100">
              <a:lnSpc>
                <a:spcPct val="100000"/>
              </a:lnSpc>
              <a:spcAft>
                <a:spcPts val="600"/>
              </a:spcAft>
              <a:buSzPct val="100000"/>
              <a:buChar char="▪"/>
            </a:pPr>
            <a:r>
              <a:rPr lang="en-US" sz="1200" u="sng" dirty="0">
                <a:solidFill>
                  <a:srgbClr val="1F4E79"/>
                </a:solidFill>
                <a:latin typeface="Arial" pitchFamily="34" charset="0"/>
                <a:ea typeface="Arial" pitchFamily="34" charset="-122"/>
                <a:cs typeface="Arial" pitchFamily="34" charset="-120"/>
                <a:hlinkClick r:id="rId12" invalidUrl="" action="" tgtFrame="" tooltip="" history="1" highlightClick="0" endSnd="0">
                  <a:extLst>
                    <a:ext uri="{A12FA001-AC4F-418D-AE19-62706E023703}">
                      <ahyp:hlinkClr xmlns:ahyp="http://schemas.microsoft.com/office/drawing/2018/hyperlinkcolor" val="tx"/>
                    </a:ext>
                  </a:extLst>
                </a:hlinkClick>
              </a:rPr>
              <a:t>Bland et al., Glyph Positions Break PDF Text Redaction, PoPETs 2023</a:t>
            </a:r>
            <a:endParaRPr lang="en-US" sz="1200" dirty="0"/>
          </a:p>
          <a:p>
            <a:pPr marL="165100" indent="-165100">
              <a:lnSpc>
                <a:spcPct val="100000"/>
              </a:lnSpc>
              <a:buSzPct val="100000"/>
              <a:buChar char="▪"/>
            </a:pPr>
            <a:r>
              <a:rPr lang="en-US" sz="1200" u="sng" dirty="0">
                <a:solidFill>
                  <a:srgbClr val="1F4E79"/>
                </a:solidFill>
                <a:latin typeface="Arial" pitchFamily="34" charset="0"/>
                <a:ea typeface="Arial" pitchFamily="34" charset="-122"/>
                <a:cs typeface="Arial" pitchFamily="34" charset="-120"/>
                <a:hlinkClick r:id="rId13" invalidUrl="" action="" tgtFrame="" tooltip="" history="1" highlightClick="0" endSnd="0">
                  <a:extLst>
                    <a:ext uri="{A12FA001-AC4F-418D-AE19-62706E023703}">
                      <ahyp:hlinkClr xmlns:ahyp="http://schemas.microsoft.com/office/drawing/2018/hyperlinkcolor" val="tx"/>
                    </a:ext>
                  </a:extLst>
                </a:hlinkClick>
              </a:rPr>
              <a:t>Depix: recovery of plaintext from pixelated screenshots</a:t>
            </a:r>
            <a:endParaRPr lang="en-US" sz="1200" dirty="0"/>
          </a:p>
        </p:txBody>
      </p:sp>
      <p:sp>
        <p:nvSpPr>
          <p:cNvPr id="22" name="Shape 19"/>
          <p:cNvSpPr/>
          <p:nvPr/>
        </p:nvSpPr>
        <p:spPr>
          <a:xfrm>
            <a:off x="329184" y="4498848"/>
            <a:ext cx="5650992" cy="1481328"/>
          </a:xfrm>
          <a:prstGeom prst="rect">
            <a:avLst/>
          </a:prstGeom>
          <a:solidFill>
            <a:srgbClr val="FBE5E5"/>
          </a:solidFill>
          <a:ln w="19050">
            <a:solidFill>
              <a:srgbClr val="C00000"/>
            </a:solidFill>
            <a:prstDash val="solid"/>
          </a:ln>
        </p:spPr>
      </p:sp>
      <p:sp>
        <p:nvSpPr>
          <p:cNvPr id="23" name="Text 20"/>
          <p:cNvSpPr txBox="1"/>
          <p:nvPr/>
        </p:nvSpPr>
        <p:spPr>
          <a:xfrm>
            <a:off x="457200" y="4544568"/>
            <a:ext cx="5394960" cy="292608"/>
          </a:xfrm>
          <a:prstGeom prst="rect">
            <a:avLst/>
          </a:prstGeom>
          <a:noFill/>
          <a:ln/>
        </p:spPr>
        <p:txBody>
          <a:bodyPr wrap="square" lIns="0" tIns="0" rIns="0" bIns="0" rtlCol="0" anchor="ctr"/>
          <a:lstStyle/>
          <a:p>
            <a:pPr indent="0" marL="0">
              <a:buNone/>
            </a:pPr>
            <a:r>
              <a:rPr lang="en-US" sz="1500" b="1" dirty="0">
                <a:solidFill>
                  <a:srgbClr val="C00000"/>
                </a:solidFill>
                <a:latin typeface="Arial" pitchFamily="34" charset="0"/>
                <a:ea typeface="Arial" pitchFamily="34" charset="-122"/>
                <a:cs typeface="Arial" pitchFamily="34" charset="-120"/>
              </a:rPr>
              <a:t>Privacy-preserving model pipelines</a:t>
            </a:r>
            <a:endParaRPr lang="en-US" sz="1500" dirty="0"/>
          </a:p>
        </p:txBody>
      </p:sp>
      <p:sp>
        <p:nvSpPr>
          <p:cNvPr id="24" name="Text 21"/>
          <p:cNvSpPr txBox="1"/>
          <p:nvPr/>
        </p:nvSpPr>
        <p:spPr>
          <a:xfrm>
            <a:off x="448056" y="4846320"/>
            <a:ext cx="5431536" cy="1078992"/>
          </a:xfrm>
          <a:prstGeom prst="rect">
            <a:avLst/>
          </a:prstGeom>
          <a:noFill/>
          <a:ln/>
        </p:spPr>
        <p:txBody>
          <a:bodyPr wrap="square" lIns="0" tIns="0" rIns="0" bIns="0" rtlCol="0" anchor="t"/>
          <a:lstStyle/>
          <a:p>
            <a:pPr marL="165100" indent="-165100">
              <a:lnSpc>
                <a:spcPct val="100000"/>
              </a:lnSpc>
              <a:spcAft>
                <a:spcPts val="600"/>
              </a:spcAft>
              <a:buSzPct val="100000"/>
              <a:buChar char="▪"/>
            </a:pPr>
            <a:r>
              <a:rPr lang="en-US" sz="1200" u="sng" dirty="0">
                <a:solidFill>
                  <a:srgbClr val="1F4E79"/>
                </a:solidFill>
                <a:latin typeface="Arial" pitchFamily="34" charset="0"/>
                <a:ea typeface="Arial" pitchFamily="34" charset="-122"/>
                <a:cs typeface="Arial" pitchFamily="34" charset="-120"/>
                <a:hlinkClick r:id="rId14" invalidUrl="" action="" tgtFrame="" tooltip="" history="1" highlightClick="0" endSnd="0">
                  <a:extLst>
                    <a:ext uri="{A12FA001-AC4F-418D-AE19-62706E023703}">
                      <ahyp:hlinkClr xmlns:ahyp="http://schemas.microsoft.com/office/drawing/2018/hyperlinkcolor" val="tx"/>
                    </a:ext>
                  </a:extLst>
                </a:hlinkClick>
              </a:rPr>
              <a:t>Siyan et al., PAPILLON, NAACL 2025 (2410.17127)</a:t>
            </a:r>
            <a:endParaRPr lang="en-US" sz="1200" dirty="0"/>
          </a:p>
          <a:p>
            <a:pPr marL="165100" indent="-165100">
              <a:lnSpc>
                <a:spcPct val="100000"/>
              </a:lnSpc>
              <a:spcAft>
                <a:spcPts val="600"/>
              </a:spcAft>
              <a:buSzPct val="100000"/>
              <a:buChar char="▪"/>
            </a:pPr>
            <a:r>
              <a:rPr lang="en-US" sz="1200" u="sng" dirty="0">
                <a:solidFill>
                  <a:srgbClr val="1F4E79"/>
                </a:solidFill>
                <a:latin typeface="Arial" pitchFamily="34" charset="0"/>
                <a:ea typeface="Arial" pitchFamily="34" charset="-122"/>
                <a:cs typeface="Arial" pitchFamily="34" charset="-120"/>
                <a:hlinkClick r:id="rId15" invalidUrl="" action="" tgtFrame="" tooltip="" history="1" highlightClick="0" endSnd="0">
                  <a:extLst>
                    <a:ext uri="{A12FA001-AC4F-418D-AE19-62706E023703}">
                      <ahyp:hlinkClr xmlns:ahyp="http://schemas.microsoft.com/office/drawing/2018/hyperlinkcolor" val="tx"/>
                    </a:ext>
                  </a:extLst>
                </a:hlinkClick>
              </a:rPr>
              <a:t>Anonymization for Privacy-Preserving Mobile GUI Agents (2602.10139)</a:t>
            </a:r>
            <a:endParaRPr lang="en-US" sz="1200" dirty="0"/>
          </a:p>
          <a:p>
            <a:pPr marL="165100" indent="-165100">
              <a:lnSpc>
                <a:spcPct val="100000"/>
              </a:lnSpc>
              <a:buSzPct val="100000"/>
              <a:buChar char="▪"/>
            </a:pPr>
            <a:r>
              <a:rPr lang="en-US" sz="1200" u="sng" dirty="0">
                <a:solidFill>
                  <a:srgbClr val="1F4E79"/>
                </a:solidFill>
                <a:latin typeface="Arial" pitchFamily="34" charset="0"/>
                <a:ea typeface="Arial" pitchFamily="34" charset="-122"/>
                <a:cs typeface="Arial" pitchFamily="34" charset="-120"/>
                <a:hlinkClick r:id="rId16" invalidUrl="" action="" tgtFrame="" tooltip="" history="1" highlightClick="0" endSnd="0">
                  <a:extLst>
                    <a:ext uri="{A12FA001-AC4F-418D-AE19-62706E023703}">
                      <ahyp:hlinkClr xmlns:ahyp="http://schemas.microsoft.com/office/drawing/2018/hyperlinkcolor" val="tx"/>
                    </a:ext>
                  </a:extLst>
                </a:hlinkClick>
              </a:rPr>
              <a:t>Casper: on-device prompt sanitisation in a browser extension</a:t>
            </a:r>
            <a:endParaRPr lang="en-US" sz="1200" dirty="0"/>
          </a:p>
        </p:txBody>
      </p:sp>
      <p:sp>
        <p:nvSpPr>
          <p:cNvPr id="25" name="Shape 22"/>
          <p:cNvSpPr/>
          <p:nvPr/>
        </p:nvSpPr>
        <p:spPr>
          <a:xfrm>
            <a:off x="6199632" y="4498848"/>
            <a:ext cx="5650992" cy="1481328"/>
          </a:xfrm>
          <a:prstGeom prst="rect">
            <a:avLst/>
          </a:prstGeom>
          <a:solidFill>
            <a:srgbClr val="DEEBF7"/>
          </a:solidFill>
          <a:ln w="19050">
            <a:solidFill>
              <a:srgbClr val="1F4E79"/>
            </a:solidFill>
            <a:prstDash val="solid"/>
          </a:ln>
        </p:spPr>
      </p:sp>
      <p:sp>
        <p:nvSpPr>
          <p:cNvPr id="26" name="Text 23"/>
          <p:cNvSpPr txBox="1"/>
          <p:nvPr/>
        </p:nvSpPr>
        <p:spPr>
          <a:xfrm>
            <a:off x="6327648" y="4544568"/>
            <a:ext cx="5394960" cy="292608"/>
          </a:xfrm>
          <a:prstGeom prst="rect">
            <a:avLst/>
          </a:prstGeom>
          <a:noFill/>
          <a:ln/>
        </p:spPr>
        <p:txBody>
          <a:bodyPr wrap="square" lIns="0" tIns="0" rIns="0" bIns="0" rtlCol="0" anchor="ctr"/>
          <a:lstStyle/>
          <a:p>
            <a:pPr indent="0" marL="0">
              <a:buNone/>
            </a:pPr>
            <a:r>
              <a:rPr lang="en-US" sz="1500" b="1" dirty="0">
                <a:solidFill>
                  <a:srgbClr val="1F4E79"/>
                </a:solidFill>
                <a:latin typeface="Arial" pitchFamily="34" charset="0"/>
                <a:ea typeface="Arial" pitchFamily="34" charset="-122"/>
                <a:cs typeface="Arial" pitchFamily="34" charset="-120"/>
              </a:rPr>
              <a:t>Screen agents and routing</a:t>
            </a:r>
            <a:endParaRPr lang="en-US" sz="1500" dirty="0"/>
          </a:p>
        </p:txBody>
      </p:sp>
      <p:sp>
        <p:nvSpPr>
          <p:cNvPr id="27" name="Text 24"/>
          <p:cNvSpPr txBox="1"/>
          <p:nvPr/>
        </p:nvSpPr>
        <p:spPr>
          <a:xfrm>
            <a:off x="6318504" y="4846320"/>
            <a:ext cx="5431536" cy="1078992"/>
          </a:xfrm>
          <a:prstGeom prst="rect">
            <a:avLst/>
          </a:prstGeom>
          <a:noFill/>
          <a:ln/>
        </p:spPr>
        <p:txBody>
          <a:bodyPr wrap="square" lIns="0" tIns="0" rIns="0" bIns="0" rtlCol="0" anchor="t"/>
          <a:lstStyle/>
          <a:p>
            <a:pPr marL="165100" indent="-165100">
              <a:lnSpc>
                <a:spcPct val="100000"/>
              </a:lnSpc>
              <a:spcAft>
                <a:spcPts val="600"/>
              </a:spcAft>
              <a:buSzPct val="100000"/>
              <a:buChar char="▪"/>
            </a:pPr>
            <a:r>
              <a:rPr lang="en-US" sz="1200" u="sng" dirty="0">
                <a:solidFill>
                  <a:srgbClr val="1F4E79"/>
                </a:solidFill>
                <a:latin typeface="Arial" pitchFamily="34" charset="0"/>
                <a:ea typeface="Arial" pitchFamily="34" charset="-122"/>
                <a:cs typeface="Arial" pitchFamily="34" charset="-120"/>
                <a:hlinkClick r:id="rId17" invalidUrl="" action="" tgtFrame="" tooltip="" history="1" highlightClick="0" endSnd="0">
                  <a:extLst>
                    <a:ext uri="{A12FA001-AC4F-418D-AE19-62706E023703}">
                      <ahyp:hlinkClr xmlns:ahyp="http://schemas.microsoft.com/office/drawing/2018/hyperlinkcolor" val="tx"/>
                    </a:ext>
                  </a:extLst>
                </a:hlinkClick>
              </a:rPr>
              <a:t>Qwen2.5-VL-7B model card, Apache-2.0</a:t>
            </a:r>
            <a:endParaRPr lang="en-US" sz="1200" dirty="0"/>
          </a:p>
          <a:p>
            <a:pPr marL="165100" indent="-165100">
              <a:lnSpc>
                <a:spcPct val="100000"/>
              </a:lnSpc>
              <a:spcAft>
                <a:spcPts val="600"/>
              </a:spcAft>
              <a:buSzPct val="100000"/>
              <a:buChar char="▪"/>
            </a:pPr>
            <a:r>
              <a:rPr lang="en-US" sz="1200" u="sng" dirty="0">
                <a:solidFill>
                  <a:srgbClr val="1F4E79"/>
                </a:solidFill>
                <a:latin typeface="Arial" pitchFamily="34" charset="0"/>
                <a:ea typeface="Arial" pitchFamily="34" charset="-122"/>
                <a:cs typeface="Arial" pitchFamily="34" charset="-120"/>
                <a:hlinkClick r:id="rId18" invalidUrl="" action="" tgtFrame="" tooltip="" history="1" highlightClick="0" endSnd="0">
                  <a:extLst>
                    <a:ext uri="{A12FA001-AC4F-418D-AE19-62706E023703}">
                      <ahyp:hlinkClr xmlns:ahyp="http://schemas.microsoft.com/office/drawing/2018/hyperlinkcolor" val="tx"/>
                    </a:ext>
                  </a:extLst>
                </a:hlinkClick>
              </a:rPr>
              <a:t>Revisiting Observation Reduction for Web Agents (2604.01535)</a:t>
            </a:r>
            <a:endParaRPr lang="en-US" sz="1200" dirty="0"/>
          </a:p>
          <a:p>
            <a:pPr marL="165100" indent="-165100">
              <a:lnSpc>
                <a:spcPct val="100000"/>
              </a:lnSpc>
              <a:buSzPct val="100000"/>
              <a:buChar char="▪"/>
            </a:pPr>
            <a:r>
              <a:rPr lang="en-US" sz="1200" u="sng" dirty="0">
                <a:solidFill>
                  <a:srgbClr val="1F4E79"/>
                </a:solidFill>
                <a:latin typeface="Arial" pitchFamily="34" charset="0"/>
                <a:ea typeface="Arial" pitchFamily="34" charset="-122"/>
                <a:cs typeface="Arial" pitchFamily="34" charset="-120"/>
                <a:hlinkClick r:id="rId19" invalidUrl="" action="" tgtFrame="" tooltip="" history="1" highlightClick="0" endSnd="0">
                  <a:extLst>
                    <a:ext uri="{A12FA001-AC4F-418D-AE19-62706E023703}">
                      <ahyp:hlinkClr xmlns:ahyp="http://schemas.microsoft.com/office/drawing/2018/hyperlinkcolor" val="tx"/>
                    </a:ext>
                  </a:extLst>
                </a:hlinkClick>
              </a:rPr>
              <a:t>Brave, Unseeable prompt injections in screenshots</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SIH 2026 - SIH26171 - AuraVeil - presentation version</dc:title>
  <dc:subject>PptxGenJS Presentation</dc:subject>
  <dc:creator>Team Aura</dc:creator>
  <cp:lastModifiedBy>Team Aura</cp:lastModifiedBy>
  <cp:revision>1</cp:revision>
  <dcterms:created xsi:type="dcterms:W3CDTF">2026-08-30T15:40:58Z</dcterms:created>
  <dcterms:modified xsi:type="dcterms:W3CDTF">2026-08-30T15:40:58Z</dcterms:modified>
</cp:coreProperties>
</file>