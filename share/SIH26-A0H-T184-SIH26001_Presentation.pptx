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SIH26001 from the Ministry of Development of North Eastern Region. Team Aura. Our solution is called Lum, Khasi for hill. One line: radar tells us which slope is already moving, rainfall tells us which night it will fail, and the alert reaches the village even where there is no phone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clocks. The slow clock is radar interferometry: it tells us which slope is already moving. The fast clock is rainfall against a North East threshold: it tells us which night. Neither alone is enough, and the fusion is what removes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Free data in, two independent clocks, a fused and explained risk state, then dissemination that survives no signal. Stage six closes the loop and builds the dated inventory the region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weakness is that radar cannot catch a shallow rain-triggered failure. We say so first, because it is the reason the second clock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of the table is the North East today, right is what changes. The two photographs are what a landslide does at ground level. The four numbers close it: three operational districts nationwide and none here, one gauge per thousand square kilometres, six-day radar revisit, zero marginal cost per extra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is live. The three that matter most are the Parliament reply for the coverage figures, the GSI North East presentation for the gauge density, and Roul et al. for the North East rainfall threshold we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slideLayout" Target="../slideLayouts/slideLayout1.xml"/><Relationship Id="rId1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sih.gov.in/" TargetMode="External"/><Relationship Id="rId3" Type="http://schemas.openxmlformats.org/officeDocument/2006/relationships/hyperlink" Target="https://www.moes.gov.in/static/uploads/2025/08/d4aabb5c7a226df21f4b5b40d40d432d.pdf" TargetMode="External"/><Relationship Id="rId4" Type="http://schemas.openxmlformats.org/officeDocument/2006/relationships/hyperlink" Target="https://www.ndma.gov.in/sites/default/files/PDF/Landslide/Compendium-NLRMS.pdf" TargetMode="External"/><Relationship Id="rId5" Type="http://schemas.openxmlformats.org/officeDocument/2006/relationships/hyperlink" Target="https://mines.gov.in/admin/storage/ckeditor/9_1751275999.pdf" TargetMode="External"/><Relationship Id="rId6" Type="http://schemas.openxmlformats.org/officeDocument/2006/relationships/hyperlink" Target="https://bhusanket.gsi.gov.in/" TargetMode="External"/><Relationship Id="rId7" Type="http://schemas.openxmlformats.org/officeDocument/2006/relationships/hyperlink" Target="https://www.downtoearth.org.in/natural-disasters/stemming-the-landslide-heres-why-localised-early-warnings-in-india-still-an-uphill-battle" TargetMode="External"/><Relationship Id="rId8" Type="http://schemas.openxmlformats.org/officeDocument/2006/relationships/hyperlink" Target="https://www.downtoearth.org.in/natural-disasters/northeast-deluge-2025-nearly-600-landslides-in-mizoram-five-dead-hundreds-displaced-amid-unrelenting-rains" TargetMode="External"/><Relationship Id="rId9" Type="http://schemas.openxmlformats.org/officeDocument/2006/relationships/hyperlink" Target="https://link.springer.com/article/10.1007/s10346-025-02477-z" TargetMode="External"/><Relationship Id="rId10" Type="http://schemas.openxmlformats.org/officeDocument/2006/relationships/hyperlink" Target="https://www.sentinelassam.com/topheadlines/1841-villages-in-northeast-india-still-without-mobile-network-coverage-as-of-february-2026" TargetMode="External"/><Relationship Id="rId11" Type="http://schemas.openxmlformats.org/officeDocument/2006/relationships/hyperlink" Target="https://www.ias.ac.in/article/fulltext/jess/134/0097" TargetMode="External"/><Relationship Id="rId12" Type="http://schemas.openxmlformats.org/officeDocument/2006/relationships/hyperlink" Target="https://link.springer.com/article/10.1007/s10346-019-01244-1" TargetMode="External"/><Relationship Id="rId13" Type="http://schemas.openxmlformats.org/officeDocument/2006/relationships/hyperlink" Target="https://link.springer.com/article/10.1007/s10346-007-0112-1" TargetMode="External"/><Relationship Id="rId14" Type="http://schemas.openxmlformats.org/officeDocument/2006/relationships/hyperlink" Target="https://www.nature.com/articles/s41598-019-50792-y" TargetMode="External"/><Relationship Id="rId15" Type="http://schemas.openxmlformats.org/officeDocument/2006/relationships/hyperlink" Target="https://hyp3-docs.asf.alaska.edu/" TargetMode="External"/><Relationship Id="rId16" Type="http://schemas.openxmlformats.org/officeDocument/2006/relationships/hyperlink" Target="https://sentiwiki.copernicus.eu/web/s1-mission" TargetMode="External"/><Relationship Id="rId17" Type="http://schemas.openxmlformats.org/officeDocument/2006/relationships/hyperlink" Target="https://comet.nerc.ac.uk/comet-lics-portal/" TargetMode="External"/><Relationship Id="rId18" Type="http://schemas.openxmlformats.org/officeDocument/2006/relationships/hyperlink" Target="https://www.frontiersin.org/journals/earth-science/articles/10.3389/feart.2021.640043/full" TargetMode="External"/><Relationship Id="rId19" Type="http://schemas.openxmlformats.org/officeDocument/2006/relationships/hyperlink" Target="https://www.nature.com/articles/s41598-025-10464-6" TargetMode="External"/><Relationship Id="rId20" Type="http://schemas.openxmlformats.org/officeDocument/2006/relationships/hyperlink" Target="https://link.springer.com/article/10.1007/s10346-022-01998-1" TargetMode="External"/><Relationship Id="rId21" Type="http://schemas.openxmlformats.org/officeDocument/2006/relationships/hyperlink" Target="https://link.springer.com/article/10.1007/s41748-026-01036-3" TargetMode="External"/><Relationship Id="rId22" Type="http://schemas.openxmlformats.org/officeDocument/2006/relationships/hyperlink" Target="https://isprs-annals.copernicus.org/articles/X-G-2025/81/2025/" TargetMode="External"/><Relationship Id="rId23" Type="http://schemas.openxmlformats.org/officeDocument/2006/relationships/hyperlink" Target="https://www.earthdata.nasa.gov/data/catalog/ges-disc-gpm-3imergde-07" TargetMode="External"/><Relationship Id="rId24" Type="http://schemas.openxmlformats.org/officeDocument/2006/relationships/hyperlink" Target="https://smap.jpl.nasa.gov/data/" TargetMode="External"/><Relationship Id="rId25" Type="http://schemas.openxmlformats.org/officeDocument/2006/relationships/hyperlink" Target="https://bhoonidhi.nrsc.gov.in/" TargetMode="External"/><Relationship Id="rId26" Type="http://schemas.openxmlformats.org/officeDocument/2006/relationships/hyperlink" Target="https://www.isro.gov.in/Landslide_Atlas_India.html" TargetMode="External"/><Relationship Id="rId27" Type="http://schemas.openxmlformats.org/officeDocument/2006/relationships/hyperlink" Target="https://sachet.ndma.gov.in/" TargetMode="External"/><Relationship Id="rId28" Type="http://schemas.openxmlformats.org/officeDocument/2006/relationships/hyperlink" Target="https://sachet.ndma.gov.in/docs/Integration_Guide_For_Agencies.pdf" TargetMode="External"/><Relationship Id="rId29" Type="http://schemas.openxmlformats.org/officeDocument/2006/relationships/hyperlink" Target="https://link.springer.com/chapter/10.1007/978-3-319-53487-9_4" TargetMode="External"/><Relationship Id="rId30" Type="http://schemas.openxmlformats.org/officeDocument/2006/relationships/hyperlink" Target="https://www.mdpi.com/2411-9660/9/6/144" TargetMode="External"/><Relationship Id="rId31" Type="http://schemas.openxmlformats.org/officeDocument/2006/relationships/hyperlink" Target="https://sentinels.copernicus.eu/-/copernicus-dem-30-metre-dataset-now-freely-available" TargetMode="External"/><Relationship Id="rId32" Type="http://schemas.openxmlformats.org/officeDocument/2006/relationships/hyperlink" Target="https://commons.wikimedia.org/wiki/File:Landslide_o_the_way_from_guwahati_to_shilong.jpg" TargetMode="External"/><Relationship Id="rId33" Type="http://schemas.openxmlformats.org/officeDocument/2006/relationships/hyperlink" Target="https://commons.wikimedia.org/wiki/File:Landslide_in_Nagaland_01.jpg" TargetMode="External"/><Relationship Id="rId1" Type="http://schemas.openxmlformats.org/officeDocument/2006/relationships/image" Target="../media/image-6-1.png"/><Relationship Id="rId34" Type="http://schemas.openxmlformats.org/officeDocument/2006/relationships/slideLayout" Target="../slideLayouts/slideLayout1.xml"/><Relationship Id="rId3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Text 0"/>
          <p:cNvSpPr txBox="1"/>
          <p:nvPr/>
        </p:nvSpPr>
        <p:spPr>
          <a:xfrm>
            <a:off x="329184" y="201168"/>
            <a:ext cx="9144000" cy="777240"/>
          </a:xfrm>
          <a:prstGeom prst="rect">
            <a:avLst/>
          </a:prstGeom>
          <a:noFill/>
          <a:ln/>
        </p:spPr>
        <p:txBody>
          <a:bodyPr wrap="square" lIns="0" tIns="0" rIns="0" bIns="0" rtlCol="0" anchor="ctr"/>
          <a:lstStyle/>
          <a:p>
            <a:pPr indent="0" marL="0">
              <a:buNone/>
            </a:pPr>
            <a:r>
              <a:rPr lang="en-US" sz="3600" b="1" dirty="0">
                <a:solidFill>
                  <a:srgbClr val="1F4E79"/>
                </a:solidFill>
                <a:latin typeface="Times New Roman" pitchFamily="34" charset="0"/>
                <a:ea typeface="Times New Roman" pitchFamily="34" charset="-122"/>
                <a:cs typeface="Times New Roman" pitchFamily="34" charset="-120"/>
              </a:rPr>
              <a:t>SMART INDIA HACKATHON 2026</a:t>
            </a:r>
            <a:endParaRPr lang="en-US" sz="3600" dirty="0"/>
          </a:p>
        </p:txBody>
      </p:sp>
      <p:sp>
        <p:nvSpPr>
          <p:cNvPr id="4" name="Text 1"/>
          <p:cNvSpPr txBox="1"/>
          <p:nvPr/>
        </p:nvSpPr>
        <p:spPr>
          <a:xfrm>
            <a:off x="1490472" y="969264"/>
            <a:ext cx="4206240" cy="420624"/>
          </a:xfrm>
          <a:prstGeom prst="rect">
            <a:avLst/>
          </a:prstGeom>
          <a:noFill/>
          <a:ln/>
        </p:spPr>
        <p:txBody>
          <a:bodyPr wrap="square" lIns="0" tIns="0" rIns="0" bIns="0" rtlCol="0" anchor="ctr"/>
          <a:lstStyle/>
          <a:p>
            <a:pPr algn="ctr" indent="0" marL="0">
              <a:buNone/>
            </a:pPr>
            <a:r>
              <a:rPr lang="en-US" sz="2400" b="1" dirty="0">
                <a:solidFill>
                  <a:srgbClr val="000000"/>
                </a:solidFill>
                <a:latin typeface="Times New Roman" pitchFamily="34" charset="0"/>
                <a:ea typeface="Times New Roman" pitchFamily="34" charset="-122"/>
                <a:cs typeface="Times New Roman" pitchFamily="34" charset="-120"/>
              </a:rPr>
              <a:t>TITLE PAGE</a:t>
            </a:r>
            <a:endParaRPr lang="en-US" sz="2400" dirty="0"/>
          </a:p>
        </p:txBody>
      </p:sp>
      <p:pic>
        <p:nvPicPr>
          <p:cNvPr id="5" name="Image 1" descr="/home/claude/t26/sih_icon.png">    </p:cNvPr>
          <p:cNvPicPr>
            <a:picLocks noChangeAspect="1"/>
          </p:cNvPicPr>
          <p:nvPr/>
        </p:nvPicPr>
        <p:blipFill>
          <a:blip r:embed="rId2"/>
          <a:stretch>
            <a:fillRect/>
          </a:stretch>
        </p:blipFill>
        <p:spPr>
          <a:xfrm>
            <a:off x="8321040" y="1298448"/>
            <a:ext cx="2359152" cy="3273552"/>
          </a:xfrm>
          <a:prstGeom prst="rect">
            <a:avLst/>
          </a:prstGeom>
        </p:spPr>
      </p:pic>
      <p:sp>
        <p:nvSpPr>
          <p:cNvPr id="6" name="Text 2"/>
          <p:cNvSpPr txBox="1"/>
          <p:nvPr/>
        </p:nvSpPr>
        <p:spPr>
          <a:xfrm>
            <a:off x="502920" y="1572768"/>
            <a:ext cx="7406640" cy="402336"/>
          </a:xfrm>
          <a:prstGeom prst="rect">
            <a:avLst/>
          </a:prstGeom>
          <a:noFill/>
          <a:ln/>
        </p:spPr>
        <p:txBody>
          <a:bodyPr wrap="square" lIns="0" tIns="0" rIns="0" bIns="0" rtlCol="0" anchor="ctr"/>
          <a:lstStyle/>
          <a:p>
            <a:pPr marL="203200" indent="-203200">
              <a:buSzPct val="100000"/>
              <a:buChar char="•"/>
            </a:pPr>
            <a:r>
              <a:rPr lang="en-US" sz="1600" b="1" dirty="0">
                <a:solidFill>
                  <a:srgbClr val="000000"/>
                </a:solidFill>
                <a:latin typeface="Arial" pitchFamily="34" charset="0"/>
                <a:ea typeface="Arial" pitchFamily="34" charset="-122"/>
                <a:cs typeface="Arial" pitchFamily="34" charset="-120"/>
              </a:rPr>
              <a:t>Problem Statement ID - </a:t>
            </a:r>
            <a:pPr indent="0" marL="0">
              <a:buNone/>
            </a:pPr>
            <a:r>
              <a:rPr lang="en-US" sz="1600" dirty="0">
                <a:solidFill>
                  <a:srgbClr val="000000"/>
                </a:solidFill>
                <a:latin typeface="Arial" pitchFamily="34" charset="0"/>
                <a:ea typeface="Arial" pitchFamily="34" charset="-122"/>
                <a:cs typeface="Arial" pitchFamily="34" charset="-120"/>
              </a:rPr>
              <a:t>SIH26001</a:t>
            </a:r>
            <a:endParaRPr lang="en-US" sz="1600" dirty="0"/>
          </a:p>
        </p:txBody>
      </p:sp>
      <p:sp>
        <p:nvSpPr>
          <p:cNvPr id="7" name="Text 3"/>
          <p:cNvSpPr txBox="1"/>
          <p:nvPr/>
        </p:nvSpPr>
        <p:spPr>
          <a:xfrm>
            <a:off x="502920" y="2011680"/>
            <a:ext cx="7406640" cy="658368"/>
          </a:xfrm>
          <a:prstGeom prst="rect">
            <a:avLst/>
          </a:prstGeom>
          <a:noFill/>
          <a:ln/>
        </p:spPr>
        <p:txBody>
          <a:bodyPr wrap="square" lIns="0" tIns="0" rIns="0" bIns="0" rtlCol="0" anchor="ctr"/>
          <a:lstStyle/>
          <a:p>
            <a:pPr marL="203200" indent="-203200">
              <a:buSzPct val="100000"/>
              <a:buChar char="•"/>
            </a:pPr>
            <a:r>
              <a:rPr lang="en-US" sz="1600" b="1" dirty="0">
                <a:solidFill>
                  <a:srgbClr val="000000"/>
                </a:solidFill>
                <a:latin typeface="Arial" pitchFamily="34" charset="0"/>
                <a:ea typeface="Arial" pitchFamily="34" charset="-122"/>
                <a:cs typeface="Arial" pitchFamily="34" charset="-120"/>
              </a:rPr>
              <a:t>Problem Statement Title- </a:t>
            </a:r>
            <a:pPr indent="0" marL="0">
              <a:buNone/>
            </a:pPr>
            <a:r>
              <a:rPr lang="en-US" sz="1600" dirty="0">
                <a:solidFill>
                  <a:srgbClr val="000000"/>
                </a:solidFill>
                <a:latin typeface="Arial" pitchFamily="34" charset="0"/>
                <a:ea typeface="Arial" pitchFamily="34" charset="-122"/>
                <a:cs typeface="Arial" pitchFamily="34" charset="-120"/>
              </a:rPr>
              <a:t>AI-Based Early Warning and Landslide Risk Monitoring System in NER</a:t>
            </a:r>
            <a:endParaRPr lang="en-US" sz="1600" dirty="0"/>
          </a:p>
        </p:txBody>
      </p:sp>
      <p:sp>
        <p:nvSpPr>
          <p:cNvPr id="8" name="Text 4"/>
          <p:cNvSpPr txBox="1"/>
          <p:nvPr/>
        </p:nvSpPr>
        <p:spPr>
          <a:xfrm>
            <a:off x="502920" y="2670048"/>
            <a:ext cx="7406640" cy="402336"/>
          </a:xfrm>
          <a:prstGeom prst="rect">
            <a:avLst/>
          </a:prstGeom>
          <a:noFill/>
          <a:ln/>
        </p:spPr>
        <p:txBody>
          <a:bodyPr wrap="square" lIns="0" tIns="0" rIns="0" bIns="0" rtlCol="0" anchor="ctr"/>
          <a:lstStyle/>
          <a:p>
            <a:pPr marL="203200" indent="-203200">
              <a:buSzPct val="100000"/>
              <a:buChar char="•"/>
            </a:pPr>
            <a:r>
              <a:rPr lang="en-US" sz="1600" b="1" dirty="0">
                <a:solidFill>
                  <a:srgbClr val="000000"/>
                </a:solidFill>
                <a:latin typeface="Arial" pitchFamily="34" charset="0"/>
                <a:ea typeface="Arial" pitchFamily="34" charset="-122"/>
                <a:cs typeface="Arial" pitchFamily="34" charset="-120"/>
              </a:rPr>
              <a:t>Theme- </a:t>
            </a:r>
            <a:pPr indent="0" marL="0">
              <a:buNone/>
            </a:pPr>
            <a:r>
              <a:rPr lang="en-US" sz="1600" dirty="0">
                <a:solidFill>
                  <a:srgbClr val="000000"/>
                </a:solidFill>
                <a:latin typeface="Arial" pitchFamily="34" charset="0"/>
                <a:ea typeface="Arial" pitchFamily="34" charset="-122"/>
                <a:cs typeface="Arial" pitchFamily="34" charset="-120"/>
              </a:rPr>
              <a:t>Disaster Management</a:t>
            </a:r>
            <a:endParaRPr lang="en-US" sz="1600" dirty="0"/>
          </a:p>
        </p:txBody>
      </p:sp>
      <p:sp>
        <p:nvSpPr>
          <p:cNvPr id="9" name="Text 5"/>
          <p:cNvSpPr txBox="1"/>
          <p:nvPr/>
        </p:nvSpPr>
        <p:spPr>
          <a:xfrm>
            <a:off x="502920" y="3108960"/>
            <a:ext cx="7406640" cy="402336"/>
          </a:xfrm>
          <a:prstGeom prst="rect">
            <a:avLst/>
          </a:prstGeom>
          <a:noFill/>
          <a:ln/>
        </p:spPr>
        <p:txBody>
          <a:bodyPr wrap="square" lIns="0" tIns="0" rIns="0" bIns="0" rtlCol="0" anchor="ctr"/>
          <a:lstStyle/>
          <a:p>
            <a:pPr marL="203200" indent="-203200">
              <a:buSzPct val="100000"/>
              <a:buChar char="•"/>
            </a:pPr>
            <a:r>
              <a:rPr lang="en-US" sz="1600" b="1" dirty="0">
                <a:solidFill>
                  <a:srgbClr val="000000"/>
                </a:solidFill>
                <a:latin typeface="Arial" pitchFamily="34" charset="0"/>
                <a:ea typeface="Arial" pitchFamily="34" charset="-122"/>
                <a:cs typeface="Arial" pitchFamily="34" charset="-120"/>
              </a:rPr>
              <a:t>PS Category- </a:t>
            </a:r>
            <a:pPr indent="0" marL="0">
              <a:buNone/>
            </a:pPr>
            <a:r>
              <a:rPr lang="en-US" sz="1600" dirty="0">
                <a:solidFill>
                  <a:srgbClr val="000000"/>
                </a:solidFill>
                <a:latin typeface="Arial" pitchFamily="34" charset="0"/>
                <a:ea typeface="Arial" pitchFamily="34" charset="-122"/>
                <a:cs typeface="Arial" pitchFamily="34" charset="-120"/>
              </a:rPr>
              <a:t>Software</a:t>
            </a:r>
            <a:endParaRPr lang="en-US" sz="1600" dirty="0"/>
          </a:p>
        </p:txBody>
      </p:sp>
      <p:sp>
        <p:nvSpPr>
          <p:cNvPr id="10" name="Text 6"/>
          <p:cNvSpPr txBox="1"/>
          <p:nvPr/>
        </p:nvSpPr>
        <p:spPr>
          <a:xfrm>
            <a:off x="502920" y="3547872"/>
            <a:ext cx="7406640" cy="402336"/>
          </a:xfrm>
          <a:prstGeom prst="rect">
            <a:avLst/>
          </a:prstGeom>
          <a:noFill/>
          <a:ln/>
        </p:spPr>
        <p:txBody>
          <a:bodyPr wrap="square" lIns="0" tIns="0" rIns="0" bIns="0" rtlCol="0" anchor="ctr"/>
          <a:lstStyle/>
          <a:p>
            <a:pPr marL="203200" indent="-203200">
              <a:buSzPct val="100000"/>
              <a:buChar char="•"/>
            </a:pPr>
            <a:r>
              <a:rPr lang="en-US" sz="1600" b="1" dirty="0">
                <a:solidFill>
                  <a:srgbClr val="000000"/>
                </a:solidFill>
                <a:latin typeface="Arial" pitchFamily="34" charset="0"/>
                <a:ea typeface="Arial" pitchFamily="34" charset="-122"/>
                <a:cs typeface="Arial" pitchFamily="34" charset="-120"/>
              </a:rPr>
              <a:t>Team ID- </a:t>
            </a:r>
            <a:pPr indent="0" marL="0">
              <a:buNone/>
            </a:pPr>
            <a:r>
              <a:rPr lang="en-US" sz="1600" dirty="0">
                <a:solidFill>
                  <a:srgbClr val="000000"/>
                </a:solidFill>
                <a:latin typeface="Arial" pitchFamily="34" charset="0"/>
                <a:ea typeface="Arial" pitchFamily="34" charset="-122"/>
                <a:cs typeface="Arial" pitchFamily="34" charset="-120"/>
              </a:rPr>
              <a:t>SIH26-A0H-T184</a:t>
            </a:r>
            <a:endParaRPr lang="en-US" sz="1600" dirty="0"/>
          </a:p>
        </p:txBody>
      </p:sp>
      <p:sp>
        <p:nvSpPr>
          <p:cNvPr id="11" name="Text 7"/>
          <p:cNvSpPr txBox="1"/>
          <p:nvPr/>
        </p:nvSpPr>
        <p:spPr>
          <a:xfrm>
            <a:off x="502920" y="3986784"/>
            <a:ext cx="7406640" cy="402336"/>
          </a:xfrm>
          <a:prstGeom prst="rect">
            <a:avLst/>
          </a:prstGeom>
          <a:noFill/>
          <a:ln/>
        </p:spPr>
        <p:txBody>
          <a:bodyPr wrap="square" lIns="0" tIns="0" rIns="0" bIns="0" rtlCol="0" anchor="ctr"/>
          <a:lstStyle/>
          <a:p>
            <a:pPr marL="203200" indent="-203200">
              <a:buSzPct val="100000"/>
              <a:buChar char="•"/>
            </a:pPr>
            <a:r>
              <a:rPr lang="en-US" sz="1600" b="1" dirty="0">
                <a:solidFill>
                  <a:srgbClr val="000000"/>
                </a:solidFill>
                <a:latin typeface="Arial" pitchFamily="34" charset="0"/>
                <a:ea typeface="Arial" pitchFamily="34" charset="-122"/>
                <a:cs typeface="Arial" pitchFamily="34" charset="-120"/>
              </a:rPr>
              <a:t>Team Name (Registered on portal)- </a:t>
            </a:r>
            <a:pPr indent="0" marL="0">
              <a:buNone/>
            </a:pPr>
            <a:r>
              <a:rPr lang="en-US" sz="1600" dirty="0">
                <a:solidFill>
                  <a:srgbClr val="000000"/>
                </a:solidFill>
                <a:latin typeface="Arial" pitchFamily="34" charset="0"/>
                <a:ea typeface="Arial" pitchFamily="34" charset="-122"/>
                <a:cs typeface="Arial" pitchFamily="34" charset="-120"/>
              </a:rPr>
              <a:t>Aura</a:t>
            </a:r>
            <a:endParaRPr lang="en-US" sz="1600" dirty="0"/>
          </a:p>
        </p:txBody>
      </p:sp>
      <p:sp>
        <p:nvSpPr>
          <p:cNvPr id="12" name="Shape 8"/>
          <p:cNvSpPr/>
          <p:nvPr/>
        </p:nvSpPr>
        <p:spPr>
          <a:xfrm>
            <a:off x="329184" y="4590288"/>
            <a:ext cx="11521440" cy="1755648"/>
          </a:xfrm>
          <a:prstGeom prst="rect">
            <a:avLst/>
          </a:prstGeom>
          <a:solidFill>
            <a:srgbClr val="E2EFDA"/>
          </a:solidFill>
          <a:ln w="15875">
            <a:solidFill>
              <a:srgbClr val="548235"/>
            </a:solidFill>
            <a:prstDash val="solid"/>
          </a:ln>
        </p:spPr>
      </p:sp>
      <p:sp>
        <p:nvSpPr>
          <p:cNvPr id="13" name="Text 9"/>
          <p:cNvSpPr txBox="1"/>
          <p:nvPr/>
        </p:nvSpPr>
        <p:spPr>
          <a:xfrm>
            <a:off x="502920" y="4700016"/>
            <a:ext cx="11155680" cy="384048"/>
          </a:xfrm>
          <a:prstGeom prst="rect">
            <a:avLst/>
          </a:prstGeom>
          <a:noFill/>
          <a:ln/>
        </p:spPr>
        <p:txBody>
          <a:bodyPr wrap="square" lIns="0" tIns="0" rIns="0" bIns="0" rtlCol="0" anchor="ctr"/>
          <a:lstStyle/>
          <a:p>
            <a:pPr indent="0" marL="0">
              <a:buNone/>
            </a:pPr>
            <a:r>
              <a:rPr lang="en-US" sz="2600" b="1" dirty="0">
                <a:solidFill>
                  <a:srgbClr val="548235"/>
                </a:solidFill>
                <a:latin typeface="Times New Roman" pitchFamily="34" charset="0"/>
                <a:ea typeface="Times New Roman" pitchFamily="34" charset="-122"/>
                <a:cs typeface="Times New Roman" pitchFamily="34" charset="-120"/>
              </a:rPr>
              <a:t>Lum</a:t>
            </a:r>
            <a:pPr indent="0" marL="0">
              <a:buNone/>
            </a:pPr>
            <a:r>
              <a:rPr lang="en-US" sz="1400" i="1" dirty="0">
                <a:solidFill>
                  <a:srgbClr val="404040"/>
                </a:solidFill>
                <a:latin typeface="Arial" pitchFamily="34" charset="0"/>
                <a:ea typeface="Arial" pitchFamily="34" charset="-122"/>
                <a:cs typeface="Arial" pitchFamily="34" charset="-120"/>
              </a:rPr>
              <a:t>   Khasi for 'hill'.   Two clocks on every slope in the North East.</a:t>
            </a:r>
            <a:endParaRPr lang="en-US" sz="2600" dirty="0"/>
          </a:p>
        </p:txBody>
      </p:sp>
      <p:sp>
        <p:nvSpPr>
          <p:cNvPr id="14" name="Text 10"/>
          <p:cNvSpPr txBox="1"/>
          <p:nvPr/>
        </p:nvSpPr>
        <p:spPr>
          <a:xfrm>
            <a:off x="502920" y="5138928"/>
            <a:ext cx="11155680" cy="1097280"/>
          </a:xfrm>
          <a:prstGeom prst="rect">
            <a:avLst/>
          </a:prstGeom>
          <a:noFill/>
          <a:ln/>
        </p:spPr>
        <p:txBody>
          <a:bodyPr wrap="square" lIns="0" tIns="0" rIns="0" bIns="0" rtlCol="0" anchor="t"/>
          <a:lstStyle/>
          <a:p>
            <a:pPr indent="0" marL="0">
              <a:lnSpc>
                <a:spcPct val="102000"/>
              </a:lnSpc>
              <a:buNone/>
            </a:pPr>
            <a:r>
              <a:rPr lang="en-US" sz="1300" b="1" dirty="0">
                <a:solidFill>
                  <a:srgbClr val="000000"/>
                </a:solidFill>
                <a:latin typeface="Arial" pitchFamily="34" charset="0"/>
                <a:ea typeface="Arial" pitchFamily="34" charset="-122"/>
                <a:cs typeface="Arial" pitchFamily="34" charset="-120"/>
              </a:rPr>
              <a:t>A slow clock reads ground movement from radar that images every slope in the region every six days. </a:t>
            </a:r>
            <a:pPr indent="0" marL="0">
              <a:lnSpc>
                <a:spcPct val="102000"/>
              </a:lnSpc>
              <a:buNone/>
            </a:pPr>
            <a:r>
              <a:rPr lang="en-US" sz="1300" dirty="0">
                <a:solidFill>
                  <a:srgbClr val="000000"/>
                </a:solidFill>
                <a:latin typeface="Arial" pitchFamily="34" charset="0"/>
                <a:ea typeface="Arial" pitchFamily="34" charset="-122"/>
                <a:cs typeface="Arial" pitchFamily="34" charset="-120"/>
              </a:rPr>
              <a:t>A fast clock reads rainfall against a threshold fitted to the North East. A slope already creeping </a:t>
            </a:r>
            <a:pPr indent="0" marL="0">
              <a:lnSpc>
                <a:spcPct val="102000"/>
              </a:lnSpc>
              <a:buNone/>
            </a:pPr>
            <a:r>
              <a:rPr lang="en-US" sz="1300" b="1" i="1" dirty="0">
                <a:solidFill>
                  <a:srgbClr val="000000"/>
                </a:solidFill>
                <a:latin typeface="Arial" pitchFamily="34" charset="0"/>
                <a:ea typeface="Arial" pitchFamily="34" charset="-122"/>
                <a:cs typeface="Arial" pitchFamily="34" charset="-120"/>
              </a:rPr>
              <a:t>and</a:t>
            </a:r>
            <a:pPr indent="0" marL="0">
              <a:lnSpc>
                <a:spcPct val="102000"/>
              </a:lnSpc>
              <a:buNone/>
            </a:pPr>
            <a:r>
              <a:rPr lang="en-US" sz="1300" dirty="0">
                <a:solidFill>
                  <a:srgbClr val="000000"/>
                </a:solidFill>
                <a:latin typeface="Arial" pitchFamily="34" charset="0"/>
                <a:ea typeface="Arial" pitchFamily="34" charset="-122"/>
                <a:cs typeface="Arial" pitchFamily="34" charset="-120"/>
              </a:rPr>
              <a:t> about to be rained on is an evacuation; rain alone on stable ground is only a watch.</a:t>
            </a:r>
            <a:endParaRPr lang="en-US" sz="1300" dirty="0"/>
          </a:p>
          <a:p>
            <a:pPr indent="0" marL="0">
              <a:lnSpc>
                <a:spcPct val="102000"/>
              </a:lnSpc>
              <a:buNone/>
            </a:pPr>
            <a:r>
              <a:rPr lang="en-US" sz="1300" dirty="0">
                <a:solidFill>
                  <a:srgbClr val="000000"/>
                </a:solidFill>
                <a:latin typeface="Arial" pitchFamily="34" charset="0"/>
                <a:ea typeface="Arial" pitchFamily="34" charset="-122"/>
                <a:cs typeface="Arial" pitchFamily="34" charset="-120"/>
              </a:rPr>
              <a:t>Every alert carries its reasons, and reaches the village by broadcast, by voice, or by a siren that needs no mobile network.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Shape 0"/>
          <p:cNvSpPr/>
          <p:nvPr/>
        </p:nvSpPr>
        <p:spPr>
          <a:xfrm>
            <a:off x="0" y="6355080"/>
            <a:ext cx="12188952" cy="502920"/>
          </a:xfrm>
          <a:prstGeom prst="rect">
            <a:avLst/>
          </a:prstGeom>
          <a:solidFill>
            <a:srgbClr val="0070C0"/>
          </a:solidFill>
          <a:ln w="12700">
            <a:solidFill>
              <a:srgbClr val="0070C0"/>
            </a:solidFill>
            <a:prstDash val="solid"/>
          </a:ln>
        </p:spPr>
      </p:sp>
      <p:sp>
        <p:nvSpPr>
          <p:cNvPr id="4" name="Text 1"/>
          <p:cNvSpPr txBox="1"/>
          <p:nvPr/>
        </p:nvSpPr>
        <p:spPr>
          <a:xfrm>
            <a:off x="4645152" y="6355080"/>
            <a:ext cx="32004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@SIH Idea submission- Template</a:t>
            </a:r>
            <a:endParaRPr lang="en-US" sz="1200" dirty="0"/>
          </a:p>
        </p:txBody>
      </p:sp>
      <p:sp>
        <p:nvSpPr>
          <p:cNvPr id="5" name="Text 2"/>
          <p:cNvSpPr txBox="1"/>
          <p:nvPr/>
        </p:nvSpPr>
        <p:spPr>
          <a:xfrm>
            <a:off x="10607040" y="6355080"/>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 name="Shape 3"/>
          <p:cNvSpPr/>
          <p:nvPr/>
        </p:nvSpPr>
        <p:spPr>
          <a:xfrm>
            <a:off x="292608" y="91440"/>
            <a:ext cx="1060704" cy="713232"/>
          </a:xfrm>
          <a:prstGeom prst="ellipse">
            <a:avLst/>
          </a:prstGeom>
          <a:solidFill>
            <a:srgbClr val="FFFFFF"/>
          </a:solidFill>
          <a:ln w="15875">
            <a:solidFill>
              <a:srgbClr val="8064A2"/>
            </a:solidFill>
            <a:prstDash val="solid"/>
          </a:ln>
        </p:spPr>
      </p:sp>
      <p:sp>
        <p:nvSpPr>
          <p:cNvPr id="7" name="Text 4"/>
          <p:cNvSpPr txBox="1"/>
          <p:nvPr/>
        </p:nvSpPr>
        <p:spPr>
          <a:xfrm>
            <a:off x="292608" y="91440"/>
            <a:ext cx="1060704" cy="713232"/>
          </a:xfrm>
          <a:prstGeom prst="rect">
            <a:avLst/>
          </a:prstGeom>
          <a:noFill/>
          <a:ln/>
        </p:spPr>
        <p:txBody>
          <a:bodyPr wrap="square" lIns="0" tIns="0" rIns="0" bIns="0" rtlCol="0" anchor="ctr"/>
          <a:lstStyle/>
          <a:p>
            <a:pPr algn="ctr" indent="0" marL="0">
              <a:buNone/>
            </a:pPr>
            <a:r>
              <a:rPr lang="en-US" sz="1300" dirty="0">
                <a:solidFill>
                  <a:srgbClr val="000000"/>
                </a:solidFill>
                <a:latin typeface="Arial" pitchFamily="34" charset="0"/>
                <a:ea typeface="Arial" pitchFamily="34" charset="-122"/>
                <a:cs typeface="Arial" pitchFamily="34" charset="-120"/>
              </a:rPr>
              <a:t>Aura</a:t>
            </a:r>
            <a:endParaRPr lang="en-US" sz="1300" dirty="0"/>
          </a:p>
        </p:txBody>
      </p:sp>
      <p:sp>
        <p:nvSpPr>
          <p:cNvPr id="8" name="Text 5"/>
          <p:cNvSpPr txBox="1"/>
          <p:nvPr/>
        </p:nvSpPr>
        <p:spPr>
          <a:xfrm>
            <a:off x="1463040" y="54864"/>
            <a:ext cx="8229600" cy="749808"/>
          </a:xfrm>
          <a:prstGeom prst="rect">
            <a:avLst/>
          </a:prstGeom>
          <a:noFill/>
          <a:ln/>
        </p:spPr>
        <p:txBody>
          <a:bodyPr wrap="square" lIns="0" tIns="0" rIns="0" bIns="0" rtlCol="0" anchor="ctr"/>
          <a:lstStyle/>
          <a:p>
            <a:pPr algn="ctr" indent="0" marL="0">
              <a:buNone/>
            </a:pPr>
            <a:r>
              <a:rPr lang="en-US" sz="2300" b="1" dirty="0">
                <a:solidFill>
                  <a:srgbClr val="000000"/>
                </a:solidFill>
                <a:latin typeface="Times New Roman" pitchFamily="34" charset="0"/>
                <a:ea typeface="Times New Roman" pitchFamily="34" charset="-122"/>
                <a:cs typeface="Times New Roman" pitchFamily="34" charset="-120"/>
              </a:rPr>
              <a:t>Lum: Watching the Slope Before the Rain Arrives</a:t>
            </a:r>
            <a:endParaRPr lang="en-US" sz="2300" dirty="0"/>
          </a:p>
        </p:txBody>
      </p:sp>
      <p:sp>
        <p:nvSpPr>
          <p:cNvPr id="9" name="Text 6"/>
          <p:cNvSpPr txBox="1"/>
          <p:nvPr/>
        </p:nvSpPr>
        <p:spPr>
          <a:xfrm>
            <a:off x="256032" y="896112"/>
            <a:ext cx="5669280" cy="274320"/>
          </a:xfrm>
          <a:prstGeom prst="rect">
            <a:avLst/>
          </a:prstGeom>
          <a:noFill/>
          <a:ln/>
        </p:spPr>
        <p:txBody>
          <a:bodyPr wrap="square" lIns="0" tIns="0" rIns="0" bIns="0" rtlCol="0" anchor="ctr"/>
          <a:lstStyle/>
          <a:p>
            <a:pPr indent="0" marL="0">
              <a:buNone/>
            </a:pPr>
            <a:r>
              <a:rPr lang="en-US" sz="1300" b="1" u="sng" dirty="0">
                <a:solidFill>
                  <a:srgbClr val="1F4E79"/>
                </a:solidFill>
                <a:latin typeface="Arial" pitchFamily="34" charset="0"/>
                <a:ea typeface="Arial" pitchFamily="34" charset="-122"/>
                <a:cs typeface="Arial" pitchFamily="34" charset="-120"/>
              </a:rPr>
              <a:t>◆  Proposed Solution (Describe your Idea/Solution/Prototype)</a:t>
            </a:r>
            <a:endParaRPr lang="en-US" sz="1300" dirty="0"/>
          </a:p>
        </p:txBody>
      </p:sp>
      <p:sp>
        <p:nvSpPr>
          <p:cNvPr id="10" name="Text 7"/>
          <p:cNvSpPr txBox="1"/>
          <p:nvPr/>
        </p:nvSpPr>
        <p:spPr>
          <a:xfrm>
            <a:off x="6126480" y="896112"/>
            <a:ext cx="5806440" cy="274320"/>
          </a:xfrm>
          <a:prstGeom prst="rect">
            <a:avLst/>
          </a:prstGeom>
          <a:noFill/>
          <a:ln/>
        </p:spPr>
        <p:txBody>
          <a:bodyPr wrap="square" lIns="0" tIns="0" rIns="0" bIns="0" rtlCol="0" anchor="ctr"/>
          <a:lstStyle/>
          <a:p>
            <a:pPr indent="0" marL="0">
              <a:buNone/>
            </a:pPr>
            <a:r>
              <a:rPr lang="en-US" sz="1300" b="1" u="sng" dirty="0">
                <a:solidFill>
                  <a:srgbClr val="1F4E79"/>
                </a:solidFill>
                <a:latin typeface="Arial" pitchFamily="34" charset="0"/>
                <a:ea typeface="Arial" pitchFamily="34" charset="-122"/>
                <a:cs typeface="Arial" pitchFamily="34" charset="-120"/>
              </a:rPr>
              <a:t>◆  How it addresses the problem</a:t>
            </a:r>
            <a:endParaRPr lang="en-US" sz="1300" dirty="0"/>
          </a:p>
        </p:txBody>
      </p:sp>
      <p:sp>
        <p:nvSpPr>
          <p:cNvPr id="11" name="Text 8"/>
          <p:cNvSpPr txBox="1"/>
          <p:nvPr/>
        </p:nvSpPr>
        <p:spPr>
          <a:xfrm>
            <a:off x="310896" y="1243584"/>
            <a:ext cx="5577840" cy="1700784"/>
          </a:xfrm>
          <a:prstGeom prst="rect">
            <a:avLst/>
          </a:prstGeom>
          <a:noFill/>
          <a:ln/>
        </p:spPr>
        <p:txBody>
          <a:bodyPr wrap="square" lIns="0" tIns="0" rIns="0" bIns="0" rtlCol="0" anchor="t"/>
          <a:lstStyle/>
          <a:p>
            <a:pPr indent="0" marL="0">
              <a:buNone/>
            </a:pPr>
            <a:r>
              <a:rPr lang="en-US" sz="1400" b="1" dirty="0">
                <a:solidFill>
                  <a:srgbClr val="0070C0"/>
                </a:solidFill>
                <a:latin typeface="Arial" pitchFamily="34" charset="0"/>
                <a:ea typeface="Arial" pitchFamily="34" charset="-122"/>
                <a:cs typeface="Arial" pitchFamily="34" charset="-120"/>
              </a:rPr>
              <a:t>1   </a:t>
            </a:r>
            <a:pPr indent="0" marL="0">
              <a:spcAft>
                <a:spcPts val="700"/>
              </a:spcAft>
              <a:buNone/>
            </a:pPr>
            <a:r>
              <a:rPr lang="en-US" sz="1350" dirty="0">
                <a:solidFill>
                  <a:srgbClr val="000000"/>
                </a:solidFill>
                <a:latin typeface="Arial" pitchFamily="34" charset="0"/>
                <a:ea typeface="Arial" pitchFamily="34" charset="-122"/>
                <a:cs typeface="Arial" pitchFamily="34" charset="-120"/>
              </a:rPr>
              <a:t>Radar images every slope, every six days, free.</a:t>
            </a:r>
            <a:endParaRPr lang="en-US" sz="1350" dirty="0"/>
          </a:p>
          <a:p>
            <a:pPr indent="0" marL="0">
              <a:buNone/>
            </a:pPr>
            <a:r>
              <a:rPr lang="en-US" sz="1400" b="1" dirty="0">
                <a:solidFill>
                  <a:srgbClr val="0070C0"/>
                </a:solidFill>
                <a:latin typeface="Arial" pitchFamily="34" charset="0"/>
                <a:ea typeface="Arial" pitchFamily="34" charset="-122"/>
                <a:cs typeface="Arial" pitchFamily="34" charset="-120"/>
              </a:rPr>
              <a:t>2   </a:t>
            </a:r>
            <a:pPr indent="0" marL="0">
              <a:spcAft>
                <a:spcPts val="700"/>
              </a:spcAft>
              <a:buNone/>
            </a:pPr>
            <a:r>
              <a:rPr lang="en-US" sz="1350" dirty="0">
                <a:solidFill>
                  <a:srgbClr val="000000"/>
                </a:solidFill>
                <a:latin typeface="Arial" pitchFamily="34" charset="0"/>
                <a:ea typeface="Arial" pitchFamily="34" charset="-122"/>
                <a:cs typeface="Arial" pitchFamily="34" charset="-120"/>
              </a:rPr>
              <a:t>Interferometry finds slopes already creeping, months ahead.</a:t>
            </a:r>
            <a:endParaRPr lang="en-US" sz="1350" dirty="0"/>
          </a:p>
          <a:p>
            <a:pPr indent="0" marL="0">
              <a:buNone/>
            </a:pPr>
            <a:r>
              <a:rPr lang="en-US" sz="1400" b="1" dirty="0">
                <a:solidFill>
                  <a:srgbClr val="0070C0"/>
                </a:solidFill>
                <a:latin typeface="Arial" pitchFamily="34" charset="0"/>
                <a:ea typeface="Arial" pitchFamily="34" charset="-122"/>
                <a:cs typeface="Arial" pitchFamily="34" charset="-120"/>
              </a:rPr>
              <a:t>3   </a:t>
            </a:r>
            <a:pPr indent="0" marL="0">
              <a:spcAft>
                <a:spcPts val="700"/>
              </a:spcAft>
              <a:buNone/>
            </a:pPr>
            <a:r>
              <a:rPr lang="en-US" sz="1350" dirty="0">
                <a:solidFill>
                  <a:srgbClr val="000000"/>
                </a:solidFill>
                <a:latin typeface="Arial" pitchFamily="34" charset="0"/>
                <a:ea typeface="Arial" pitchFamily="34" charset="-122"/>
                <a:cs typeface="Arial" pitchFamily="34" charset="-120"/>
              </a:rPr>
              <a:t>Rain and soil wetness meet a North East threshold.</a:t>
            </a:r>
            <a:endParaRPr lang="en-US" sz="1350" dirty="0"/>
          </a:p>
          <a:p>
            <a:pPr indent="0" marL="0">
              <a:buNone/>
            </a:pPr>
            <a:r>
              <a:rPr lang="en-US" sz="1400" b="1" dirty="0">
                <a:solidFill>
                  <a:srgbClr val="0070C0"/>
                </a:solidFill>
                <a:latin typeface="Arial" pitchFamily="34" charset="0"/>
                <a:ea typeface="Arial" pitchFamily="34" charset="-122"/>
                <a:cs typeface="Arial" pitchFamily="34" charset="-120"/>
              </a:rPr>
              <a:t>4   </a:t>
            </a:r>
            <a:pPr indent="0" marL="0">
              <a:spcAft>
                <a:spcPts val="700"/>
              </a:spcAft>
              <a:buNone/>
            </a:pPr>
            <a:r>
              <a:rPr lang="en-US" sz="1350" dirty="0">
                <a:solidFill>
                  <a:srgbClr val="000000"/>
                </a:solidFill>
                <a:latin typeface="Arial" pitchFamily="34" charset="0"/>
                <a:ea typeface="Arial" pitchFamily="34" charset="-122"/>
                <a:cs typeface="Arial" pitchFamily="34" charset="-120"/>
              </a:rPr>
              <a:t>Both fuse into one risk state per village, with reasons.</a:t>
            </a:r>
            <a:endParaRPr lang="en-US" sz="1350" dirty="0"/>
          </a:p>
          <a:p>
            <a:pPr indent="0" marL="0">
              <a:buNone/>
            </a:pPr>
            <a:r>
              <a:rPr lang="en-US" sz="1400" b="1" dirty="0">
                <a:solidFill>
                  <a:srgbClr val="0070C0"/>
                </a:solidFill>
                <a:latin typeface="Arial" pitchFamily="34" charset="0"/>
                <a:ea typeface="Arial" pitchFamily="34" charset="-122"/>
                <a:cs typeface="Arial" pitchFamily="34" charset="-120"/>
              </a:rPr>
              <a:t>5   </a:t>
            </a:r>
            <a:pPr indent="0" marL="0">
              <a:spcAft>
                <a:spcPts val="700"/>
              </a:spcAft>
              <a:buNone/>
            </a:pPr>
            <a:r>
              <a:rPr lang="en-US" sz="1350" dirty="0">
                <a:solidFill>
                  <a:srgbClr val="000000"/>
                </a:solidFill>
                <a:latin typeface="Arial" pitchFamily="34" charset="0"/>
                <a:ea typeface="Arial" pitchFamily="34" charset="-122"/>
                <a:cs typeface="Arial" pitchFamily="34" charset="-120"/>
              </a:rPr>
              <a:t>Alerts go by broadcast, SMS, voice and LoRa siren.</a:t>
            </a:r>
            <a:endParaRPr lang="en-US" sz="1350" dirty="0"/>
          </a:p>
          <a:p>
            <a:pPr indent="0" marL="0">
              <a:buNone/>
            </a:pPr>
            <a:r>
              <a:rPr lang="en-US" sz="1400" b="1" dirty="0">
                <a:solidFill>
                  <a:srgbClr val="0070C0"/>
                </a:solidFill>
                <a:latin typeface="Arial" pitchFamily="34" charset="0"/>
                <a:ea typeface="Arial" pitchFamily="34" charset="-122"/>
                <a:cs typeface="Arial" pitchFamily="34" charset="-120"/>
              </a:rPr>
              <a:t>6   </a:t>
            </a:r>
            <a:pPr indent="0" marL="0">
              <a:buNone/>
            </a:pPr>
            <a:r>
              <a:rPr lang="en-US" sz="1350" dirty="0">
                <a:solidFill>
                  <a:srgbClr val="000000"/>
                </a:solidFill>
                <a:latin typeface="Arial" pitchFamily="34" charset="0"/>
                <a:ea typeface="Arial" pitchFamily="34" charset="-122"/>
                <a:cs typeface="Arial" pitchFamily="34" charset="-120"/>
              </a:rPr>
              <a:t>Field reports and nodes return, and retrain both clocks.</a:t>
            </a:r>
            <a:endParaRPr lang="en-US" sz="1350" dirty="0"/>
          </a:p>
        </p:txBody>
      </p:sp>
      <p:sp>
        <p:nvSpPr>
          <p:cNvPr id="12" name="Text 9"/>
          <p:cNvSpPr txBox="1"/>
          <p:nvPr/>
        </p:nvSpPr>
        <p:spPr>
          <a:xfrm>
            <a:off x="6181344" y="1207008"/>
            <a:ext cx="5751576" cy="859536"/>
          </a:xfrm>
          <a:prstGeom prst="rect">
            <a:avLst/>
          </a:prstGeom>
          <a:noFill/>
          <a:ln/>
        </p:spPr>
        <p:txBody>
          <a:bodyPr wrap="square" lIns="0" tIns="0" rIns="0" bIns="0" rtlCol="0" anchor="t"/>
          <a:lstStyle/>
          <a:p>
            <a:pPr indent="0" marL="0">
              <a:lnSpc>
                <a:spcPct val="102000"/>
              </a:lnSpc>
              <a:buNone/>
            </a:pPr>
            <a:r>
              <a:rPr lang="en-US" sz="1300" b="1" dirty="0">
                <a:solidFill>
                  <a:srgbClr val="000000"/>
                </a:solidFill>
                <a:latin typeface="Arial" pitchFamily="34" charset="0"/>
                <a:ea typeface="Arial" pitchFamily="34" charset="-122"/>
                <a:cs typeface="Arial" pitchFamily="34" charset="-120"/>
              </a:rPr>
              <a:t>Forecast skill is not the bottleneck. </a:t>
            </a:r>
            <a:pPr indent="0" marL="0">
              <a:lnSpc>
                <a:spcPct val="102000"/>
              </a:lnSpc>
              <a:spcAft>
                <a:spcPts val="700"/>
              </a:spcAft>
              <a:buNone/>
            </a:pPr>
            <a:r>
              <a:rPr lang="en-US" sz="1300" dirty="0">
                <a:solidFill>
                  <a:srgbClr val="000000"/>
                </a:solidFill>
                <a:latin typeface="Arial" pitchFamily="34" charset="0"/>
                <a:ea typeface="Arial" pitchFamily="34" charset="-122"/>
                <a:cs typeface="Arial" pitchFamily="34" charset="-120"/>
              </a:rPr>
              <a:t>A correct bulletin went out hours before the Darjeeling landslides of 4 October 2025. Twenty-four people still died.</a:t>
            </a:r>
            <a:endParaRPr lang="en-US" sz="1300" dirty="0"/>
          </a:p>
          <a:p>
            <a:pPr indent="0" marL="0">
              <a:lnSpc>
                <a:spcPct val="102000"/>
              </a:lnSpc>
              <a:buNone/>
            </a:pPr>
            <a:r>
              <a:rPr lang="en-US" sz="1300" dirty="0">
                <a:solidFill>
                  <a:srgbClr val="000000"/>
                </a:solidFill>
                <a:latin typeface="Arial" pitchFamily="34" charset="0"/>
                <a:ea typeface="Arial" pitchFamily="34" charset="-122"/>
                <a:cs typeface="Arial" pitchFamily="34" charset="-120"/>
              </a:rPr>
              <a:t>We narrow the warning from a district to a slope, say why it fired, and reach villages no SMS can.</a:t>
            </a:r>
            <a:endParaRPr lang="en-US" sz="1300" dirty="0"/>
          </a:p>
        </p:txBody>
      </p:sp>
      <p:sp>
        <p:nvSpPr>
          <p:cNvPr id="13" name="Text 10"/>
          <p:cNvSpPr txBox="1"/>
          <p:nvPr/>
        </p:nvSpPr>
        <p:spPr>
          <a:xfrm>
            <a:off x="6126480" y="2157984"/>
            <a:ext cx="5806440" cy="274320"/>
          </a:xfrm>
          <a:prstGeom prst="rect">
            <a:avLst/>
          </a:prstGeom>
          <a:noFill/>
          <a:ln/>
        </p:spPr>
        <p:txBody>
          <a:bodyPr wrap="square" lIns="0" tIns="0" rIns="0" bIns="0" rtlCol="0" anchor="ctr"/>
          <a:lstStyle/>
          <a:p>
            <a:pPr indent="0" marL="0">
              <a:buNone/>
            </a:pPr>
            <a:r>
              <a:rPr lang="en-US" sz="1300" b="1" u="sng" dirty="0">
                <a:solidFill>
                  <a:srgbClr val="1F4E79"/>
                </a:solidFill>
                <a:latin typeface="Arial" pitchFamily="34" charset="0"/>
                <a:ea typeface="Arial" pitchFamily="34" charset="-122"/>
                <a:cs typeface="Arial" pitchFamily="34" charset="-120"/>
              </a:rPr>
              <a:t>◆  Innovation and uniqueness of the solution</a:t>
            </a:r>
            <a:endParaRPr lang="en-US" sz="1300" dirty="0"/>
          </a:p>
        </p:txBody>
      </p:sp>
      <p:sp>
        <p:nvSpPr>
          <p:cNvPr id="14" name="Text 11"/>
          <p:cNvSpPr txBox="1"/>
          <p:nvPr/>
        </p:nvSpPr>
        <p:spPr>
          <a:xfrm>
            <a:off x="6181344" y="2487168"/>
            <a:ext cx="5751576" cy="1572768"/>
          </a:xfrm>
          <a:prstGeom prst="rect">
            <a:avLst/>
          </a:prstGeom>
          <a:noFill/>
          <a:ln/>
        </p:spPr>
        <p:txBody>
          <a:bodyPr wrap="square" lIns="0" tIns="0" rIns="0" bIns="0" rtlCol="0" anchor="t"/>
          <a:lstStyle/>
          <a:p>
            <a:pPr marL="139700" indent="-139700">
              <a:lnSpc>
                <a:spcPct val="100000"/>
              </a:lnSpc>
              <a:spcAft>
                <a:spcPts val="500"/>
              </a:spcAft>
              <a:buSzPct val="100000"/>
              <a:buChar char="▪"/>
            </a:pPr>
            <a:r>
              <a:rPr lang="en-US" sz="1200" dirty="0">
                <a:solidFill>
                  <a:srgbClr val="000000"/>
                </a:solidFill>
                <a:latin typeface="Arial" pitchFamily="34" charset="0"/>
                <a:ea typeface="Arial" pitchFamily="34" charset="-122"/>
                <a:cs typeface="Arial" pitchFamily="34" charset="-120"/>
              </a:rPr>
              <a:t>Rainfall alone over-warns, radar alone is too slow. Fusing them is what removes the false alarms.</a:t>
            </a:r>
            <a:endParaRPr lang="en-US" sz="1200" dirty="0"/>
          </a:p>
          <a:p>
            <a:pPr marL="139700" indent="-139700">
              <a:lnSpc>
                <a:spcPct val="100000"/>
              </a:lnSpc>
              <a:spcAft>
                <a:spcPts val="500"/>
              </a:spcAft>
              <a:buSzPct val="100000"/>
              <a:buChar char="▪"/>
            </a:pPr>
            <a:r>
              <a:rPr lang="en-US" sz="1200" dirty="0">
                <a:solidFill>
                  <a:srgbClr val="000000"/>
                </a:solidFill>
                <a:latin typeface="Arial" pitchFamily="34" charset="0"/>
                <a:ea typeface="Arial" pitchFamily="34" charset="-122"/>
                <a:cs typeface="Arial" pitchFamily="34" charset="-120"/>
              </a:rPr>
              <a:t>Radar triages for free, so sensors go only on slopes already moving, not on all 87,000.</a:t>
            </a:r>
            <a:endParaRPr lang="en-US" sz="1200" dirty="0"/>
          </a:p>
          <a:p>
            <a:pPr marL="139700" indent="-139700">
              <a:lnSpc>
                <a:spcPct val="100000"/>
              </a:lnSpc>
              <a:spcAft>
                <a:spcPts val="500"/>
              </a:spcAft>
              <a:buSzPct val="100000"/>
              <a:buChar char="▪"/>
            </a:pPr>
            <a:r>
              <a:rPr lang="en-US" sz="1200" dirty="0">
                <a:solidFill>
                  <a:srgbClr val="000000"/>
                </a:solidFill>
                <a:latin typeface="Arial" pitchFamily="34" charset="0"/>
                <a:ea typeface="Arial" pitchFamily="34" charset="-122"/>
                <a:cs typeface="Arial" pitchFamily="34" charset="-120"/>
              </a:rPr>
              <a:t>Every alert carries a reason a District Magistrate can record when ordering an evacuation.</a:t>
            </a:r>
            <a:endParaRPr lang="en-US" sz="1200" dirty="0"/>
          </a:p>
          <a:p>
            <a:pPr marL="139700" indent="-139700">
              <a:lnSpc>
                <a:spcPct val="100000"/>
              </a:lnSpc>
              <a:buSzPct val="100000"/>
              <a:buChar char="▪"/>
            </a:pPr>
            <a:r>
              <a:rPr lang="en-US" sz="1200" dirty="0">
                <a:solidFill>
                  <a:srgbClr val="000000"/>
                </a:solidFill>
                <a:latin typeface="Arial" pitchFamily="34" charset="0"/>
                <a:ea typeface="Arial" pitchFamily="34" charset="-122"/>
                <a:cs typeface="Arial" pitchFamily="34" charset="-120"/>
              </a:rPr>
              <a:t>Every confirmed event is dated and located, building the record the region has never had.</a:t>
            </a:r>
            <a:endParaRPr lang="en-US" sz="1200" dirty="0"/>
          </a:p>
        </p:txBody>
      </p:sp>
      <p:sp>
        <p:nvSpPr>
          <p:cNvPr id="15" name="Shape 12"/>
          <p:cNvSpPr/>
          <p:nvPr/>
        </p:nvSpPr>
        <p:spPr>
          <a:xfrm>
            <a:off x="228600" y="2971800"/>
            <a:ext cx="5724144" cy="1115568"/>
          </a:xfrm>
          <a:prstGeom prst="rect">
            <a:avLst/>
          </a:prstGeom>
          <a:solidFill>
            <a:srgbClr val="FFFFFF"/>
          </a:solidFill>
          <a:ln w="15875">
            <a:solidFill>
              <a:srgbClr val="404040"/>
            </a:solidFill>
            <a:prstDash val="solid"/>
          </a:ln>
        </p:spPr>
      </p:sp>
      <p:pic>
        <p:nvPicPr>
          <p:cNvPr id="16" name="Image 1" descr="/home/claude/sat_band.png">    </p:cNvPr>
          <p:cNvPicPr>
            <a:picLocks noChangeAspect="1"/>
          </p:cNvPicPr>
          <p:nvPr/>
        </p:nvPicPr>
        <p:blipFill>
          <a:blip r:embed="rId2"/>
          <a:stretch>
            <a:fillRect/>
          </a:stretch>
        </p:blipFill>
        <p:spPr>
          <a:xfrm>
            <a:off x="256032" y="2999232"/>
            <a:ext cx="5669280" cy="1060704"/>
          </a:xfrm>
          <a:prstGeom prst="rect">
            <a:avLst/>
          </a:prstGeom>
        </p:spPr>
      </p:pic>
      <p:sp>
        <p:nvSpPr>
          <p:cNvPr id="17" name="Text 13"/>
          <p:cNvSpPr txBox="1"/>
          <p:nvPr/>
        </p:nvSpPr>
        <p:spPr>
          <a:xfrm>
            <a:off x="256032" y="4087368"/>
            <a:ext cx="5669280" cy="146304"/>
          </a:xfrm>
          <a:prstGeom prst="rect">
            <a:avLst/>
          </a:prstGeom>
          <a:noFill/>
          <a:ln/>
        </p:spPr>
        <p:txBody>
          <a:bodyPr wrap="square" lIns="0" tIns="0" rIns="0" bIns="0" rtlCol="0" anchor="t"/>
          <a:lstStyle/>
          <a:p>
            <a:pPr indent="0" marL="0">
              <a:buNone/>
            </a:pPr>
            <a:r>
              <a:rPr lang="en-US" sz="800" b="1" dirty="0">
                <a:solidFill>
                  <a:srgbClr val="548235"/>
                </a:solidFill>
                <a:latin typeface="Arial" pitchFamily="34" charset="0"/>
                <a:ea typeface="Arial" pitchFamily="34" charset="-122"/>
                <a:cs typeface="Arial" pitchFamily="34" charset="-120"/>
              </a:rPr>
              <a:t>Landslide scars in the Eastern Himalaya, seen from orbit. </a:t>
            </a:r>
            <a:pPr indent="0" marL="0">
              <a:buNone/>
            </a:pPr>
            <a:r>
              <a:rPr lang="en-US" sz="800" dirty="0">
                <a:solidFill>
                  <a:srgbClr val="404040"/>
                </a:solidFill>
                <a:latin typeface="Arial" pitchFamily="34" charset="0"/>
                <a:ea typeface="Arial" pitchFamily="34" charset="-122"/>
                <a:cs typeface="Arial" pitchFamily="34" charset="-120"/>
              </a:rPr>
              <a:t>Radar covers this ground every six days, free.</a:t>
            </a:r>
            <a:endParaRPr lang="en-US" sz="800" dirty="0"/>
          </a:p>
        </p:txBody>
      </p:sp>
      <p:pic>
        <p:nvPicPr>
          <p:cNvPr id="18" name="Image 2" descr="/home/claude/clocks.png">    </p:cNvPr>
          <p:cNvPicPr>
            <a:picLocks noChangeAspect="1"/>
          </p:cNvPicPr>
          <p:nvPr/>
        </p:nvPicPr>
        <p:blipFill>
          <a:blip r:embed="rId3"/>
          <a:stretch>
            <a:fillRect/>
          </a:stretch>
        </p:blipFill>
        <p:spPr>
          <a:xfrm>
            <a:off x="256032" y="4242816"/>
            <a:ext cx="11676888" cy="19933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Shape 0"/>
          <p:cNvSpPr/>
          <p:nvPr/>
        </p:nvSpPr>
        <p:spPr>
          <a:xfrm>
            <a:off x="0" y="6355080"/>
            <a:ext cx="12188952" cy="502920"/>
          </a:xfrm>
          <a:prstGeom prst="rect">
            <a:avLst/>
          </a:prstGeom>
          <a:solidFill>
            <a:srgbClr val="0070C0"/>
          </a:solidFill>
          <a:ln w="12700">
            <a:solidFill>
              <a:srgbClr val="0070C0"/>
            </a:solidFill>
            <a:prstDash val="solid"/>
          </a:ln>
        </p:spPr>
      </p:sp>
      <p:sp>
        <p:nvSpPr>
          <p:cNvPr id="4" name="Text 1"/>
          <p:cNvSpPr txBox="1"/>
          <p:nvPr/>
        </p:nvSpPr>
        <p:spPr>
          <a:xfrm>
            <a:off x="4645152" y="6355080"/>
            <a:ext cx="32004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@SIH Idea submission- Template</a:t>
            </a:r>
            <a:endParaRPr lang="en-US" sz="1200" dirty="0"/>
          </a:p>
        </p:txBody>
      </p:sp>
      <p:sp>
        <p:nvSpPr>
          <p:cNvPr id="5" name="Text 2"/>
          <p:cNvSpPr txBox="1"/>
          <p:nvPr/>
        </p:nvSpPr>
        <p:spPr>
          <a:xfrm>
            <a:off x="10607040" y="6355080"/>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 name="Shape 3"/>
          <p:cNvSpPr/>
          <p:nvPr/>
        </p:nvSpPr>
        <p:spPr>
          <a:xfrm>
            <a:off x="292608" y="91440"/>
            <a:ext cx="1060704" cy="713232"/>
          </a:xfrm>
          <a:prstGeom prst="ellipse">
            <a:avLst/>
          </a:prstGeom>
          <a:solidFill>
            <a:srgbClr val="FFFFFF"/>
          </a:solidFill>
          <a:ln w="15875">
            <a:solidFill>
              <a:srgbClr val="8064A2"/>
            </a:solidFill>
            <a:prstDash val="solid"/>
          </a:ln>
        </p:spPr>
      </p:sp>
      <p:sp>
        <p:nvSpPr>
          <p:cNvPr id="7" name="Text 4"/>
          <p:cNvSpPr txBox="1"/>
          <p:nvPr/>
        </p:nvSpPr>
        <p:spPr>
          <a:xfrm>
            <a:off x="292608" y="91440"/>
            <a:ext cx="1060704" cy="713232"/>
          </a:xfrm>
          <a:prstGeom prst="rect">
            <a:avLst/>
          </a:prstGeom>
          <a:noFill/>
          <a:ln/>
        </p:spPr>
        <p:txBody>
          <a:bodyPr wrap="square" lIns="0" tIns="0" rIns="0" bIns="0" rtlCol="0" anchor="ctr"/>
          <a:lstStyle/>
          <a:p>
            <a:pPr algn="ctr" indent="0" marL="0">
              <a:buNone/>
            </a:pPr>
            <a:r>
              <a:rPr lang="en-US" sz="1300" dirty="0">
                <a:solidFill>
                  <a:srgbClr val="000000"/>
                </a:solidFill>
                <a:latin typeface="Arial" pitchFamily="34" charset="0"/>
                <a:ea typeface="Arial" pitchFamily="34" charset="-122"/>
                <a:cs typeface="Arial" pitchFamily="34" charset="-120"/>
              </a:rPr>
              <a:t>Aura</a:t>
            </a:r>
            <a:endParaRPr lang="en-US" sz="1300" dirty="0"/>
          </a:p>
        </p:txBody>
      </p:sp>
      <p:sp>
        <p:nvSpPr>
          <p:cNvPr id="8" name="Text 5"/>
          <p:cNvSpPr txBox="1"/>
          <p:nvPr/>
        </p:nvSpPr>
        <p:spPr>
          <a:xfrm>
            <a:off x="1463040" y="54864"/>
            <a:ext cx="8229600" cy="749808"/>
          </a:xfrm>
          <a:prstGeom prst="rect">
            <a:avLst/>
          </a:prstGeom>
          <a:noFill/>
          <a:ln/>
        </p:spPr>
        <p:txBody>
          <a:bodyPr wrap="square" lIns="0" tIns="0" rIns="0" bIns="0" rtlCol="0" anchor="ctr"/>
          <a:lstStyle/>
          <a:p>
            <a:pPr algn="ctr" indent="0" marL="0">
              <a:buNone/>
            </a:pPr>
            <a:r>
              <a:rPr lang="en-US" sz="2300" b="1" dirty="0">
                <a:solidFill>
                  <a:srgbClr val="000000"/>
                </a:solidFill>
                <a:latin typeface="Times New Roman" pitchFamily="34" charset="0"/>
                <a:ea typeface="Times New Roman" pitchFamily="34" charset="-122"/>
                <a:cs typeface="Times New Roman" pitchFamily="34" charset="-120"/>
              </a:rPr>
              <a:t>TECHNICAL APPROACH</a:t>
            </a:r>
            <a:endParaRPr lang="en-US" sz="2300" dirty="0"/>
          </a:p>
        </p:txBody>
      </p:sp>
      <p:pic>
        <p:nvPicPr>
          <p:cNvPr id="9" name="Image 1" descr="/home/claude/flow.png">    </p:cNvPr>
          <p:cNvPicPr>
            <a:picLocks noChangeAspect="1"/>
          </p:cNvPicPr>
          <p:nvPr/>
        </p:nvPicPr>
        <p:blipFill>
          <a:blip r:embed="rId2"/>
          <a:stretch>
            <a:fillRect/>
          </a:stretch>
        </p:blipFill>
        <p:spPr>
          <a:xfrm>
            <a:off x="256032" y="950976"/>
            <a:ext cx="11338560" cy="2743200"/>
          </a:xfrm>
          <a:prstGeom prst="rect">
            <a:avLst/>
          </a:prstGeom>
        </p:spPr>
      </p:pic>
      <p:sp>
        <p:nvSpPr>
          <p:cNvPr id="10" name="Text 6"/>
          <p:cNvSpPr txBox="1"/>
          <p:nvPr/>
        </p:nvSpPr>
        <p:spPr>
          <a:xfrm>
            <a:off x="256032" y="3803904"/>
            <a:ext cx="5897880" cy="274320"/>
          </a:xfrm>
          <a:prstGeom prst="rect">
            <a:avLst/>
          </a:prstGeom>
          <a:noFill/>
          <a:ln/>
        </p:spPr>
        <p:txBody>
          <a:bodyPr wrap="square" lIns="0" tIns="0" rIns="0" bIns="0" rtlCol="0" anchor="ctr"/>
          <a:lstStyle/>
          <a:p>
            <a:pPr indent="0" marL="0">
              <a:buNone/>
            </a:pPr>
            <a:r>
              <a:rPr lang="en-US" sz="1250" b="1" u="sng" dirty="0">
                <a:solidFill>
                  <a:srgbClr val="1F4E79"/>
                </a:solidFill>
                <a:latin typeface="Arial" pitchFamily="34" charset="0"/>
                <a:ea typeface="Arial" pitchFamily="34" charset="-122"/>
                <a:cs typeface="Arial" pitchFamily="34" charset="-120"/>
              </a:rPr>
              <a:t>◆  Technologies to be used</a:t>
            </a:r>
            <a:endParaRPr lang="en-US" sz="1250" dirty="0"/>
          </a:p>
        </p:txBody>
      </p:sp>
      <p:sp>
        <p:nvSpPr>
          <p:cNvPr id="11" name="Text 7"/>
          <p:cNvSpPr txBox="1"/>
          <p:nvPr/>
        </p:nvSpPr>
        <p:spPr>
          <a:xfrm>
            <a:off x="6382512" y="3803904"/>
            <a:ext cx="5550408" cy="274320"/>
          </a:xfrm>
          <a:prstGeom prst="rect">
            <a:avLst/>
          </a:prstGeom>
          <a:noFill/>
          <a:ln/>
        </p:spPr>
        <p:txBody>
          <a:bodyPr wrap="square" lIns="0" tIns="0" rIns="0" bIns="0" rtlCol="0" anchor="ctr"/>
          <a:lstStyle/>
          <a:p>
            <a:pPr indent="0" marL="0">
              <a:buNone/>
            </a:pPr>
            <a:r>
              <a:rPr lang="en-US" sz="1250" b="1" u="sng" dirty="0">
                <a:solidFill>
                  <a:srgbClr val="1F4E79"/>
                </a:solidFill>
                <a:latin typeface="Arial" pitchFamily="34" charset="0"/>
                <a:ea typeface="Arial" pitchFamily="34" charset="-122"/>
                <a:cs typeface="Arial" pitchFamily="34" charset="-120"/>
              </a:rPr>
              <a:t>◆  Methodology and process for implementation</a:t>
            </a:r>
            <a:endParaRPr lang="en-US" sz="1250" dirty="0"/>
          </a:p>
        </p:txBody>
      </p:sp>
      <p:sp>
        <p:nvSpPr>
          <p:cNvPr id="12" name="Text 8"/>
          <p:cNvSpPr txBox="1"/>
          <p:nvPr/>
        </p:nvSpPr>
        <p:spPr>
          <a:xfrm>
            <a:off x="237744" y="4169664"/>
            <a:ext cx="1627632" cy="201168"/>
          </a:xfrm>
          <a:prstGeom prst="rect">
            <a:avLst/>
          </a:prstGeom>
          <a:noFill/>
          <a:ln/>
        </p:spPr>
        <p:txBody>
          <a:bodyPr wrap="square" lIns="0" tIns="0" rIns="0" bIns="0" rtlCol="0" anchor="ctr"/>
          <a:lstStyle/>
          <a:p>
            <a:pPr algn="l" indent="0" marL="0">
              <a:buNone/>
            </a:pPr>
            <a:r>
              <a:rPr lang="en-US" sz="800" b="1" dirty="0">
                <a:solidFill>
                  <a:srgbClr val="404040"/>
                </a:solidFill>
                <a:latin typeface="Arial" pitchFamily="34" charset="0"/>
                <a:ea typeface="Arial" pitchFamily="34" charset="-122"/>
                <a:cs typeface="Arial" pitchFamily="34" charset="-120"/>
              </a:rPr>
              <a:t>Data and processing</a:t>
            </a:r>
            <a:endParaRPr lang="en-US" sz="800" dirty="0"/>
          </a:p>
        </p:txBody>
      </p:sp>
      <p:pic>
        <p:nvPicPr>
          <p:cNvPr id="13" name="Image 2" descr="/home/claude/logos/python.png">    </p:cNvPr>
          <p:cNvPicPr>
            <a:picLocks noChangeAspect="1"/>
          </p:cNvPicPr>
          <p:nvPr/>
        </p:nvPicPr>
        <p:blipFill>
          <a:blip r:embed="rId3"/>
          <a:stretch>
            <a:fillRect/>
          </a:stretch>
        </p:blipFill>
        <p:spPr>
          <a:xfrm>
            <a:off x="292608" y="4389120"/>
            <a:ext cx="265176" cy="265176"/>
          </a:xfrm>
          <a:prstGeom prst="rect">
            <a:avLst/>
          </a:prstGeom>
        </p:spPr>
      </p:pic>
      <p:pic>
        <p:nvPicPr>
          <p:cNvPr id="14" name="Image 3" descr="/home/claude/logos/geopandas.png">    </p:cNvPr>
          <p:cNvPicPr>
            <a:picLocks noChangeAspect="1"/>
          </p:cNvPicPr>
          <p:nvPr/>
        </p:nvPicPr>
        <p:blipFill>
          <a:blip r:embed="rId4"/>
          <a:stretch>
            <a:fillRect/>
          </a:stretch>
        </p:blipFill>
        <p:spPr>
          <a:xfrm>
            <a:off x="640080" y="4389120"/>
            <a:ext cx="265176" cy="265176"/>
          </a:xfrm>
          <a:prstGeom prst="rect">
            <a:avLst/>
          </a:prstGeom>
        </p:spPr>
      </p:pic>
      <p:pic>
        <p:nvPicPr>
          <p:cNvPr id="15" name="Image 4" descr="/home/claude/logos/apacheairflow.png">    </p:cNvPr>
          <p:cNvPicPr>
            <a:picLocks noChangeAspect="1"/>
          </p:cNvPicPr>
          <p:nvPr/>
        </p:nvPicPr>
        <p:blipFill>
          <a:blip r:embed="rId5"/>
          <a:stretch>
            <a:fillRect/>
          </a:stretch>
        </p:blipFill>
        <p:spPr>
          <a:xfrm>
            <a:off x="987552" y="4389120"/>
            <a:ext cx="265176" cy="265176"/>
          </a:xfrm>
          <a:prstGeom prst="rect">
            <a:avLst/>
          </a:prstGeom>
        </p:spPr>
      </p:pic>
      <p:pic>
        <p:nvPicPr>
          <p:cNvPr id="16" name="Image 5" descr="/home/claude/logos/postgresql.png">    </p:cNvPr>
          <p:cNvPicPr>
            <a:picLocks noChangeAspect="1"/>
          </p:cNvPicPr>
          <p:nvPr/>
        </p:nvPicPr>
        <p:blipFill>
          <a:blip r:embed="rId6"/>
          <a:stretch>
            <a:fillRect/>
          </a:stretch>
        </p:blipFill>
        <p:spPr>
          <a:xfrm>
            <a:off x="1335024" y="4389120"/>
            <a:ext cx="265176" cy="265176"/>
          </a:xfrm>
          <a:prstGeom prst="rect">
            <a:avLst/>
          </a:prstGeom>
        </p:spPr>
      </p:pic>
      <p:sp>
        <p:nvSpPr>
          <p:cNvPr id="17" name="Text 9"/>
          <p:cNvSpPr txBox="1"/>
          <p:nvPr/>
        </p:nvSpPr>
        <p:spPr>
          <a:xfrm>
            <a:off x="1883664" y="4169664"/>
            <a:ext cx="1280160" cy="201168"/>
          </a:xfrm>
          <a:prstGeom prst="rect">
            <a:avLst/>
          </a:prstGeom>
          <a:noFill/>
          <a:ln/>
        </p:spPr>
        <p:txBody>
          <a:bodyPr wrap="square" lIns="0" tIns="0" rIns="0" bIns="0" rtlCol="0" anchor="ctr"/>
          <a:lstStyle/>
          <a:p>
            <a:pPr algn="l" indent="0" marL="0">
              <a:buNone/>
            </a:pPr>
            <a:r>
              <a:rPr lang="en-US" sz="800" b="1" dirty="0">
                <a:solidFill>
                  <a:srgbClr val="404040"/>
                </a:solidFill>
                <a:latin typeface="Arial" pitchFamily="34" charset="0"/>
                <a:ea typeface="Arial" pitchFamily="34" charset="-122"/>
                <a:cs typeface="Arial" pitchFamily="34" charset="-120"/>
              </a:rPr>
              <a:t>AI models</a:t>
            </a:r>
            <a:endParaRPr lang="en-US" sz="800" dirty="0"/>
          </a:p>
        </p:txBody>
      </p:sp>
      <p:pic>
        <p:nvPicPr>
          <p:cNvPr id="18" name="Image 6" descr="/home/claude/logos/scikitlearn.png">    </p:cNvPr>
          <p:cNvPicPr>
            <a:picLocks noChangeAspect="1"/>
          </p:cNvPicPr>
          <p:nvPr/>
        </p:nvPicPr>
        <p:blipFill>
          <a:blip r:embed="rId7"/>
          <a:stretch>
            <a:fillRect/>
          </a:stretch>
        </p:blipFill>
        <p:spPr>
          <a:xfrm>
            <a:off x="1938528" y="4389120"/>
            <a:ext cx="265176" cy="265176"/>
          </a:xfrm>
          <a:prstGeom prst="rect">
            <a:avLst/>
          </a:prstGeom>
        </p:spPr>
      </p:pic>
      <p:pic>
        <p:nvPicPr>
          <p:cNvPr id="19" name="Image 7" descr="/home/claude/logos/pytorch.png">    </p:cNvPr>
          <p:cNvPicPr>
            <a:picLocks noChangeAspect="1"/>
          </p:cNvPicPr>
          <p:nvPr/>
        </p:nvPicPr>
        <p:blipFill>
          <a:blip r:embed="rId8"/>
          <a:stretch>
            <a:fillRect/>
          </a:stretch>
        </p:blipFill>
        <p:spPr>
          <a:xfrm>
            <a:off x="2286000" y="4389120"/>
            <a:ext cx="265176" cy="265176"/>
          </a:xfrm>
          <a:prstGeom prst="rect">
            <a:avLst/>
          </a:prstGeom>
        </p:spPr>
      </p:pic>
      <p:pic>
        <p:nvPicPr>
          <p:cNvPr id="20" name="Image 8" descr="/home/claude/logos/onnx.png">    </p:cNvPr>
          <p:cNvPicPr>
            <a:picLocks noChangeAspect="1"/>
          </p:cNvPicPr>
          <p:nvPr/>
        </p:nvPicPr>
        <p:blipFill>
          <a:blip r:embed="rId9"/>
          <a:stretch>
            <a:fillRect/>
          </a:stretch>
        </p:blipFill>
        <p:spPr>
          <a:xfrm>
            <a:off x="2633472" y="4389120"/>
            <a:ext cx="265176" cy="265176"/>
          </a:xfrm>
          <a:prstGeom prst="rect">
            <a:avLst/>
          </a:prstGeom>
        </p:spPr>
      </p:pic>
      <p:sp>
        <p:nvSpPr>
          <p:cNvPr id="21" name="Text 10"/>
          <p:cNvSpPr txBox="1"/>
          <p:nvPr/>
        </p:nvSpPr>
        <p:spPr>
          <a:xfrm>
            <a:off x="3182112" y="4169664"/>
            <a:ext cx="1627632" cy="201168"/>
          </a:xfrm>
          <a:prstGeom prst="rect">
            <a:avLst/>
          </a:prstGeom>
          <a:noFill/>
          <a:ln/>
        </p:spPr>
        <p:txBody>
          <a:bodyPr wrap="square" lIns="0" tIns="0" rIns="0" bIns="0" rtlCol="0" anchor="ctr"/>
          <a:lstStyle/>
          <a:p>
            <a:pPr algn="l" indent="0" marL="0">
              <a:buNone/>
            </a:pPr>
            <a:r>
              <a:rPr lang="en-US" sz="800" b="1" dirty="0">
                <a:solidFill>
                  <a:srgbClr val="404040"/>
                </a:solidFill>
                <a:latin typeface="Arial" pitchFamily="34" charset="0"/>
                <a:ea typeface="Arial" pitchFamily="34" charset="-122"/>
                <a:cs typeface="Arial" pitchFamily="34" charset="-120"/>
              </a:rPr>
              <a:t>Platform</a:t>
            </a:r>
            <a:endParaRPr lang="en-US" sz="800" dirty="0"/>
          </a:p>
        </p:txBody>
      </p:sp>
      <p:pic>
        <p:nvPicPr>
          <p:cNvPr id="22" name="Image 9" descr="/home/claude/logos/fastapi.png">    </p:cNvPr>
          <p:cNvPicPr>
            <a:picLocks noChangeAspect="1"/>
          </p:cNvPicPr>
          <p:nvPr/>
        </p:nvPicPr>
        <p:blipFill>
          <a:blip r:embed="rId10"/>
          <a:stretch>
            <a:fillRect/>
          </a:stretch>
        </p:blipFill>
        <p:spPr>
          <a:xfrm>
            <a:off x="3236976" y="4389120"/>
            <a:ext cx="265176" cy="265176"/>
          </a:xfrm>
          <a:prstGeom prst="rect">
            <a:avLst/>
          </a:prstGeom>
        </p:spPr>
      </p:pic>
      <p:pic>
        <p:nvPicPr>
          <p:cNvPr id="23" name="Image 10" descr="/home/claude/logos/docker.png">    </p:cNvPr>
          <p:cNvPicPr>
            <a:picLocks noChangeAspect="1"/>
          </p:cNvPicPr>
          <p:nvPr/>
        </p:nvPicPr>
        <p:blipFill>
          <a:blip r:embed="rId11"/>
          <a:stretch>
            <a:fillRect/>
          </a:stretch>
        </p:blipFill>
        <p:spPr>
          <a:xfrm>
            <a:off x="3584448" y="4389120"/>
            <a:ext cx="265176" cy="265176"/>
          </a:xfrm>
          <a:prstGeom prst="rect">
            <a:avLst/>
          </a:prstGeom>
        </p:spPr>
      </p:pic>
      <p:pic>
        <p:nvPicPr>
          <p:cNvPr id="24" name="Image 11" descr="/home/claude/logos/redis.png">    </p:cNvPr>
          <p:cNvPicPr>
            <a:picLocks noChangeAspect="1"/>
          </p:cNvPicPr>
          <p:nvPr/>
        </p:nvPicPr>
        <p:blipFill>
          <a:blip r:embed="rId12"/>
          <a:stretch>
            <a:fillRect/>
          </a:stretch>
        </p:blipFill>
        <p:spPr>
          <a:xfrm>
            <a:off x="3931920" y="4389120"/>
            <a:ext cx="265176" cy="265176"/>
          </a:xfrm>
          <a:prstGeom prst="rect">
            <a:avLst/>
          </a:prstGeom>
        </p:spPr>
      </p:pic>
      <p:pic>
        <p:nvPicPr>
          <p:cNvPr id="25" name="Image 12" descr="/home/claude/logos/kubernetes.png">    </p:cNvPr>
          <p:cNvPicPr>
            <a:picLocks noChangeAspect="1"/>
          </p:cNvPicPr>
          <p:nvPr/>
        </p:nvPicPr>
        <p:blipFill>
          <a:blip r:embed="rId13"/>
          <a:stretch>
            <a:fillRect/>
          </a:stretch>
        </p:blipFill>
        <p:spPr>
          <a:xfrm>
            <a:off x="4279392" y="4389120"/>
            <a:ext cx="265176" cy="265176"/>
          </a:xfrm>
          <a:prstGeom prst="rect">
            <a:avLst/>
          </a:prstGeom>
        </p:spPr>
      </p:pic>
      <p:sp>
        <p:nvSpPr>
          <p:cNvPr id="26" name="Text 11"/>
          <p:cNvSpPr txBox="1"/>
          <p:nvPr/>
        </p:nvSpPr>
        <p:spPr>
          <a:xfrm>
            <a:off x="4828032" y="4169664"/>
            <a:ext cx="1627632" cy="201168"/>
          </a:xfrm>
          <a:prstGeom prst="rect">
            <a:avLst/>
          </a:prstGeom>
          <a:noFill/>
          <a:ln/>
        </p:spPr>
        <p:txBody>
          <a:bodyPr wrap="square" lIns="0" tIns="0" rIns="0" bIns="0" rtlCol="0" anchor="ctr"/>
          <a:lstStyle/>
          <a:p>
            <a:pPr algn="l" indent="0" marL="0">
              <a:buNone/>
            </a:pPr>
            <a:r>
              <a:rPr lang="en-US" sz="800" b="1" dirty="0">
                <a:solidFill>
                  <a:srgbClr val="404040"/>
                </a:solidFill>
                <a:latin typeface="Arial" pitchFamily="34" charset="0"/>
                <a:ea typeface="Arial" pitchFamily="34" charset="-122"/>
                <a:cs typeface="Arial" pitchFamily="34" charset="-120"/>
              </a:rPr>
              <a:t>Apps, maps and test</a:t>
            </a:r>
            <a:endParaRPr lang="en-US" sz="800" dirty="0"/>
          </a:p>
        </p:txBody>
      </p:sp>
      <p:pic>
        <p:nvPicPr>
          <p:cNvPr id="27" name="Image 13" descr="/home/claude/logos/react.png">    </p:cNvPr>
          <p:cNvPicPr>
            <a:picLocks noChangeAspect="1"/>
          </p:cNvPicPr>
          <p:nvPr/>
        </p:nvPicPr>
        <p:blipFill>
          <a:blip r:embed="rId14"/>
          <a:stretch>
            <a:fillRect/>
          </a:stretch>
        </p:blipFill>
        <p:spPr>
          <a:xfrm>
            <a:off x="4882896" y="4389120"/>
            <a:ext cx="265176" cy="265176"/>
          </a:xfrm>
          <a:prstGeom prst="rect">
            <a:avLst/>
          </a:prstGeom>
        </p:spPr>
      </p:pic>
      <p:pic>
        <p:nvPicPr>
          <p:cNvPr id="28" name="Image 14" descr="/home/claude/logos/leaflet.png">    </p:cNvPr>
          <p:cNvPicPr>
            <a:picLocks noChangeAspect="1"/>
          </p:cNvPicPr>
          <p:nvPr/>
        </p:nvPicPr>
        <p:blipFill>
          <a:blip r:embed="rId15"/>
          <a:stretch>
            <a:fillRect/>
          </a:stretch>
        </p:blipFill>
        <p:spPr>
          <a:xfrm>
            <a:off x="5230368" y="4389120"/>
            <a:ext cx="265176" cy="265176"/>
          </a:xfrm>
          <a:prstGeom prst="rect">
            <a:avLst/>
          </a:prstGeom>
        </p:spPr>
      </p:pic>
      <p:pic>
        <p:nvPicPr>
          <p:cNvPr id="29" name="Image 15" descr="/home/claude/logos/flutter.png">    </p:cNvPr>
          <p:cNvPicPr>
            <a:picLocks noChangeAspect="1"/>
          </p:cNvPicPr>
          <p:nvPr/>
        </p:nvPicPr>
        <p:blipFill>
          <a:blip r:embed="rId16"/>
          <a:stretch>
            <a:fillRect/>
          </a:stretch>
        </p:blipFill>
        <p:spPr>
          <a:xfrm>
            <a:off x="5577840" y="4389120"/>
            <a:ext cx="265176" cy="265176"/>
          </a:xfrm>
          <a:prstGeom prst="rect">
            <a:avLst/>
          </a:prstGeom>
        </p:spPr>
      </p:pic>
      <p:pic>
        <p:nvPicPr>
          <p:cNvPr id="30" name="Image 16" descr="/home/claude/logos/github.png">    </p:cNvPr>
          <p:cNvPicPr>
            <a:picLocks noChangeAspect="1"/>
          </p:cNvPicPr>
          <p:nvPr/>
        </p:nvPicPr>
        <p:blipFill>
          <a:blip r:embed="rId17"/>
          <a:stretch>
            <a:fillRect/>
          </a:stretch>
        </p:blipFill>
        <p:spPr>
          <a:xfrm>
            <a:off x="5925312" y="4389120"/>
            <a:ext cx="265176" cy="265176"/>
          </a:xfrm>
          <a:prstGeom prst="rect">
            <a:avLst/>
          </a:prstGeom>
        </p:spPr>
      </p:pic>
      <p:sp>
        <p:nvSpPr>
          <p:cNvPr id="31" name="Text 12"/>
          <p:cNvSpPr txBox="1"/>
          <p:nvPr/>
        </p:nvSpPr>
        <p:spPr>
          <a:xfrm>
            <a:off x="274320" y="4754880"/>
            <a:ext cx="5861304" cy="1481328"/>
          </a:xfrm>
          <a:prstGeom prst="rect">
            <a:avLst/>
          </a:prstGeom>
          <a:noFill/>
          <a:ln/>
        </p:spPr>
        <p:txBody>
          <a:bodyPr wrap="square" lIns="0" tIns="0" rIns="0" bIns="0" rtlCol="0" anchor="t"/>
          <a:lstStyle/>
          <a:p>
            <a:pPr indent="0" marL="0">
              <a:lnSpc>
                <a:spcPct val="98000"/>
              </a:lnSpc>
              <a:buNone/>
            </a:pPr>
            <a:r>
              <a:rPr lang="en-US" sz="1050" b="1" dirty="0">
                <a:solidFill>
                  <a:srgbClr val="1F4E79"/>
                </a:solidFill>
                <a:latin typeface="Arial" pitchFamily="34" charset="0"/>
                <a:ea typeface="Arial" pitchFamily="34" charset="-122"/>
                <a:cs typeface="Arial" pitchFamily="34" charset="-120"/>
              </a:rPr>
              <a:t>Data and processing  </a:t>
            </a:r>
            <a:pPr indent="0" marL="0">
              <a:lnSpc>
                <a:spcPct val="98000"/>
              </a:lnSpc>
              <a:spcAft>
                <a:spcPts val="300"/>
              </a:spcAft>
              <a:buNone/>
            </a:pPr>
            <a:r>
              <a:rPr lang="en-US" sz="1050" dirty="0">
                <a:solidFill>
                  <a:srgbClr val="000000"/>
                </a:solidFill>
                <a:latin typeface="Arial" pitchFamily="34" charset="0"/>
                <a:ea typeface="Arial" pitchFamily="34" charset="-122"/>
                <a:cs typeface="Arial" pitchFamily="34" charset="-120"/>
              </a:rPr>
              <a:t>Sentinel-1 via ASF HyP3, IMERG rainfall, SMAP wetness, CartoDEM, Bhuvan land cover. Airflow schedules each pass; PostGIS holds slopes and villages.</a:t>
            </a:r>
            <a:endParaRPr lang="en-US" sz="1050" dirty="0"/>
          </a:p>
          <a:p>
            <a:pPr indent="0" marL="0">
              <a:lnSpc>
                <a:spcPct val="98000"/>
              </a:lnSpc>
              <a:buNone/>
            </a:pPr>
            <a:r>
              <a:rPr lang="en-US" sz="1050" b="1" dirty="0">
                <a:solidFill>
                  <a:srgbClr val="1F4E79"/>
                </a:solidFill>
                <a:latin typeface="Arial" pitchFamily="34" charset="0"/>
                <a:ea typeface="Arial" pitchFamily="34" charset="-122"/>
                <a:cs typeface="Arial" pitchFamily="34" charset="-120"/>
              </a:rPr>
              <a:t>AI models  </a:t>
            </a:r>
            <a:pPr indent="0" marL="0">
              <a:lnSpc>
                <a:spcPct val="98000"/>
              </a:lnSpc>
              <a:spcAft>
                <a:spcPts val="300"/>
              </a:spcAft>
              <a:buNone/>
            </a:pPr>
            <a:r>
              <a:rPr lang="en-US" sz="1050" dirty="0">
                <a:solidFill>
                  <a:srgbClr val="000000"/>
                </a:solidFill>
                <a:latin typeface="Arial" pitchFamily="34" charset="0"/>
                <a:ea typeface="Arial" pitchFamily="34" charset="-122"/>
                <a:cs typeface="Arial" pitchFamily="34" charset="-120"/>
              </a:rPr>
              <a:t>Gradient-boosted trees, spatially cross-validated, exported to ONNX so edge and cloud run the same weights.</a:t>
            </a:r>
            <a:endParaRPr lang="en-US" sz="1050" dirty="0"/>
          </a:p>
          <a:p>
            <a:pPr indent="0" marL="0">
              <a:lnSpc>
                <a:spcPct val="98000"/>
              </a:lnSpc>
              <a:buNone/>
            </a:pPr>
            <a:r>
              <a:rPr lang="en-US" sz="1050" b="1" dirty="0">
                <a:solidFill>
                  <a:srgbClr val="1F4E79"/>
                </a:solidFill>
                <a:latin typeface="Arial" pitchFamily="34" charset="0"/>
                <a:ea typeface="Arial" pitchFamily="34" charset="-122"/>
                <a:cs typeface="Arial" pitchFamily="34" charset="-120"/>
              </a:rPr>
              <a:t>Platform  </a:t>
            </a:r>
            <a:pPr indent="0" marL="0">
              <a:lnSpc>
                <a:spcPct val="98000"/>
              </a:lnSpc>
              <a:spcAft>
                <a:spcPts val="300"/>
              </a:spcAft>
              <a:buNone/>
            </a:pPr>
            <a:r>
              <a:rPr lang="en-US" sz="1050" dirty="0">
                <a:solidFill>
                  <a:srgbClr val="000000"/>
                </a:solidFill>
                <a:latin typeface="Arial" pitchFamily="34" charset="0"/>
                <a:ea typeface="Arial" pitchFamily="34" charset="-122"/>
                <a:cs typeface="Arial" pitchFamily="34" charset="-120"/>
              </a:rPr>
              <a:t>FastAPI and Redis, containerised for one state data-centre node or NIC cloud.</a:t>
            </a:r>
            <a:endParaRPr lang="en-US" sz="1050" dirty="0"/>
          </a:p>
          <a:p>
            <a:pPr indent="0" marL="0">
              <a:lnSpc>
                <a:spcPct val="98000"/>
              </a:lnSpc>
              <a:buNone/>
            </a:pPr>
            <a:r>
              <a:rPr lang="en-US" sz="1050" b="1" dirty="0">
                <a:solidFill>
                  <a:srgbClr val="1F4E79"/>
                </a:solidFill>
                <a:latin typeface="Arial" pitchFamily="34" charset="0"/>
                <a:ea typeface="Arial" pitchFamily="34" charset="-122"/>
                <a:cs typeface="Arial" pitchFamily="34" charset="-120"/>
              </a:rPr>
              <a:t>Apps, maps and test  </a:t>
            </a:r>
            <a:pPr indent="0" marL="0">
              <a:lnSpc>
                <a:spcPct val="98000"/>
              </a:lnSpc>
              <a:buNone/>
            </a:pPr>
            <a:r>
              <a:rPr lang="en-US" sz="1050" dirty="0">
                <a:solidFill>
                  <a:srgbClr val="000000"/>
                </a:solidFill>
                <a:latin typeface="Arial" pitchFamily="34" charset="0"/>
                <a:ea typeface="Arial" pitchFamily="34" charset="-122"/>
                <a:cs typeface="Arial" pitchFamily="34" charset="-120"/>
              </a:rPr>
              <a:t>React and Leaflet control room, offline Flutter field app, tested on replayed monsoon data.</a:t>
            </a:r>
            <a:endParaRPr lang="en-US" sz="1050" dirty="0"/>
          </a:p>
        </p:txBody>
      </p:sp>
      <p:sp>
        <p:nvSpPr>
          <p:cNvPr id="32" name="Text 13"/>
          <p:cNvSpPr txBox="1"/>
          <p:nvPr/>
        </p:nvSpPr>
        <p:spPr>
          <a:xfrm>
            <a:off x="6419088" y="4169664"/>
            <a:ext cx="5477256" cy="2066544"/>
          </a:xfrm>
          <a:prstGeom prst="rect">
            <a:avLst/>
          </a:prstGeom>
          <a:noFill/>
          <a:ln/>
        </p:spPr>
        <p:txBody>
          <a:bodyPr wrap="square" lIns="0" tIns="0" rIns="0" bIns="0" rtlCol="0" anchor="t"/>
          <a:lstStyle/>
          <a:p>
            <a:pPr indent="0" marL="0">
              <a:lnSpc>
                <a:spcPct val="100000"/>
              </a:lnSpc>
              <a:buNone/>
            </a:pPr>
            <a:r>
              <a:rPr lang="en-US" sz="1200" b="1" dirty="0">
                <a:solidFill>
                  <a:srgbClr val="1F4E79"/>
                </a:solidFill>
                <a:latin typeface="Arial" pitchFamily="34" charset="0"/>
                <a:ea typeface="Arial" pitchFamily="34" charset="-122"/>
                <a:cs typeface="Arial" pitchFamily="34" charset="-120"/>
              </a:rPr>
              <a:t>Phase 1  </a:t>
            </a:r>
            <a:pPr indent="0" marL="0">
              <a:lnSpc>
                <a:spcPct val="100000"/>
              </a:lnSpc>
              <a:spcAft>
                <a:spcPts val="900"/>
              </a:spcAft>
              <a:buNone/>
            </a:pPr>
            <a:r>
              <a:rPr lang="en-US" sz="1200" dirty="0">
                <a:solidFill>
                  <a:srgbClr val="000000"/>
                </a:solidFill>
                <a:latin typeface="Arial" pitchFamily="34" charset="0"/>
                <a:ea typeface="Arial" pitchFamily="34" charset="-122"/>
                <a:cs typeface="Arial" pitchFamily="34" charset="-120"/>
              </a:rPr>
              <a:t>Terrain and history: susceptibility layer for one pilot district.</a:t>
            </a:r>
            <a:endParaRPr lang="en-US" sz="1200" dirty="0"/>
          </a:p>
          <a:p>
            <a:pPr indent="0" marL="0">
              <a:lnSpc>
                <a:spcPct val="100000"/>
              </a:lnSpc>
              <a:buNone/>
            </a:pPr>
            <a:r>
              <a:rPr lang="en-US" sz="1200" b="1" dirty="0">
                <a:solidFill>
                  <a:srgbClr val="1F4E79"/>
                </a:solidFill>
                <a:latin typeface="Arial" pitchFamily="34" charset="0"/>
                <a:ea typeface="Arial" pitchFamily="34" charset="-122"/>
                <a:cs typeface="Arial" pitchFamily="34" charset="-120"/>
              </a:rPr>
              <a:t>Phase 2  </a:t>
            </a:r>
            <a:pPr indent="0" marL="0">
              <a:lnSpc>
                <a:spcPct val="100000"/>
              </a:lnSpc>
              <a:spcAft>
                <a:spcPts val="900"/>
              </a:spcAft>
              <a:buNone/>
            </a:pPr>
            <a:r>
              <a:rPr lang="en-US" sz="1200" dirty="0">
                <a:solidFill>
                  <a:srgbClr val="000000"/>
                </a:solidFill>
                <a:latin typeface="Arial" pitchFamily="34" charset="0"/>
                <a:ea typeface="Arial" pitchFamily="34" charset="-122"/>
                <a:cs typeface="Arial" pitchFamily="34" charset="-120"/>
              </a:rPr>
              <a:t>Slow clock: InSAR time series, velocity map, creep detection.</a:t>
            </a:r>
            <a:endParaRPr lang="en-US" sz="1200" dirty="0"/>
          </a:p>
          <a:p>
            <a:pPr indent="0" marL="0">
              <a:lnSpc>
                <a:spcPct val="100000"/>
              </a:lnSpc>
              <a:buNone/>
            </a:pPr>
            <a:r>
              <a:rPr lang="en-US" sz="1200" b="1" dirty="0">
                <a:solidFill>
                  <a:srgbClr val="1F4E79"/>
                </a:solidFill>
                <a:latin typeface="Arial" pitchFamily="34" charset="0"/>
                <a:ea typeface="Arial" pitchFamily="34" charset="-122"/>
                <a:cs typeface="Arial" pitchFamily="34" charset="-120"/>
              </a:rPr>
              <a:t>Phase 3  </a:t>
            </a:r>
            <a:pPr indent="0" marL="0">
              <a:lnSpc>
                <a:spcPct val="100000"/>
              </a:lnSpc>
              <a:spcAft>
                <a:spcPts val="900"/>
              </a:spcAft>
              <a:buNone/>
            </a:pPr>
            <a:r>
              <a:rPr lang="en-US" sz="1200" dirty="0">
                <a:solidFill>
                  <a:srgbClr val="000000"/>
                </a:solidFill>
                <a:latin typeface="Arial" pitchFamily="34" charset="0"/>
                <a:ea typeface="Arial" pitchFamily="34" charset="-122"/>
                <a:cs typeface="Arial" pitchFamily="34" charset="-120"/>
              </a:rPr>
              <a:t>Fast clock: thresholds, nowcast, spatial validation.</a:t>
            </a:r>
            <a:endParaRPr lang="en-US" sz="1200" dirty="0"/>
          </a:p>
          <a:p>
            <a:pPr indent="0" marL="0">
              <a:lnSpc>
                <a:spcPct val="100000"/>
              </a:lnSpc>
              <a:buNone/>
            </a:pPr>
            <a:r>
              <a:rPr lang="en-US" sz="1200" b="1" dirty="0">
                <a:solidFill>
                  <a:srgbClr val="1F4E79"/>
                </a:solidFill>
                <a:latin typeface="Arial" pitchFamily="34" charset="0"/>
                <a:ea typeface="Arial" pitchFamily="34" charset="-122"/>
                <a:cs typeface="Arial" pitchFamily="34" charset="-120"/>
              </a:rPr>
              <a:t>Phase 4  </a:t>
            </a:r>
            <a:pPr indent="0" marL="0">
              <a:lnSpc>
                <a:spcPct val="100000"/>
              </a:lnSpc>
              <a:spcAft>
                <a:spcPts val="900"/>
              </a:spcAft>
              <a:buNone/>
            </a:pPr>
            <a:r>
              <a:rPr lang="en-US" sz="1200" dirty="0">
                <a:solidFill>
                  <a:srgbClr val="000000"/>
                </a:solidFill>
                <a:latin typeface="Arial" pitchFamily="34" charset="0"/>
                <a:ea typeface="Arial" pitchFamily="34" charset="-122"/>
                <a:cs typeface="Arial" pitchFamily="34" charset="-120"/>
              </a:rPr>
              <a:t>Fusion, SHAP reasons, and the control-room dashboard.</a:t>
            </a:r>
            <a:endParaRPr lang="en-US" sz="1200" dirty="0"/>
          </a:p>
          <a:p>
            <a:pPr indent="0" marL="0">
              <a:lnSpc>
                <a:spcPct val="100000"/>
              </a:lnSpc>
              <a:buNone/>
            </a:pPr>
            <a:r>
              <a:rPr lang="en-US" sz="1200" b="1" dirty="0">
                <a:solidFill>
                  <a:srgbClr val="1F4E79"/>
                </a:solidFill>
                <a:latin typeface="Arial" pitchFamily="34" charset="0"/>
                <a:ea typeface="Arial" pitchFamily="34" charset="-122"/>
                <a:cs typeface="Arial" pitchFamily="34" charset="-120"/>
              </a:rPr>
              <a:t>Phase 5  </a:t>
            </a:r>
            <a:pPr indent="0" marL="0">
              <a:lnSpc>
                <a:spcPct val="100000"/>
              </a:lnSpc>
              <a:buNone/>
            </a:pPr>
            <a:r>
              <a:rPr lang="en-US" sz="1200" dirty="0">
                <a:solidFill>
                  <a:srgbClr val="000000"/>
                </a:solidFill>
                <a:latin typeface="Arial" pitchFamily="34" charset="0"/>
                <a:ea typeface="Arial" pitchFamily="34" charset="-122"/>
                <a:cs typeface="Arial" pitchFamily="34" charset="-120"/>
              </a:rPr>
              <a:t>Last mile: CAP alerts, voice, LoRa siren and the field app.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Shape 0"/>
          <p:cNvSpPr/>
          <p:nvPr/>
        </p:nvSpPr>
        <p:spPr>
          <a:xfrm>
            <a:off x="0" y="6355080"/>
            <a:ext cx="12188952" cy="502920"/>
          </a:xfrm>
          <a:prstGeom prst="rect">
            <a:avLst/>
          </a:prstGeom>
          <a:solidFill>
            <a:srgbClr val="0070C0"/>
          </a:solidFill>
          <a:ln w="12700">
            <a:solidFill>
              <a:srgbClr val="0070C0"/>
            </a:solidFill>
            <a:prstDash val="solid"/>
          </a:ln>
        </p:spPr>
      </p:sp>
      <p:sp>
        <p:nvSpPr>
          <p:cNvPr id="4" name="Text 1"/>
          <p:cNvSpPr txBox="1"/>
          <p:nvPr/>
        </p:nvSpPr>
        <p:spPr>
          <a:xfrm>
            <a:off x="4645152" y="6355080"/>
            <a:ext cx="32004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@SIH Idea submission- Template</a:t>
            </a:r>
            <a:endParaRPr lang="en-US" sz="1200" dirty="0"/>
          </a:p>
        </p:txBody>
      </p:sp>
      <p:sp>
        <p:nvSpPr>
          <p:cNvPr id="5" name="Text 2"/>
          <p:cNvSpPr txBox="1"/>
          <p:nvPr/>
        </p:nvSpPr>
        <p:spPr>
          <a:xfrm>
            <a:off x="10607040" y="6355080"/>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 name="Shape 3"/>
          <p:cNvSpPr/>
          <p:nvPr/>
        </p:nvSpPr>
        <p:spPr>
          <a:xfrm>
            <a:off x="292608" y="91440"/>
            <a:ext cx="1060704" cy="713232"/>
          </a:xfrm>
          <a:prstGeom prst="ellipse">
            <a:avLst/>
          </a:prstGeom>
          <a:solidFill>
            <a:srgbClr val="FFFFFF"/>
          </a:solidFill>
          <a:ln w="15875">
            <a:solidFill>
              <a:srgbClr val="8064A2"/>
            </a:solidFill>
            <a:prstDash val="solid"/>
          </a:ln>
        </p:spPr>
      </p:sp>
      <p:sp>
        <p:nvSpPr>
          <p:cNvPr id="7" name="Text 4"/>
          <p:cNvSpPr txBox="1"/>
          <p:nvPr/>
        </p:nvSpPr>
        <p:spPr>
          <a:xfrm>
            <a:off x="292608" y="91440"/>
            <a:ext cx="1060704" cy="713232"/>
          </a:xfrm>
          <a:prstGeom prst="rect">
            <a:avLst/>
          </a:prstGeom>
          <a:noFill/>
          <a:ln/>
        </p:spPr>
        <p:txBody>
          <a:bodyPr wrap="square" lIns="0" tIns="0" rIns="0" bIns="0" rtlCol="0" anchor="ctr"/>
          <a:lstStyle/>
          <a:p>
            <a:pPr algn="ctr" indent="0" marL="0">
              <a:buNone/>
            </a:pPr>
            <a:r>
              <a:rPr lang="en-US" sz="1300" dirty="0">
                <a:solidFill>
                  <a:srgbClr val="000000"/>
                </a:solidFill>
                <a:latin typeface="Arial" pitchFamily="34" charset="0"/>
                <a:ea typeface="Arial" pitchFamily="34" charset="-122"/>
                <a:cs typeface="Arial" pitchFamily="34" charset="-120"/>
              </a:rPr>
              <a:t>Aura</a:t>
            </a:r>
            <a:endParaRPr lang="en-US" sz="1300" dirty="0"/>
          </a:p>
        </p:txBody>
      </p:sp>
      <p:sp>
        <p:nvSpPr>
          <p:cNvPr id="8" name="Text 5"/>
          <p:cNvSpPr txBox="1"/>
          <p:nvPr/>
        </p:nvSpPr>
        <p:spPr>
          <a:xfrm>
            <a:off x="1463040" y="54864"/>
            <a:ext cx="8229600" cy="749808"/>
          </a:xfrm>
          <a:prstGeom prst="rect">
            <a:avLst/>
          </a:prstGeom>
          <a:noFill/>
          <a:ln/>
        </p:spPr>
        <p:txBody>
          <a:bodyPr wrap="square" lIns="0" tIns="0" rIns="0" bIns="0" rtlCol="0" anchor="ctr"/>
          <a:lstStyle/>
          <a:p>
            <a:pPr algn="ctr" indent="0" marL="0">
              <a:buNone/>
            </a:pPr>
            <a:r>
              <a:rPr lang="en-US" sz="2300" b="1" dirty="0">
                <a:solidFill>
                  <a:srgbClr val="000000"/>
                </a:solidFill>
                <a:latin typeface="Times New Roman" pitchFamily="34" charset="0"/>
                <a:ea typeface="Times New Roman" pitchFamily="34" charset="-122"/>
                <a:cs typeface="Times New Roman" pitchFamily="34" charset="-120"/>
              </a:rPr>
              <a:t>FEASIBILITY AND VIABILITY</a:t>
            </a:r>
            <a:endParaRPr lang="en-US" sz="2300" dirty="0"/>
          </a:p>
        </p:txBody>
      </p:sp>
      <p:sp>
        <p:nvSpPr>
          <p:cNvPr id="9" name="Text 6"/>
          <p:cNvSpPr txBox="1"/>
          <p:nvPr/>
        </p:nvSpPr>
        <p:spPr>
          <a:xfrm>
            <a:off x="256032" y="1115568"/>
            <a:ext cx="4617720" cy="274320"/>
          </a:xfrm>
          <a:prstGeom prst="rect">
            <a:avLst/>
          </a:prstGeom>
          <a:noFill/>
          <a:ln/>
        </p:spPr>
        <p:txBody>
          <a:bodyPr wrap="square" lIns="0" tIns="0" rIns="0" bIns="0" rtlCol="0" anchor="ctr"/>
          <a:lstStyle/>
          <a:p>
            <a:pPr indent="0" marL="0">
              <a:buNone/>
            </a:pPr>
            <a:r>
              <a:rPr lang="en-US" sz="1150" b="1" u="sng" dirty="0">
                <a:solidFill>
                  <a:srgbClr val="1F4E79"/>
                </a:solidFill>
                <a:latin typeface="Arial" pitchFamily="34" charset="0"/>
                <a:ea typeface="Arial" pitchFamily="34" charset="-122"/>
                <a:cs typeface="Arial" pitchFamily="34" charset="-120"/>
              </a:rPr>
              <a:t>◆  Analysis of the feasibility of the idea</a:t>
            </a:r>
            <a:endParaRPr lang="en-US" sz="1150" dirty="0"/>
          </a:p>
        </p:txBody>
      </p:sp>
      <p:sp>
        <p:nvSpPr>
          <p:cNvPr id="10" name="Text 7"/>
          <p:cNvSpPr txBox="1"/>
          <p:nvPr/>
        </p:nvSpPr>
        <p:spPr>
          <a:xfrm>
            <a:off x="274320" y="1463040"/>
            <a:ext cx="4581144" cy="2487168"/>
          </a:xfrm>
          <a:prstGeom prst="rect">
            <a:avLst/>
          </a:prstGeom>
          <a:noFill/>
          <a:ln/>
        </p:spPr>
        <p:txBody>
          <a:bodyPr wrap="square" lIns="0" tIns="0" rIns="0" bIns="0" rtlCol="0" anchor="t"/>
          <a:lstStyle/>
          <a:p>
            <a:pPr indent="0" marL="0">
              <a:lnSpc>
                <a:spcPct val="100000"/>
              </a:lnSpc>
              <a:buNone/>
            </a:pPr>
            <a:r>
              <a:rPr lang="en-US" sz="1150" b="1" dirty="0">
                <a:solidFill>
                  <a:srgbClr val="1F4E79"/>
                </a:solidFill>
                <a:latin typeface="Arial" pitchFamily="34" charset="0"/>
                <a:ea typeface="Arial" pitchFamily="34" charset="-122"/>
                <a:cs typeface="Arial" pitchFamily="34" charset="-120"/>
              </a:rPr>
              <a:t>Technical  </a:t>
            </a:r>
            <a:pPr indent="0" marL="0">
              <a:lnSpc>
                <a:spcPct val="100000"/>
              </a:lnSpc>
              <a:spcAft>
                <a:spcPts val="600"/>
              </a:spcAft>
              <a:buNone/>
            </a:pPr>
            <a:r>
              <a:rPr lang="en-US" sz="1150" dirty="0">
                <a:solidFill>
                  <a:srgbClr val="000000"/>
                </a:solidFill>
                <a:latin typeface="Arial" pitchFamily="34" charset="0"/>
                <a:ea typeface="Arial" pitchFamily="34" charset="-122"/>
                <a:cs typeface="Arial" pitchFamily="34" charset="-120"/>
              </a:rPr>
              <a:t>Every input is already in orbit and already free. No new satellite, no new gauges, nothing trained from scratch.</a:t>
            </a:r>
            <a:endParaRPr lang="en-US" sz="1150" dirty="0"/>
          </a:p>
          <a:p>
            <a:pPr indent="0" marL="0">
              <a:lnSpc>
                <a:spcPct val="100000"/>
              </a:lnSpc>
              <a:buNone/>
            </a:pPr>
            <a:r>
              <a:rPr lang="en-US" sz="1150" b="1" dirty="0">
                <a:solidFill>
                  <a:srgbClr val="1F4E79"/>
                </a:solidFill>
                <a:latin typeface="Arial" pitchFamily="34" charset="0"/>
                <a:ea typeface="Arial" pitchFamily="34" charset="-122"/>
                <a:cs typeface="Arial" pitchFamily="34" charset="-120"/>
              </a:rPr>
              <a:t>Operational  </a:t>
            </a:r>
            <a:pPr indent="0" marL="0">
              <a:lnSpc>
                <a:spcPct val="100000"/>
              </a:lnSpc>
              <a:spcAft>
                <a:spcPts val="600"/>
              </a:spcAft>
              <a:buNone/>
            </a:pPr>
            <a:r>
              <a:rPr lang="en-US" sz="1150" dirty="0">
                <a:solidFill>
                  <a:srgbClr val="000000"/>
                </a:solidFill>
                <a:latin typeface="Arial" pitchFamily="34" charset="0"/>
                <a:ea typeface="Arial" pitchFamily="34" charset="-122"/>
                <a:cs typeface="Arial" pitchFamily="34" charset="-120"/>
              </a:rPr>
              <a:t>The national alert system reaches all 36 states and union territories in over nineteen languages. It has no landslide generator. We become one.</a:t>
            </a:r>
            <a:endParaRPr lang="en-US" sz="1150" dirty="0"/>
          </a:p>
          <a:p>
            <a:pPr indent="0" marL="0">
              <a:lnSpc>
                <a:spcPct val="100000"/>
              </a:lnSpc>
              <a:buNone/>
            </a:pPr>
            <a:r>
              <a:rPr lang="en-US" sz="1150" b="1" dirty="0">
                <a:solidFill>
                  <a:srgbClr val="1F4E79"/>
                </a:solidFill>
                <a:latin typeface="Arial" pitchFamily="34" charset="0"/>
                <a:ea typeface="Arial" pitchFamily="34" charset="-122"/>
                <a:cs typeface="Arial" pitchFamily="34" charset="-120"/>
              </a:rPr>
              <a:t>Economic  </a:t>
            </a:r>
            <a:pPr indent="0" marL="0">
              <a:lnSpc>
                <a:spcPct val="100000"/>
              </a:lnSpc>
              <a:spcAft>
                <a:spcPts val="600"/>
              </a:spcAft>
              <a:buNone/>
            </a:pPr>
            <a:r>
              <a:rPr lang="en-US" sz="1150" dirty="0">
                <a:solidFill>
                  <a:srgbClr val="000000"/>
                </a:solidFill>
                <a:latin typeface="Arial" pitchFamily="34" charset="0"/>
                <a:ea typeface="Arial" pitchFamily="34" charset="-122"/>
                <a:cs typeface="Arial" pitchFamily="34" charset="-120"/>
              </a:rPr>
              <a:t>Free interferometry quotas cover hundreds of district-scale pairs a month. Watching one more slope costs nothing.</a:t>
            </a:r>
            <a:endParaRPr lang="en-US" sz="1150" dirty="0"/>
          </a:p>
          <a:p>
            <a:pPr indent="0" marL="0">
              <a:lnSpc>
                <a:spcPct val="100000"/>
              </a:lnSpc>
              <a:buNone/>
            </a:pPr>
            <a:r>
              <a:rPr lang="en-US" sz="1150" b="1" dirty="0">
                <a:solidFill>
                  <a:srgbClr val="1F4E79"/>
                </a:solidFill>
                <a:latin typeface="Arial" pitchFamily="34" charset="0"/>
                <a:ea typeface="Arial" pitchFamily="34" charset="-122"/>
                <a:cs typeface="Arial" pitchFamily="34" charset="-120"/>
              </a:rPr>
              <a:t>Institutional  </a:t>
            </a:r>
            <a:pPr indent="0" marL="0">
              <a:lnSpc>
                <a:spcPct val="100000"/>
              </a:lnSpc>
              <a:buNone/>
            </a:pPr>
            <a:r>
              <a:rPr lang="en-US" sz="1150" dirty="0">
                <a:solidFill>
                  <a:srgbClr val="000000"/>
                </a:solidFill>
                <a:latin typeface="Arial" pitchFamily="34" charset="0"/>
                <a:ea typeface="Arial" pitchFamily="34" charset="-122"/>
                <a:cs typeface="Arial" pitchFamily="34" charset="-120"/>
              </a:rPr>
              <a:t>Amrita built India's first landslide sensor network, and Kerala acted on its alerts at Munnar in 2009. We extend our own field experience.</a:t>
            </a:r>
            <a:endParaRPr lang="en-US" sz="1150" dirty="0"/>
          </a:p>
        </p:txBody>
      </p:sp>
      <p:sp>
        <p:nvSpPr>
          <p:cNvPr id="11" name="Shape 8"/>
          <p:cNvSpPr/>
          <p:nvPr/>
        </p:nvSpPr>
        <p:spPr>
          <a:xfrm>
            <a:off x="256032" y="4041648"/>
            <a:ext cx="4617720" cy="2194560"/>
          </a:xfrm>
          <a:prstGeom prst="rect">
            <a:avLst/>
          </a:prstGeom>
          <a:solidFill>
            <a:srgbClr val="FBE5D6"/>
          </a:solidFill>
          <a:ln w="15875">
            <a:solidFill>
              <a:srgbClr val="C55A11"/>
            </a:solidFill>
            <a:prstDash val="solid"/>
          </a:ln>
        </p:spPr>
      </p:sp>
      <p:sp>
        <p:nvSpPr>
          <p:cNvPr id="12" name="Text 9"/>
          <p:cNvSpPr txBox="1"/>
          <p:nvPr/>
        </p:nvSpPr>
        <p:spPr>
          <a:xfrm>
            <a:off x="384048" y="4151376"/>
            <a:ext cx="4361688" cy="1975104"/>
          </a:xfrm>
          <a:prstGeom prst="rect">
            <a:avLst/>
          </a:prstGeom>
          <a:noFill/>
          <a:ln/>
        </p:spPr>
        <p:txBody>
          <a:bodyPr wrap="square" lIns="0" tIns="0" rIns="0" bIns="0" rtlCol="0" anchor="t"/>
          <a:lstStyle/>
          <a:p>
            <a:pPr indent="0" marL="0">
              <a:lnSpc>
                <a:spcPct val="100000"/>
              </a:lnSpc>
              <a:spcAft>
                <a:spcPts val="500"/>
              </a:spcAft>
              <a:buNone/>
            </a:pPr>
            <a:r>
              <a:rPr lang="en-US" sz="1300" b="1" dirty="0">
                <a:solidFill>
                  <a:srgbClr val="C55A11"/>
                </a:solidFill>
                <a:latin typeface="Arial" pitchFamily="34" charset="0"/>
                <a:ea typeface="Arial" pitchFamily="34" charset="-122"/>
                <a:cs typeface="Arial" pitchFamily="34" charset="-120"/>
              </a:rPr>
              <a:t>Why a new approach is needed</a:t>
            </a:r>
            <a:endParaRPr lang="en-US" sz="1100" dirty="0"/>
          </a:p>
          <a:p>
            <a:pPr indent="0" marL="0">
              <a:lnSpc>
                <a:spcPct val="100000"/>
              </a:lnSpc>
              <a:spcAft>
                <a:spcPts val="500"/>
              </a:spcAft>
              <a:buNone/>
            </a:pPr>
            <a:r>
              <a:rPr lang="en-US" sz="1100" dirty="0">
                <a:solidFill>
                  <a:srgbClr val="000000"/>
                </a:solidFill>
                <a:latin typeface="Arial" pitchFamily="34" charset="0"/>
                <a:ea typeface="Arial" pitchFamily="34" charset="-122"/>
                <a:cs typeface="Arial" pitchFamily="34" charset="-120"/>
              </a:rPr>
              <a:t>India's landslide maps say where, never when. Forecasting is operational in three districts nationwide and none in the North East. The published roadmap reaches only eighteen districts here by 2030, against eighty-seven that are landslide-prone.</a:t>
            </a:r>
            <a:endParaRPr lang="en-US" sz="1100" dirty="0"/>
          </a:p>
          <a:p>
            <a:pPr indent="0" marL="0">
              <a:lnSpc>
                <a:spcPct val="100000"/>
              </a:lnSpc>
              <a:buNone/>
            </a:pPr>
            <a:r>
              <a:rPr lang="en-US" sz="1100" b="1" dirty="0">
                <a:solidFill>
                  <a:srgbClr val="000000"/>
                </a:solidFill>
                <a:latin typeface="Arial" pitchFamily="34" charset="0"/>
                <a:ea typeface="Arial" pitchFamily="34" charset="-122"/>
                <a:cs typeface="Arial" pitchFamily="34" charset="-120"/>
              </a:rPr>
              <a:t>Waiting is not a plan. Everything Lum needs is already overhead.</a:t>
            </a:r>
            <a:endParaRPr lang="en-US" sz="1100" dirty="0"/>
          </a:p>
        </p:txBody>
      </p:sp>
      <p:sp>
        <p:nvSpPr>
          <p:cNvPr id="13" name="Text 10"/>
          <p:cNvSpPr txBox="1"/>
          <p:nvPr/>
        </p:nvSpPr>
        <p:spPr>
          <a:xfrm>
            <a:off x="5120640" y="1115568"/>
            <a:ext cx="3310128" cy="274320"/>
          </a:xfrm>
          <a:prstGeom prst="rect">
            <a:avLst/>
          </a:prstGeom>
          <a:noFill/>
          <a:ln/>
        </p:spPr>
        <p:txBody>
          <a:bodyPr wrap="square" lIns="0" tIns="0" rIns="0" bIns="0" rtlCol="0" anchor="ctr"/>
          <a:lstStyle/>
          <a:p>
            <a:pPr indent="0" marL="0">
              <a:buNone/>
            </a:pPr>
            <a:r>
              <a:rPr lang="en-US" sz="1150" b="1" u="sng" dirty="0">
                <a:solidFill>
                  <a:srgbClr val="1F4E79"/>
                </a:solidFill>
                <a:latin typeface="Arial" pitchFamily="34" charset="0"/>
                <a:ea typeface="Arial" pitchFamily="34" charset="-122"/>
                <a:cs typeface="Arial" pitchFamily="34" charset="-120"/>
              </a:rPr>
              <a:t>◆  Potential challenges and risks</a:t>
            </a:r>
            <a:endParaRPr lang="en-US" sz="1150" dirty="0"/>
          </a:p>
        </p:txBody>
      </p:sp>
      <p:sp>
        <p:nvSpPr>
          <p:cNvPr id="14" name="Text 11"/>
          <p:cNvSpPr txBox="1"/>
          <p:nvPr/>
        </p:nvSpPr>
        <p:spPr>
          <a:xfrm>
            <a:off x="8577072" y="1115568"/>
            <a:ext cx="3355848" cy="274320"/>
          </a:xfrm>
          <a:prstGeom prst="rect">
            <a:avLst/>
          </a:prstGeom>
          <a:noFill/>
          <a:ln/>
        </p:spPr>
        <p:txBody>
          <a:bodyPr wrap="square" lIns="0" tIns="0" rIns="0" bIns="0" rtlCol="0" anchor="ctr"/>
          <a:lstStyle/>
          <a:p>
            <a:pPr indent="0" marL="0">
              <a:buNone/>
            </a:pPr>
            <a:r>
              <a:rPr lang="en-US" sz="1150" b="1" u="sng" dirty="0">
                <a:solidFill>
                  <a:srgbClr val="1F4E79"/>
                </a:solidFill>
                <a:latin typeface="Arial" pitchFamily="34" charset="0"/>
                <a:ea typeface="Arial" pitchFamily="34" charset="-122"/>
                <a:cs typeface="Arial" pitchFamily="34" charset="-120"/>
              </a:rPr>
              <a:t>◆  Strategies for overcoming these challenges</a:t>
            </a:r>
            <a:endParaRPr lang="en-US" sz="1150" dirty="0"/>
          </a:p>
        </p:txBody>
      </p:sp>
      <p:sp>
        <p:nvSpPr>
          <p:cNvPr id="15" name="Shape 12"/>
          <p:cNvSpPr/>
          <p:nvPr/>
        </p:nvSpPr>
        <p:spPr>
          <a:xfrm>
            <a:off x="5120640" y="1481328"/>
            <a:ext cx="3310128" cy="896112"/>
          </a:xfrm>
          <a:prstGeom prst="rect">
            <a:avLst/>
          </a:prstGeom>
          <a:solidFill>
            <a:srgbClr val="FBE5E5"/>
          </a:solidFill>
          <a:ln w="15875">
            <a:solidFill>
              <a:srgbClr val="E0A0A0"/>
            </a:solidFill>
            <a:prstDash val="solid"/>
          </a:ln>
        </p:spPr>
      </p:sp>
      <p:sp>
        <p:nvSpPr>
          <p:cNvPr id="16" name="Shape 13"/>
          <p:cNvSpPr/>
          <p:nvPr/>
        </p:nvSpPr>
        <p:spPr>
          <a:xfrm>
            <a:off x="8577072" y="1481328"/>
            <a:ext cx="3355848" cy="896112"/>
          </a:xfrm>
          <a:prstGeom prst="rect">
            <a:avLst/>
          </a:prstGeom>
          <a:solidFill>
            <a:srgbClr val="E2EFDA"/>
          </a:solidFill>
          <a:ln w="15875">
            <a:solidFill>
              <a:srgbClr val="A9D08E"/>
            </a:solidFill>
            <a:prstDash val="solid"/>
          </a:ln>
        </p:spPr>
      </p:sp>
      <p:sp>
        <p:nvSpPr>
          <p:cNvPr id="17" name="Text 14"/>
          <p:cNvSpPr txBox="1"/>
          <p:nvPr/>
        </p:nvSpPr>
        <p:spPr>
          <a:xfrm>
            <a:off x="5212080" y="1527048"/>
            <a:ext cx="3127248" cy="80467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Arial" pitchFamily="34" charset="0"/>
                <a:ea typeface="Arial" pitchFamily="34" charset="-122"/>
                <a:cs typeface="Arial" pitchFamily="34" charset="-120"/>
              </a:rPr>
              <a:t>Radar cannot see a shallow slope that fails in a single night.</a:t>
            </a:r>
            <a:endParaRPr lang="en-US" sz="1050" dirty="0"/>
          </a:p>
        </p:txBody>
      </p:sp>
      <p:sp>
        <p:nvSpPr>
          <p:cNvPr id="18" name="Text 15"/>
          <p:cNvSpPr txBox="1"/>
          <p:nvPr/>
        </p:nvSpPr>
        <p:spPr>
          <a:xfrm>
            <a:off x="8668512" y="1527048"/>
            <a:ext cx="3172968" cy="80467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Arial" pitchFamily="34" charset="0"/>
                <a:ea typeface="Arial" pitchFamily="34" charset="-122"/>
                <a:cs typeface="Arial" pitchFamily="34" charset="-120"/>
              </a:rPr>
              <a:t>Exactly why the fast clock exists. Radar says where, rainfall says when.</a:t>
            </a:r>
            <a:endParaRPr lang="en-US" sz="1050" dirty="0"/>
          </a:p>
        </p:txBody>
      </p:sp>
      <p:sp>
        <p:nvSpPr>
          <p:cNvPr id="19" name="Shape 16"/>
          <p:cNvSpPr/>
          <p:nvPr/>
        </p:nvSpPr>
        <p:spPr>
          <a:xfrm>
            <a:off x="5120640" y="2450592"/>
            <a:ext cx="3310128" cy="896112"/>
          </a:xfrm>
          <a:prstGeom prst="rect">
            <a:avLst/>
          </a:prstGeom>
          <a:solidFill>
            <a:srgbClr val="FBE5E5"/>
          </a:solidFill>
          <a:ln w="15875">
            <a:solidFill>
              <a:srgbClr val="E0A0A0"/>
            </a:solidFill>
            <a:prstDash val="solid"/>
          </a:ln>
        </p:spPr>
      </p:sp>
      <p:sp>
        <p:nvSpPr>
          <p:cNvPr id="20" name="Shape 17"/>
          <p:cNvSpPr/>
          <p:nvPr/>
        </p:nvSpPr>
        <p:spPr>
          <a:xfrm>
            <a:off x="8577072" y="2450592"/>
            <a:ext cx="3355848" cy="896112"/>
          </a:xfrm>
          <a:prstGeom prst="rect">
            <a:avLst/>
          </a:prstGeom>
          <a:solidFill>
            <a:srgbClr val="E2EFDA"/>
          </a:solidFill>
          <a:ln w="15875">
            <a:solidFill>
              <a:srgbClr val="A9D08E"/>
            </a:solidFill>
            <a:prstDash val="solid"/>
          </a:ln>
        </p:spPr>
      </p:sp>
      <p:sp>
        <p:nvSpPr>
          <p:cNvPr id="21" name="Text 18"/>
          <p:cNvSpPr txBox="1"/>
          <p:nvPr/>
        </p:nvSpPr>
        <p:spPr>
          <a:xfrm>
            <a:off x="5212080" y="2496312"/>
            <a:ext cx="3127248" cy="80467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Arial" pitchFamily="34" charset="0"/>
                <a:ea typeface="Arial" pitchFamily="34" charset="-122"/>
                <a:cs typeface="Arial" pitchFamily="34" charset="-120"/>
              </a:rPr>
              <a:t>Monsoon cloud blinds optical satellites when landslides happen.</a:t>
            </a:r>
            <a:endParaRPr lang="en-US" sz="1050" dirty="0"/>
          </a:p>
        </p:txBody>
      </p:sp>
      <p:sp>
        <p:nvSpPr>
          <p:cNvPr id="22" name="Text 19"/>
          <p:cNvSpPr txBox="1"/>
          <p:nvPr/>
        </p:nvSpPr>
        <p:spPr>
          <a:xfrm>
            <a:off x="8668512" y="2496312"/>
            <a:ext cx="3172968" cy="80467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Arial" pitchFamily="34" charset="0"/>
                <a:ea typeface="Arial" pitchFamily="34" charset="-122"/>
                <a:cs typeface="Arial" pitchFamily="34" charset="-120"/>
              </a:rPr>
              <a:t>Radar sees through cloud. The design is radar-first by necessity.</a:t>
            </a:r>
            <a:endParaRPr lang="en-US" sz="1050" dirty="0"/>
          </a:p>
        </p:txBody>
      </p:sp>
      <p:sp>
        <p:nvSpPr>
          <p:cNvPr id="23" name="Shape 20"/>
          <p:cNvSpPr/>
          <p:nvPr/>
        </p:nvSpPr>
        <p:spPr>
          <a:xfrm>
            <a:off x="5120640" y="3419856"/>
            <a:ext cx="3310128" cy="896112"/>
          </a:xfrm>
          <a:prstGeom prst="rect">
            <a:avLst/>
          </a:prstGeom>
          <a:solidFill>
            <a:srgbClr val="FBE5E5"/>
          </a:solidFill>
          <a:ln w="15875">
            <a:solidFill>
              <a:srgbClr val="E0A0A0"/>
            </a:solidFill>
            <a:prstDash val="solid"/>
          </a:ln>
        </p:spPr>
      </p:sp>
      <p:sp>
        <p:nvSpPr>
          <p:cNvPr id="24" name="Shape 21"/>
          <p:cNvSpPr/>
          <p:nvPr/>
        </p:nvSpPr>
        <p:spPr>
          <a:xfrm>
            <a:off x="8577072" y="3419856"/>
            <a:ext cx="3355848" cy="896112"/>
          </a:xfrm>
          <a:prstGeom prst="rect">
            <a:avLst/>
          </a:prstGeom>
          <a:solidFill>
            <a:srgbClr val="E2EFDA"/>
          </a:solidFill>
          <a:ln w="15875">
            <a:solidFill>
              <a:srgbClr val="A9D08E"/>
            </a:solidFill>
            <a:prstDash val="solid"/>
          </a:ln>
        </p:spPr>
      </p:sp>
      <p:sp>
        <p:nvSpPr>
          <p:cNvPr id="25" name="Text 22"/>
          <p:cNvSpPr txBox="1"/>
          <p:nvPr/>
        </p:nvSpPr>
        <p:spPr>
          <a:xfrm>
            <a:off x="5212080" y="3465576"/>
            <a:ext cx="3127248" cy="80467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Arial" pitchFamily="34" charset="0"/>
                <a:ea typeface="Arial" pitchFamily="34" charset="-122"/>
                <a:cs typeface="Arial" pitchFamily="34" charset="-120"/>
              </a:rPr>
              <a:t>Landslide data is severely imbalanced; naive models score no better than chance.</a:t>
            </a:r>
            <a:endParaRPr lang="en-US" sz="1050" dirty="0"/>
          </a:p>
        </p:txBody>
      </p:sp>
      <p:sp>
        <p:nvSpPr>
          <p:cNvPr id="26" name="Text 23"/>
          <p:cNvSpPr txBox="1"/>
          <p:nvPr/>
        </p:nvSpPr>
        <p:spPr>
          <a:xfrm>
            <a:off x="8668512" y="3465576"/>
            <a:ext cx="3172968" cy="80467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Arial" pitchFamily="34" charset="0"/>
                <a:ea typeface="Arial" pitchFamily="34" charset="-122"/>
                <a:cs typeface="Arial" pitchFamily="34" charset="-120"/>
              </a:rPr>
              <a:t>Informed undersampling, physics-constrained negatives, spatial cross-validation.</a:t>
            </a:r>
            <a:endParaRPr lang="en-US" sz="1050" dirty="0"/>
          </a:p>
        </p:txBody>
      </p:sp>
      <p:sp>
        <p:nvSpPr>
          <p:cNvPr id="27" name="Shape 24"/>
          <p:cNvSpPr/>
          <p:nvPr/>
        </p:nvSpPr>
        <p:spPr>
          <a:xfrm>
            <a:off x="5120640" y="4389120"/>
            <a:ext cx="3310128" cy="896112"/>
          </a:xfrm>
          <a:prstGeom prst="rect">
            <a:avLst/>
          </a:prstGeom>
          <a:solidFill>
            <a:srgbClr val="FBE5E5"/>
          </a:solidFill>
          <a:ln w="15875">
            <a:solidFill>
              <a:srgbClr val="E0A0A0"/>
            </a:solidFill>
            <a:prstDash val="solid"/>
          </a:ln>
        </p:spPr>
      </p:sp>
      <p:sp>
        <p:nvSpPr>
          <p:cNvPr id="28" name="Shape 25"/>
          <p:cNvSpPr/>
          <p:nvPr/>
        </p:nvSpPr>
        <p:spPr>
          <a:xfrm>
            <a:off x="8577072" y="4389120"/>
            <a:ext cx="3355848" cy="896112"/>
          </a:xfrm>
          <a:prstGeom prst="rect">
            <a:avLst/>
          </a:prstGeom>
          <a:solidFill>
            <a:srgbClr val="E2EFDA"/>
          </a:solidFill>
          <a:ln w="15875">
            <a:solidFill>
              <a:srgbClr val="A9D08E"/>
            </a:solidFill>
            <a:prstDash val="solid"/>
          </a:ln>
        </p:spPr>
      </p:sp>
      <p:sp>
        <p:nvSpPr>
          <p:cNvPr id="29" name="Text 26"/>
          <p:cNvSpPr txBox="1"/>
          <p:nvPr/>
        </p:nvSpPr>
        <p:spPr>
          <a:xfrm>
            <a:off x="5212080" y="4434840"/>
            <a:ext cx="3127248" cy="80467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Arial" pitchFamily="34" charset="0"/>
                <a:ea typeface="Arial" pitchFamily="34" charset="-122"/>
                <a:cs typeface="Arial" pitchFamily="34" charset="-120"/>
              </a:rPr>
              <a:t>False alarms get a warning system switched off in one season.</a:t>
            </a:r>
            <a:endParaRPr lang="en-US" sz="1050" dirty="0"/>
          </a:p>
        </p:txBody>
      </p:sp>
      <p:sp>
        <p:nvSpPr>
          <p:cNvPr id="30" name="Text 27"/>
          <p:cNvSpPr txBox="1"/>
          <p:nvPr/>
        </p:nvSpPr>
        <p:spPr>
          <a:xfrm>
            <a:off x="8668512" y="4434840"/>
            <a:ext cx="3172968" cy="80467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Arial" pitchFamily="34" charset="0"/>
                <a:ea typeface="Arial" pitchFamily="34" charset="-122"/>
                <a:cs typeface="Arial" pitchFamily="34" charset="-120"/>
              </a:rPr>
              <a:t>Rainfall-only false alarms run near one in eight. Adding deformation removed them.</a:t>
            </a:r>
            <a:endParaRPr lang="en-US" sz="1050" dirty="0"/>
          </a:p>
        </p:txBody>
      </p:sp>
      <p:sp>
        <p:nvSpPr>
          <p:cNvPr id="31" name="Shape 28"/>
          <p:cNvSpPr/>
          <p:nvPr/>
        </p:nvSpPr>
        <p:spPr>
          <a:xfrm>
            <a:off x="5120640" y="5358384"/>
            <a:ext cx="3310128" cy="896112"/>
          </a:xfrm>
          <a:prstGeom prst="rect">
            <a:avLst/>
          </a:prstGeom>
          <a:solidFill>
            <a:srgbClr val="FBE5E5"/>
          </a:solidFill>
          <a:ln w="15875">
            <a:solidFill>
              <a:srgbClr val="E0A0A0"/>
            </a:solidFill>
            <a:prstDash val="solid"/>
          </a:ln>
        </p:spPr>
      </p:sp>
      <p:sp>
        <p:nvSpPr>
          <p:cNvPr id="32" name="Shape 29"/>
          <p:cNvSpPr/>
          <p:nvPr/>
        </p:nvSpPr>
        <p:spPr>
          <a:xfrm>
            <a:off x="8577072" y="5358384"/>
            <a:ext cx="3355848" cy="896112"/>
          </a:xfrm>
          <a:prstGeom prst="rect">
            <a:avLst/>
          </a:prstGeom>
          <a:solidFill>
            <a:srgbClr val="E2EFDA"/>
          </a:solidFill>
          <a:ln w="15875">
            <a:solidFill>
              <a:srgbClr val="A9D08E"/>
            </a:solidFill>
            <a:prstDash val="solid"/>
          </a:ln>
        </p:spPr>
      </p:sp>
      <p:sp>
        <p:nvSpPr>
          <p:cNvPr id="33" name="Text 30"/>
          <p:cNvSpPr txBox="1"/>
          <p:nvPr/>
        </p:nvSpPr>
        <p:spPr>
          <a:xfrm>
            <a:off x="5212080" y="5404104"/>
            <a:ext cx="3127248" cy="80467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Arial" pitchFamily="34" charset="0"/>
                <a:ea typeface="Arial" pitchFamily="34" charset="-122"/>
                <a:cs typeface="Arial" pitchFamily="34" charset="-120"/>
              </a:rPr>
              <a:t>1,841 villages cannot receive a phone alert at all.</a:t>
            </a:r>
            <a:endParaRPr lang="en-US" sz="1050" dirty="0"/>
          </a:p>
        </p:txBody>
      </p:sp>
      <p:sp>
        <p:nvSpPr>
          <p:cNvPr id="34" name="Text 31"/>
          <p:cNvSpPr txBox="1"/>
          <p:nvPr/>
        </p:nvSpPr>
        <p:spPr>
          <a:xfrm>
            <a:off x="8668512" y="5404104"/>
            <a:ext cx="3172968" cy="804672"/>
          </a:xfrm>
          <a:prstGeom prst="rect">
            <a:avLst/>
          </a:prstGeom>
          <a:noFill/>
          <a:ln/>
        </p:spPr>
        <p:txBody>
          <a:bodyPr wrap="square" lIns="0" tIns="0" rIns="0" bIns="0" rtlCol="0" anchor="ctr"/>
          <a:lstStyle/>
          <a:p>
            <a:pPr indent="0" marL="0">
              <a:lnSpc>
                <a:spcPct val="100000"/>
              </a:lnSpc>
              <a:buNone/>
            </a:pPr>
            <a:r>
              <a:rPr lang="en-US" sz="1050" dirty="0">
                <a:solidFill>
                  <a:srgbClr val="000000"/>
                </a:solidFill>
                <a:latin typeface="Arial" pitchFamily="34" charset="0"/>
                <a:ea typeface="Arial" pitchFamily="34" charset="-122"/>
                <a:cs typeface="Arial" pitchFamily="34" charset="-120"/>
              </a:rPr>
              <a:t>LoRa sirens on the gateways already carrying sensor data, satellite messaging beyond.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Shape 0"/>
          <p:cNvSpPr/>
          <p:nvPr/>
        </p:nvSpPr>
        <p:spPr>
          <a:xfrm>
            <a:off x="0" y="6355080"/>
            <a:ext cx="12188952" cy="502920"/>
          </a:xfrm>
          <a:prstGeom prst="rect">
            <a:avLst/>
          </a:prstGeom>
          <a:solidFill>
            <a:srgbClr val="0070C0"/>
          </a:solidFill>
          <a:ln w="12700">
            <a:solidFill>
              <a:srgbClr val="0070C0"/>
            </a:solidFill>
            <a:prstDash val="solid"/>
          </a:ln>
        </p:spPr>
      </p:sp>
      <p:sp>
        <p:nvSpPr>
          <p:cNvPr id="4" name="Text 1"/>
          <p:cNvSpPr txBox="1"/>
          <p:nvPr/>
        </p:nvSpPr>
        <p:spPr>
          <a:xfrm>
            <a:off x="4645152" y="6355080"/>
            <a:ext cx="32004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@SIH Idea submission- Template</a:t>
            </a:r>
            <a:endParaRPr lang="en-US" sz="1200" dirty="0"/>
          </a:p>
        </p:txBody>
      </p:sp>
      <p:sp>
        <p:nvSpPr>
          <p:cNvPr id="5" name="Text 2"/>
          <p:cNvSpPr txBox="1"/>
          <p:nvPr/>
        </p:nvSpPr>
        <p:spPr>
          <a:xfrm>
            <a:off x="10607040" y="6355080"/>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6" name="Shape 3"/>
          <p:cNvSpPr/>
          <p:nvPr/>
        </p:nvSpPr>
        <p:spPr>
          <a:xfrm>
            <a:off x="292608" y="91440"/>
            <a:ext cx="1060704" cy="713232"/>
          </a:xfrm>
          <a:prstGeom prst="ellipse">
            <a:avLst/>
          </a:prstGeom>
          <a:solidFill>
            <a:srgbClr val="FFFFFF"/>
          </a:solidFill>
          <a:ln w="15875">
            <a:solidFill>
              <a:srgbClr val="8064A2"/>
            </a:solidFill>
            <a:prstDash val="solid"/>
          </a:ln>
        </p:spPr>
      </p:sp>
      <p:sp>
        <p:nvSpPr>
          <p:cNvPr id="7" name="Text 4"/>
          <p:cNvSpPr txBox="1"/>
          <p:nvPr/>
        </p:nvSpPr>
        <p:spPr>
          <a:xfrm>
            <a:off x="292608" y="91440"/>
            <a:ext cx="1060704" cy="713232"/>
          </a:xfrm>
          <a:prstGeom prst="rect">
            <a:avLst/>
          </a:prstGeom>
          <a:noFill/>
          <a:ln/>
        </p:spPr>
        <p:txBody>
          <a:bodyPr wrap="square" lIns="0" tIns="0" rIns="0" bIns="0" rtlCol="0" anchor="ctr"/>
          <a:lstStyle/>
          <a:p>
            <a:pPr algn="ctr" indent="0" marL="0">
              <a:buNone/>
            </a:pPr>
            <a:r>
              <a:rPr lang="en-US" sz="1300" dirty="0">
                <a:solidFill>
                  <a:srgbClr val="000000"/>
                </a:solidFill>
                <a:latin typeface="Arial" pitchFamily="34" charset="0"/>
                <a:ea typeface="Arial" pitchFamily="34" charset="-122"/>
                <a:cs typeface="Arial" pitchFamily="34" charset="-120"/>
              </a:rPr>
              <a:t>Aura</a:t>
            </a:r>
            <a:endParaRPr lang="en-US" sz="1300" dirty="0"/>
          </a:p>
        </p:txBody>
      </p:sp>
      <p:sp>
        <p:nvSpPr>
          <p:cNvPr id="8" name="Text 5"/>
          <p:cNvSpPr txBox="1"/>
          <p:nvPr/>
        </p:nvSpPr>
        <p:spPr>
          <a:xfrm>
            <a:off x="1463040" y="54864"/>
            <a:ext cx="8229600" cy="749808"/>
          </a:xfrm>
          <a:prstGeom prst="rect">
            <a:avLst/>
          </a:prstGeom>
          <a:noFill/>
          <a:ln/>
        </p:spPr>
        <p:txBody>
          <a:bodyPr wrap="square" lIns="0" tIns="0" rIns="0" bIns="0" rtlCol="0" anchor="ctr"/>
          <a:lstStyle/>
          <a:p>
            <a:pPr algn="ctr" indent="0" marL="0">
              <a:buNone/>
            </a:pPr>
            <a:r>
              <a:rPr lang="en-US" sz="2300" b="1" dirty="0">
                <a:solidFill>
                  <a:srgbClr val="000000"/>
                </a:solidFill>
                <a:latin typeface="Times New Roman" pitchFamily="34" charset="0"/>
                <a:ea typeface="Times New Roman" pitchFamily="34" charset="-122"/>
                <a:cs typeface="Times New Roman" pitchFamily="34" charset="-120"/>
              </a:rPr>
              <a:t>IMPACT AND BENEFITS</a:t>
            </a:r>
            <a:endParaRPr lang="en-US" sz="2300" dirty="0"/>
          </a:p>
        </p:txBody>
      </p:sp>
      <p:sp>
        <p:nvSpPr>
          <p:cNvPr id="9" name="Text 6"/>
          <p:cNvSpPr txBox="1"/>
          <p:nvPr/>
        </p:nvSpPr>
        <p:spPr>
          <a:xfrm>
            <a:off x="256032" y="896112"/>
            <a:ext cx="11676888" cy="274320"/>
          </a:xfrm>
          <a:prstGeom prst="rect">
            <a:avLst/>
          </a:prstGeom>
          <a:noFill/>
          <a:ln/>
        </p:spPr>
        <p:txBody>
          <a:bodyPr wrap="square" lIns="0" tIns="0" rIns="0" bIns="0" rtlCol="0" anchor="ctr"/>
          <a:lstStyle/>
          <a:p>
            <a:pPr indent="0" marL="0">
              <a:buNone/>
            </a:pPr>
            <a:r>
              <a:rPr lang="en-US" sz="1300" b="1" u="sng" dirty="0">
                <a:solidFill>
                  <a:srgbClr val="1F4E79"/>
                </a:solidFill>
                <a:latin typeface="Arial" pitchFamily="34" charset="0"/>
                <a:ea typeface="Arial" pitchFamily="34" charset="-122"/>
                <a:cs typeface="Arial" pitchFamily="34" charset="-120"/>
              </a:rPr>
              <a:t>◆  Potential impact on the target audience</a:t>
            </a:r>
            <a:endParaRPr lang="en-US" sz="1300" dirty="0"/>
          </a:p>
        </p:txBody>
      </p:sp>
      <p:pic>
        <p:nvPicPr>
          <p:cNvPr id="10" name="Image 1" descr="/home/claude/impact.png">    </p:cNvPr>
          <p:cNvPicPr>
            <a:picLocks noChangeAspect="1"/>
          </p:cNvPicPr>
          <p:nvPr/>
        </p:nvPicPr>
        <p:blipFill>
          <a:blip r:embed="rId2"/>
          <a:stretch>
            <a:fillRect/>
          </a:stretch>
        </p:blipFill>
        <p:spPr>
          <a:xfrm>
            <a:off x="256032" y="1170432"/>
            <a:ext cx="11338560" cy="2532888"/>
          </a:xfrm>
          <a:prstGeom prst="rect">
            <a:avLst/>
          </a:prstGeom>
        </p:spPr>
      </p:pic>
      <p:sp>
        <p:nvSpPr>
          <p:cNvPr id="11" name="Text 7"/>
          <p:cNvSpPr txBox="1"/>
          <p:nvPr/>
        </p:nvSpPr>
        <p:spPr>
          <a:xfrm>
            <a:off x="256032" y="3776472"/>
            <a:ext cx="11676888" cy="274320"/>
          </a:xfrm>
          <a:prstGeom prst="rect">
            <a:avLst/>
          </a:prstGeom>
          <a:noFill/>
          <a:ln/>
        </p:spPr>
        <p:txBody>
          <a:bodyPr wrap="square" lIns="0" tIns="0" rIns="0" bIns="0" rtlCol="0" anchor="ctr"/>
          <a:lstStyle/>
          <a:p>
            <a:pPr indent="0" marL="0">
              <a:buNone/>
            </a:pPr>
            <a:r>
              <a:rPr lang="en-US" sz="1300" b="1" u="sng" dirty="0">
                <a:solidFill>
                  <a:srgbClr val="1F4E79"/>
                </a:solidFill>
                <a:latin typeface="Arial" pitchFamily="34" charset="0"/>
                <a:ea typeface="Arial" pitchFamily="34" charset="-122"/>
                <a:cs typeface="Arial" pitchFamily="34" charset="-120"/>
              </a:rPr>
              <a:t>◆  Benefits of the solution (social, economic, environmental, etc.)</a:t>
            </a:r>
            <a:endParaRPr lang="en-US" sz="1300" dirty="0"/>
          </a:p>
        </p:txBody>
      </p:sp>
      <p:sp>
        <p:nvSpPr>
          <p:cNvPr id="12" name="Shape 8"/>
          <p:cNvSpPr/>
          <p:nvPr/>
        </p:nvSpPr>
        <p:spPr>
          <a:xfrm>
            <a:off x="228600" y="4032504"/>
            <a:ext cx="1636776" cy="1243584"/>
          </a:xfrm>
          <a:prstGeom prst="rect">
            <a:avLst/>
          </a:prstGeom>
          <a:solidFill>
            <a:srgbClr val="FFFFFF"/>
          </a:solidFill>
          <a:ln w="15875">
            <a:solidFill>
              <a:srgbClr val="404040"/>
            </a:solidFill>
            <a:prstDash val="solid"/>
          </a:ln>
        </p:spPr>
      </p:sp>
      <p:pic>
        <p:nvPicPr>
          <p:cNvPr id="13" name="Image 2" descr="/home/claude/ph_road.png">    </p:cNvPr>
          <p:cNvPicPr>
            <a:picLocks noChangeAspect="1"/>
          </p:cNvPicPr>
          <p:nvPr/>
        </p:nvPicPr>
        <p:blipFill>
          <a:blip r:embed="rId3"/>
          <a:stretch>
            <a:fillRect/>
          </a:stretch>
        </p:blipFill>
        <p:spPr>
          <a:xfrm>
            <a:off x="256032" y="4059936"/>
            <a:ext cx="1581912" cy="1188720"/>
          </a:xfrm>
          <a:prstGeom prst="rect">
            <a:avLst/>
          </a:prstGeom>
        </p:spPr>
      </p:pic>
      <p:sp>
        <p:nvSpPr>
          <p:cNvPr id="14" name="Shape 9"/>
          <p:cNvSpPr/>
          <p:nvPr/>
        </p:nvSpPr>
        <p:spPr>
          <a:xfrm>
            <a:off x="1901952" y="4032504"/>
            <a:ext cx="1636776" cy="1243584"/>
          </a:xfrm>
          <a:prstGeom prst="rect">
            <a:avLst/>
          </a:prstGeom>
          <a:solidFill>
            <a:srgbClr val="FFFFFF"/>
          </a:solidFill>
          <a:ln w="15875">
            <a:solidFill>
              <a:srgbClr val="404040"/>
            </a:solidFill>
            <a:prstDash val="solid"/>
          </a:ln>
        </p:spPr>
      </p:sp>
      <p:pic>
        <p:nvPicPr>
          <p:cNvPr id="15" name="Image 3" descr="/home/claude/ph_slope.png">    </p:cNvPr>
          <p:cNvPicPr>
            <a:picLocks noChangeAspect="1"/>
          </p:cNvPicPr>
          <p:nvPr/>
        </p:nvPicPr>
        <p:blipFill>
          <a:blip r:embed="rId4"/>
          <a:stretch>
            <a:fillRect/>
          </a:stretch>
        </p:blipFill>
        <p:spPr>
          <a:xfrm>
            <a:off x="1929384" y="4059936"/>
            <a:ext cx="1581912" cy="1188720"/>
          </a:xfrm>
          <a:prstGeom prst="rect">
            <a:avLst/>
          </a:prstGeom>
        </p:spPr>
      </p:pic>
      <p:sp>
        <p:nvSpPr>
          <p:cNvPr id="16" name="Text 10"/>
          <p:cNvSpPr txBox="1"/>
          <p:nvPr/>
        </p:nvSpPr>
        <p:spPr>
          <a:xfrm>
            <a:off x="256032" y="5276088"/>
            <a:ext cx="3346704" cy="182880"/>
          </a:xfrm>
          <a:prstGeom prst="rect">
            <a:avLst/>
          </a:prstGeom>
          <a:noFill/>
          <a:ln/>
        </p:spPr>
        <p:txBody>
          <a:bodyPr wrap="square" lIns="0" tIns="0" rIns="0" bIns="0" rtlCol="0" anchor="t"/>
          <a:lstStyle/>
          <a:p>
            <a:pPr indent="0" marL="0">
              <a:buNone/>
            </a:pPr>
            <a:r>
              <a:rPr lang="en-US" sz="700" i="1" dirty="0">
                <a:solidFill>
                  <a:srgbClr val="404040"/>
                </a:solidFill>
                <a:latin typeface="Arial" pitchFamily="34" charset="0"/>
                <a:ea typeface="Arial" pitchFamily="34" charset="-122"/>
                <a:cs typeface="Arial" pitchFamily="34" charset="-120"/>
              </a:rPr>
              <a:t>Guwahati–Shillong road, Meghalaya, and a failed slope in Nagaland.</a:t>
            </a:r>
            <a:endParaRPr lang="en-US" sz="700" dirty="0"/>
          </a:p>
        </p:txBody>
      </p:sp>
      <p:sp>
        <p:nvSpPr>
          <p:cNvPr id="17" name="Shape 11"/>
          <p:cNvSpPr/>
          <p:nvPr/>
        </p:nvSpPr>
        <p:spPr>
          <a:xfrm>
            <a:off x="3803904" y="4059936"/>
            <a:ext cx="8129016" cy="374904"/>
          </a:xfrm>
          <a:prstGeom prst="rect">
            <a:avLst/>
          </a:prstGeom>
          <a:solidFill>
            <a:srgbClr val="E2EFDA"/>
          </a:solidFill>
          <a:ln w="15875">
            <a:solidFill>
              <a:srgbClr val="548235"/>
            </a:solidFill>
            <a:prstDash val="solid"/>
          </a:ln>
        </p:spPr>
      </p:sp>
      <p:sp>
        <p:nvSpPr>
          <p:cNvPr id="18" name="Text 12"/>
          <p:cNvSpPr txBox="1"/>
          <p:nvPr/>
        </p:nvSpPr>
        <p:spPr>
          <a:xfrm>
            <a:off x="3913632" y="4059936"/>
            <a:ext cx="7909560" cy="374904"/>
          </a:xfrm>
          <a:prstGeom prst="rect">
            <a:avLst/>
          </a:prstGeom>
          <a:noFill/>
          <a:ln/>
        </p:spPr>
        <p:txBody>
          <a:bodyPr wrap="square" lIns="0" tIns="0" rIns="0" bIns="0" rtlCol="0" anchor="ctr"/>
          <a:lstStyle/>
          <a:p>
            <a:pPr indent="0" marL="0">
              <a:lnSpc>
                <a:spcPct val="95000"/>
              </a:lnSpc>
              <a:buNone/>
            </a:pPr>
            <a:r>
              <a:rPr lang="en-US" sz="1100" b="1" dirty="0">
                <a:solidFill>
                  <a:srgbClr val="548235"/>
                </a:solidFill>
                <a:latin typeface="Arial" pitchFamily="34" charset="0"/>
                <a:ea typeface="Arial" pitchFamily="34" charset="-122"/>
                <a:cs typeface="Arial" pitchFamily="34" charset="-120"/>
              </a:rPr>
              <a:t>Social   </a:t>
            </a:r>
            <a:pPr indent="0" marL="0">
              <a:lnSpc>
                <a:spcPct val="95000"/>
              </a:lnSpc>
              <a:buNone/>
            </a:pPr>
            <a:r>
              <a:rPr lang="en-US" sz="1100" dirty="0">
                <a:solidFill>
                  <a:srgbClr val="000000"/>
                </a:solidFill>
                <a:latin typeface="Arial" pitchFamily="34" charset="0"/>
                <a:ea typeface="Arial" pitchFamily="34" charset="-122"/>
                <a:cs typeface="Arial" pitchFamily="34" charset="-120"/>
              </a:rPr>
              <a:t>Warning reaches hill villages, quarry settlements and highway camps, in the local language and without a phone.</a:t>
            </a:r>
            <a:endParaRPr lang="en-US" sz="1100" dirty="0"/>
          </a:p>
        </p:txBody>
      </p:sp>
      <p:sp>
        <p:nvSpPr>
          <p:cNvPr id="19" name="Shape 13"/>
          <p:cNvSpPr/>
          <p:nvPr/>
        </p:nvSpPr>
        <p:spPr>
          <a:xfrm>
            <a:off x="3803904" y="4475988"/>
            <a:ext cx="8129016" cy="374904"/>
          </a:xfrm>
          <a:prstGeom prst="rect">
            <a:avLst/>
          </a:prstGeom>
          <a:solidFill>
            <a:srgbClr val="FBE5D6"/>
          </a:solidFill>
          <a:ln w="15875">
            <a:solidFill>
              <a:srgbClr val="C55A11"/>
            </a:solidFill>
            <a:prstDash val="solid"/>
          </a:ln>
        </p:spPr>
      </p:sp>
      <p:sp>
        <p:nvSpPr>
          <p:cNvPr id="20" name="Text 14"/>
          <p:cNvSpPr txBox="1"/>
          <p:nvPr/>
        </p:nvSpPr>
        <p:spPr>
          <a:xfrm>
            <a:off x="3913632" y="4475988"/>
            <a:ext cx="7909560" cy="374904"/>
          </a:xfrm>
          <a:prstGeom prst="rect">
            <a:avLst/>
          </a:prstGeom>
          <a:noFill/>
          <a:ln/>
        </p:spPr>
        <p:txBody>
          <a:bodyPr wrap="square" lIns="0" tIns="0" rIns="0" bIns="0" rtlCol="0" anchor="ctr"/>
          <a:lstStyle/>
          <a:p>
            <a:pPr indent="0" marL="0">
              <a:lnSpc>
                <a:spcPct val="95000"/>
              </a:lnSpc>
              <a:buNone/>
            </a:pPr>
            <a:r>
              <a:rPr lang="en-US" sz="1100" b="1" dirty="0">
                <a:solidFill>
                  <a:srgbClr val="C55A11"/>
                </a:solidFill>
                <a:latin typeface="Arial" pitchFamily="34" charset="0"/>
                <a:ea typeface="Arial" pitchFamily="34" charset="-122"/>
                <a:cs typeface="Arial" pitchFamily="34" charset="-120"/>
              </a:rPr>
              <a:t>Economic   </a:t>
            </a:r>
            <a:pPr indent="0" marL="0">
              <a:lnSpc>
                <a:spcPct val="95000"/>
              </a:lnSpc>
              <a:buNone/>
            </a:pPr>
            <a:r>
              <a:rPr lang="en-US" sz="1100" dirty="0">
                <a:solidFill>
                  <a:srgbClr val="000000"/>
                </a:solidFill>
                <a:latin typeface="Arial" pitchFamily="34" charset="0"/>
                <a:ea typeface="Arial" pitchFamily="34" charset="-122"/>
                <a:cs typeface="Arial" pitchFamily="34" charset="-120"/>
              </a:rPr>
              <a:t>Radar and rainfall data are free and already acquired, so coverage grows with terrain rather than with budget.</a:t>
            </a:r>
            <a:endParaRPr lang="en-US" sz="1100" dirty="0"/>
          </a:p>
        </p:txBody>
      </p:sp>
      <p:sp>
        <p:nvSpPr>
          <p:cNvPr id="21" name="Shape 15"/>
          <p:cNvSpPr/>
          <p:nvPr/>
        </p:nvSpPr>
        <p:spPr>
          <a:xfrm>
            <a:off x="3803904" y="4892040"/>
            <a:ext cx="8129016" cy="374904"/>
          </a:xfrm>
          <a:prstGeom prst="rect">
            <a:avLst/>
          </a:prstGeom>
          <a:solidFill>
            <a:srgbClr val="DEEBF7"/>
          </a:solidFill>
          <a:ln w="15875">
            <a:solidFill>
              <a:srgbClr val="1F4E79"/>
            </a:solidFill>
            <a:prstDash val="solid"/>
          </a:ln>
        </p:spPr>
      </p:sp>
      <p:sp>
        <p:nvSpPr>
          <p:cNvPr id="22" name="Text 16"/>
          <p:cNvSpPr txBox="1"/>
          <p:nvPr/>
        </p:nvSpPr>
        <p:spPr>
          <a:xfrm>
            <a:off x="3913632" y="4892040"/>
            <a:ext cx="7909560" cy="374904"/>
          </a:xfrm>
          <a:prstGeom prst="rect">
            <a:avLst/>
          </a:prstGeom>
          <a:noFill/>
          <a:ln/>
        </p:spPr>
        <p:txBody>
          <a:bodyPr wrap="square" lIns="0" tIns="0" rIns="0" bIns="0" rtlCol="0" anchor="ctr"/>
          <a:lstStyle/>
          <a:p>
            <a:pPr indent="0" marL="0">
              <a:lnSpc>
                <a:spcPct val="95000"/>
              </a:lnSpc>
              <a:buNone/>
            </a:pPr>
            <a:r>
              <a:rPr lang="en-US" sz="1100" b="1" dirty="0">
                <a:solidFill>
                  <a:srgbClr val="1F4E79"/>
                </a:solidFill>
                <a:latin typeface="Arial" pitchFamily="34" charset="0"/>
                <a:ea typeface="Arial" pitchFamily="34" charset="-122"/>
                <a:cs typeface="Arial" pitchFamily="34" charset="-120"/>
              </a:rPr>
              <a:t>Environmental   </a:t>
            </a:r>
            <a:pPr indent="0" marL="0">
              <a:lnSpc>
                <a:spcPct val="95000"/>
              </a:lnSpc>
              <a:buNone/>
            </a:pPr>
            <a:r>
              <a:rPr lang="en-US" sz="1100" dirty="0">
                <a:solidFill>
                  <a:srgbClr val="000000"/>
                </a:solidFill>
                <a:latin typeface="Arial" pitchFamily="34" charset="0"/>
                <a:ea typeface="Arial" pitchFamily="34" charset="-122"/>
                <a:cs typeface="Arial" pitchFamily="34" charset="-120"/>
              </a:rPr>
              <a:t>Slopes destabilised by cutting and quarrying show up as movement long before they fail, turning warning into planning evidence.</a:t>
            </a:r>
            <a:endParaRPr lang="en-US" sz="1100" dirty="0"/>
          </a:p>
        </p:txBody>
      </p:sp>
      <p:sp>
        <p:nvSpPr>
          <p:cNvPr id="23" name="Shape 17"/>
          <p:cNvSpPr/>
          <p:nvPr/>
        </p:nvSpPr>
        <p:spPr>
          <a:xfrm>
            <a:off x="256032" y="5468112"/>
            <a:ext cx="2843784" cy="566928"/>
          </a:xfrm>
          <a:prstGeom prst="rect">
            <a:avLst/>
          </a:prstGeom>
          <a:solidFill>
            <a:srgbClr val="F2F2F2"/>
          </a:solidFill>
          <a:ln w="15875">
            <a:solidFill>
              <a:srgbClr val="BFBFBF"/>
            </a:solidFill>
            <a:prstDash val="solid"/>
          </a:ln>
        </p:spPr>
      </p:sp>
      <p:sp>
        <p:nvSpPr>
          <p:cNvPr id="24" name="Text 18"/>
          <p:cNvSpPr txBox="1"/>
          <p:nvPr/>
        </p:nvSpPr>
        <p:spPr>
          <a:xfrm>
            <a:off x="356616" y="5504688"/>
            <a:ext cx="2642616" cy="493776"/>
          </a:xfrm>
          <a:prstGeom prst="rect">
            <a:avLst/>
          </a:prstGeom>
          <a:noFill/>
          <a:ln/>
        </p:spPr>
        <p:txBody>
          <a:bodyPr wrap="square" lIns="0" tIns="0" rIns="0" bIns="0" rtlCol="0" anchor="ctr"/>
          <a:lstStyle/>
          <a:p>
            <a:pPr indent="0" marL="0">
              <a:lnSpc>
                <a:spcPct val="95000"/>
              </a:lnSpc>
              <a:buNone/>
            </a:pPr>
            <a:r>
              <a:rPr lang="en-US" sz="1700" b="1" dirty="0">
                <a:solidFill>
                  <a:srgbClr val="548235"/>
                </a:solidFill>
                <a:latin typeface="Times New Roman" pitchFamily="34" charset="0"/>
                <a:ea typeface="Times New Roman" pitchFamily="34" charset="-122"/>
                <a:cs typeface="Times New Roman" pitchFamily="34" charset="-120"/>
              </a:rPr>
              <a:t>3   </a:t>
            </a:r>
            <a:pPr indent="0" marL="0">
              <a:lnSpc>
                <a:spcPct val="95000"/>
              </a:lnSpc>
              <a:buNone/>
            </a:pPr>
            <a:r>
              <a:rPr lang="en-US" sz="950" dirty="0">
                <a:solidFill>
                  <a:srgbClr val="404040"/>
                </a:solidFill>
                <a:latin typeface="Arial" pitchFamily="34" charset="0"/>
                <a:ea typeface="Arial" pitchFamily="34" charset="-122"/>
                <a:cs typeface="Arial" pitchFamily="34" charset="-120"/>
              </a:rPr>
              <a:t>districts in India have operational landslide warning, none in the North East</a:t>
            </a:r>
            <a:endParaRPr lang="en-US" sz="1700" dirty="0"/>
          </a:p>
        </p:txBody>
      </p:sp>
      <p:sp>
        <p:nvSpPr>
          <p:cNvPr id="25" name="Shape 19"/>
          <p:cNvSpPr/>
          <p:nvPr/>
        </p:nvSpPr>
        <p:spPr>
          <a:xfrm>
            <a:off x="3200400" y="5468112"/>
            <a:ext cx="2843784" cy="566928"/>
          </a:xfrm>
          <a:prstGeom prst="rect">
            <a:avLst/>
          </a:prstGeom>
          <a:solidFill>
            <a:srgbClr val="F2F2F2"/>
          </a:solidFill>
          <a:ln w="15875">
            <a:solidFill>
              <a:srgbClr val="BFBFBF"/>
            </a:solidFill>
            <a:prstDash val="solid"/>
          </a:ln>
        </p:spPr>
      </p:sp>
      <p:sp>
        <p:nvSpPr>
          <p:cNvPr id="26" name="Text 20"/>
          <p:cNvSpPr txBox="1"/>
          <p:nvPr/>
        </p:nvSpPr>
        <p:spPr>
          <a:xfrm>
            <a:off x="3300984" y="5504688"/>
            <a:ext cx="2642616" cy="493776"/>
          </a:xfrm>
          <a:prstGeom prst="rect">
            <a:avLst/>
          </a:prstGeom>
          <a:noFill/>
          <a:ln/>
        </p:spPr>
        <p:txBody>
          <a:bodyPr wrap="square" lIns="0" tIns="0" rIns="0" bIns="0" rtlCol="0" anchor="ctr"/>
          <a:lstStyle/>
          <a:p>
            <a:pPr indent="0" marL="0">
              <a:lnSpc>
                <a:spcPct val="95000"/>
              </a:lnSpc>
              <a:buNone/>
            </a:pPr>
            <a:r>
              <a:rPr lang="en-US" sz="1700" b="1" dirty="0">
                <a:solidFill>
                  <a:srgbClr val="548235"/>
                </a:solidFill>
                <a:latin typeface="Times New Roman" pitchFamily="34" charset="0"/>
                <a:ea typeface="Times New Roman" pitchFamily="34" charset="-122"/>
                <a:cs typeface="Times New Roman" pitchFamily="34" charset="-120"/>
              </a:rPr>
              <a:t>1 / 1,015 km²   </a:t>
            </a:r>
            <a:pPr indent="0" marL="0">
              <a:lnSpc>
                <a:spcPct val="95000"/>
              </a:lnSpc>
              <a:buNone/>
            </a:pPr>
            <a:r>
              <a:rPr lang="en-US" sz="950" dirty="0">
                <a:solidFill>
                  <a:srgbClr val="404040"/>
                </a:solidFill>
                <a:latin typeface="Arial" pitchFamily="34" charset="0"/>
                <a:ea typeface="Arial" pitchFamily="34" charset="-122"/>
                <a:cs typeface="Arial" pitchFamily="34" charset="-120"/>
              </a:rPr>
              <a:t>rain gauge density across the region's landslide-prone hills</a:t>
            </a:r>
            <a:endParaRPr lang="en-US" sz="1700" dirty="0"/>
          </a:p>
        </p:txBody>
      </p:sp>
      <p:sp>
        <p:nvSpPr>
          <p:cNvPr id="27" name="Shape 21"/>
          <p:cNvSpPr/>
          <p:nvPr/>
        </p:nvSpPr>
        <p:spPr>
          <a:xfrm>
            <a:off x="6144768" y="5468112"/>
            <a:ext cx="2843784" cy="566928"/>
          </a:xfrm>
          <a:prstGeom prst="rect">
            <a:avLst/>
          </a:prstGeom>
          <a:solidFill>
            <a:srgbClr val="F2F2F2"/>
          </a:solidFill>
          <a:ln w="15875">
            <a:solidFill>
              <a:srgbClr val="BFBFBF"/>
            </a:solidFill>
            <a:prstDash val="solid"/>
          </a:ln>
        </p:spPr>
      </p:sp>
      <p:sp>
        <p:nvSpPr>
          <p:cNvPr id="28" name="Text 22"/>
          <p:cNvSpPr txBox="1"/>
          <p:nvPr/>
        </p:nvSpPr>
        <p:spPr>
          <a:xfrm>
            <a:off x="6245352" y="5504688"/>
            <a:ext cx="2642616" cy="493776"/>
          </a:xfrm>
          <a:prstGeom prst="rect">
            <a:avLst/>
          </a:prstGeom>
          <a:noFill/>
          <a:ln/>
        </p:spPr>
        <p:txBody>
          <a:bodyPr wrap="square" lIns="0" tIns="0" rIns="0" bIns="0" rtlCol="0" anchor="ctr"/>
          <a:lstStyle/>
          <a:p>
            <a:pPr indent="0" marL="0">
              <a:lnSpc>
                <a:spcPct val="95000"/>
              </a:lnSpc>
              <a:buNone/>
            </a:pPr>
            <a:r>
              <a:rPr lang="en-US" sz="1700" b="1" dirty="0">
                <a:solidFill>
                  <a:srgbClr val="548235"/>
                </a:solidFill>
                <a:latin typeface="Times New Roman" pitchFamily="34" charset="0"/>
                <a:ea typeface="Times New Roman" pitchFamily="34" charset="-122"/>
                <a:cs typeface="Times New Roman" pitchFamily="34" charset="-120"/>
              </a:rPr>
              <a:t>6 days   </a:t>
            </a:r>
            <a:pPr indent="0" marL="0">
              <a:lnSpc>
                <a:spcPct val="95000"/>
              </a:lnSpc>
              <a:buNone/>
            </a:pPr>
            <a:r>
              <a:rPr lang="en-US" sz="950" dirty="0">
                <a:solidFill>
                  <a:srgbClr val="404040"/>
                </a:solidFill>
                <a:latin typeface="Arial" pitchFamily="34" charset="0"/>
                <a:ea typeface="Arial" pitchFamily="34" charset="-122"/>
                <a:cs typeface="Arial" pitchFamily="34" charset="-120"/>
              </a:rPr>
              <a:t>radar revisit on every slope in the North East, at no cost</a:t>
            </a:r>
            <a:endParaRPr lang="en-US" sz="1700" dirty="0"/>
          </a:p>
        </p:txBody>
      </p:sp>
      <p:sp>
        <p:nvSpPr>
          <p:cNvPr id="29" name="Shape 23"/>
          <p:cNvSpPr/>
          <p:nvPr/>
        </p:nvSpPr>
        <p:spPr>
          <a:xfrm>
            <a:off x="9089136" y="5468112"/>
            <a:ext cx="2843784" cy="566928"/>
          </a:xfrm>
          <a:prstGeom prst="rect">
            <a:avLst/>
          </a:prstGeom>
          <a:solidFill>
            <a:srgbClr val="F2F2F2"/>
          </a:solidFill>
          <a:ln w="15875">
            <a:solidFill>
              <a:srgbClr val="BFBFBF"/>
            </a:solidFill>
            <a:prstDash val="solid"/>
          </a:ln>
        </p:spPr>
      </p:sp>
      <p:sp>
        <p:nvSpPr>
          <p:cNvPr id="30" name="Text 24"/>
          <p:cNvSpPr txBox="1"/>
          <p:nvPr/>
        </p:nvSpPr>
        <p:spPr>
          <a:xfrm>
            <a:off x="9189720" y="5504688"/>
            <a:ext cx="2642616" cy="493776"/>
          </a:xfrm>
          <a:prstGeom prst="rect">
            <a:avLst/>
          </a:prstGeom>
          <a:noFill/>
          <a:ln/>
        </p:spPr>
        <p:txBody>
          <a:bodyPr wrap="square" lIns="0" tIns="0" rIns="0" bIns="0" rtlCol="0" anchor="ctr"/>
          <a:lstStyle/>
          <a:p>
            <a:pPr indent="0" marL="0">
              <a:lnSpc>
                <a:spcPct val="95000"/>
              </a:lnSpc>
              <a:buNone/>
            </a:pPr>
            <a:r>
              <a:rPr lang="en-US" sz="1700" b="1" dirty="0">
                <a:solidFill>
                  <a:srgbClr val="548235"/>
                </a:solidFill>
                <a:latin typeface="Times New Roman" pitchFamily="34" charset="0"/>
                <a:ea typeface="Times New Roman" pitchFamily="34" charset="-122"/>
                <a:cs typeface="Times New Roman" pitchFamily="34" charset="-120"/>
              </a:rPr>
              <a:t>₹0   </a:t>
            </a:r>
            <a:pPr indent="0" marL="0">
              <a:lnSpc>
                <a:spcPct val="95000"/>
              </a:lnSpc>
              <a:buNone/>
            </a:pPr>
            <a:r>
              <a:rPr lang="en-US" sz="950" dirty="0">
                <a:solidFill>
                  <a:srgbClr val="404040"/>
                </a:solidFill>
                <a:latin typeface="Arial" pitchFamily="34" charset="0"/>
                <a:ea typeface="Arial" pitchFamily="34" charset="-122"/>
                <a:cs typeface="Arial" pitchFamily="34" charset="-120"/>
              </a:rPr>
              <a:t>marginal cost to bring one more slope under watch</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t26/image2.png">    </p:cNvPr>
          <p:cNvPicPr>
            <a:picLocks noChangeAspect="1"/>
          </p:cNvPicPr>
          <p:nvPr/>
        </p:nvPicPr>
        <p:blipFill>
          <a:blip r:embed="rId1"/>
          <a:stretch>
            <a:fillRect/>
          </a:stretch>
        </p:blipFill>
        <p:spPr>
          <a:xfrm>
            <a:off x="9784080" y="0"/>
            <a:ext cx="2249424" cy="1060704"/>
          </a:xfrm>
          <a:prstGeom prst="rect">
            <a:avLst/>
          </a:prstGeom>
        </p:spPr>
      </p:pic>
      <p:sp>
        <p:nvSpPr>
          <p:cNvPr id="3" name="Shape 0"/>
          <p:cNvSpPr/>
          <p:nvPr/>
        </p:nvSpPr>
        <p:spPr>
          <a:xfrm>
            <a:off x="0" y="6355080"/>
            <a:ext cx="12188952" cy="502920"/>
          </a:xfrm>
          <a:prstGeom prst="rect">
            <a:avLst/>
          </a:prstGeom>
          <a:solidFill>
            <a:srgbClr val="0070C0"/>
          </a:solidFill>
          <a:ln w="12700">
            <a:solidFill>
              <a:srgbClr val="0070C0"/>
            </a:solidFill>
            <a:prstDash val="solid"/>
          </a:ln>
        </p:spPr>
      </p:sp>
      <p:sp>
        <p:nvSpPr>
          <p:cNvPr id="4" name="Text 1"/>
          <p:cNvSpPr txBox="1"/>
          <p:nvPr/>
        </p:nvSpPr>
        <p:spPr>
          <a:xfrm>
            <a:off x="4645152" y="6355080"/>
            <a:ext cx="320040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@SIH Idea submission- Template</a:t>
            </a:r>
            <a:endParaRPr lang="en-US" sz="1200" dirty="0"/>
          </a:p>
        </p:txBody>
      </p:sp>
      <p:sp>
        <p:nvSpPr>
          <p:cNvPr id="5" name="Text 2"/>
          <p:cNvSpPr txBox="1"/>
          <p:nvPr/>
        </p:nvSpPr>
        <p:spPr>
          <a:xfrm>
            <a:off x="10607040" y="6355080"/>
            <a:ext cx="548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6" name="Shape 3"/>
          <p:cNvSpPr/>
          <p:nvPr/>
        </p:nvSpPr>
        <p:spPr>
          <a:xfrm>
            <a:off x="292608" y="91440"/>
            <a:ext cx="1060704" cy="713232"/>
          </a:xfrm>
          <a:prstGeom prst="ellipse">
            <a:avLst/>
          </a:prstGeom>
          <a:solidFill>
            <a:srgbClr val="FFFFFF"/>
          </a:solidFill>
          <a:ln w="15875">
            <a:solidFill>
              <a:srgbClr val="8064A2"/>
            </a:solidFill>
            <a:prstDash val="solid"/>
          </a:ln>
        </p:spPr>
      </p:sp>
      <p:sp>
        <p:nvSpPr>
          <p:cNvPr id="7" name="Text 4"/>
          <p:cNvSpPr txBox="1"/>
          <p:nvPr/>
        </p:nvSpPr>
        <p:spPr>
          <a:xfrm>
            <a:off x="292608" y="91440"/>
            <a:ext cx="1060704" cy="713232"/>
          </a:xfrm>
          <a:prstGeom prst="rect">
            <a:avLst/>
          </a:prstGeom>
          <a:noFill/>
          <a:ln/>
        </p:spPr>
        <p:txBody>
          <a:bodyPr wrap="square" lIns="0" tIns="0" rIns="0" bIns="0" rtlCol="0" anchor="ctr"/>
          <a:lstStyle/>
          <a:p>
            <a:pPr algn="ctr" indent="0" marL="0">
              <a:buNone/>
            </a:pPr>
            <a:r>
              <a:rPr lang="en-US" sz="1300" dirty="0">
                <a:solidFill>
                  <a:srgbClr val="000000"/>
                </a:solidFill>
                <a:latin typeface="Arial" pitchFamily="34" charset="0"/>
                <a:ea typeface="Arial" pitchFamily="34" charset="-122"/>
                <a:cs typeface="Arial" pitchFamily="34" charset="-120"/>
              </a:rPr>
              <a:t>Aura</a:t>
            </a:r>
            <a:endParaRPr lang="en-US" sz="1300" dirty="0"/>
          </a:p>
        </p:txBody>
      </p:sp>
      <p:sp>
        <p:nvSpPr>
          <p:cNvPr id="8" name="Text 5"/>
          <p:cNvSpPr txBox="1"/>
          <p:nvPr/>
        </p:nvSpPr>
        <p:spPr>
          <a:xfrm>
            <a:off x="1463040" y="54864"/>
            <a:ext cx="8229600" cy="749808"/>
          </a:xfrm>
          <a:prstGeom prst="rect">
            <a:avLst/>
          </a:prstGeom>
          <a:noFill/>
          <a:ln/>
        </p:spPr>
        <p:txBody>
          <a:bodyPr wrap="square" lIns="0" tIns="0" rIns="0" bIns="0" rtlCol="0" anchor="ctr"/>
          <a:lstStyle/>
          <a:p>
            <a:pPr algn="ctr" indent="0" marL="0">
              <a:buNone/>
            </a:pPr>
            <a:r>
              <a:rPr lang="en-US" sz="2300" b="1" dirty="0">
                <a:solidFill>
                  <a:srgbClr val="000000"/>
                </a:solidFill>
                <a:latin typeface="Times New Roman" pitchFamily="34" charset="0"/>
                <a:ea typeface="Times New Roman" pitchFamily="34" charset="-122"/>
                <a:cs typeface="Times New Roman" pitchFamily="34" charset="-120"/>
              </a:rPr>
              <a:t>RESEARCH AND REFERENCES</a:t>
            </a:r>
            <a:endParaRPr lang="en-US" sz="2300" dirty="0"/>
          </a:p>
        </p:txBody>
      </p:sp>
      <p:sp>
        <p:nvSpPr>
          <p:cNvPr id="9" name="Text 6"/>
          <p:cNvSpPr txBox="1"/>
          <p:nvPr/>
        </p:nvSpPr>
        <p:spPr>
          <a:xfrm>
            <a:off x="256032" y="896112"/>
            <a:ext cx="11676888" cy="274320"/>
          </a:xfrm>
          <a:prstGeom prst="rect">
            <a:avLst/>
          </a:prstGeom>
          <a:noFill/>
          <a:ln/>
        </p:spPr>
        <p:txBody>
          <a:bodyPr wrap="square" lIns="0" tIns="0" rIns="0" bIns="0" rtlCol="0" anchor="ctr"/>
          <a:lstStyle/>
          <a:p>
            <a:pPr indent="0" marL="0">
              <a:buNone/>
            </a:pPr>
            <a:r>
              <a:rPr lang="en-US" sz="1300" b="1" u="sng" dirty="0">
                <a:solidFill>
                  <a:srgbClr val="1F4E79"/>
                </a:solidFill>
                <a:latin typeface="Arial" pitchFamily="34" charset="0"/>
                <a:ea typeface="Arial" pitchFamily="34" charset="-122"/>
                <a:cs typeface="Arial" pitchFamily="34" charset="-120"/>
              </a:rPr>
              <a:t>◆  Details / Links of the reference and research work</a:t>
            </a:r>
            <a:endParaRPr lang="en-US" sz="1300" dirty="0"/>
          </a:p>
        </p:txBody>
      </p:sp>
      <p:sp>
        <p:nvSpPr>
          <p:cNvPr id="10" name="Text 7"/>
          <p:cNvSpPr txBox="1"/>
          <p:nvPr/>
        </p:nvSpPr>
        <p:spPr>
          <a:xfrm>
            <a:off x="256032" y="1225296"/>
            <a:ext cx="5742432" cy="4937760"/>
          </a:xfrm>
          <a:prstGeom prst="rect">
            <a:avLst/>
          </a:prstGeom>
          <a:noFill/>
          <a:ln/>
        </p:spPr>
        <p:txBody>
          <a:bodyPr wrap="square" lIns="0" tIns="0" rIns="0" bIns="0" rtlCol="0" anchor="t"/>
          <a:lstStyle/>
          <a:p>
            <a:pPr indent="0" marL="0">
              <a:lnSpc>
                <a:spcPct val="96000"/>
              </a:lnSpc>
              <a:spcAft>
                <a:spcPts val="500"/>
              </a:spcAft>
              <a:buNone/>
            </a:pPr>
            <a:r>
              <a:rPr lang="en-US" sz="1200" b="1" dirty="0">
                <a:solidFill>
                  <a:srgbClr val="404040"/>
                </a:solidFill>
                <a:latin typeface="Arial" pitchFamily="34" charset="0"/>
                <a:ea typeface="Arial" pitchFamily="34" charset="-122"/>
                <a:cs typeface="Arial" pitchFamily="34" charset="-120"/>
              </a:rPr>
              <a:t>The problem statement and national policy</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SIH 2026 problem statement SIH26001, Ministry of Development of North Eastern Region</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Ministry of Earth Sciences, mapping of landslide prone areas, Parliament reply, 2025</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NDMA, National Landslide Risk Management Strategy, 2019</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Geological Survey of India, landslide and forecasting scenario in the North Eastern Region</a:t>
            </a:r>
            <a:endParaRPr lang="en-US" sz="1200" dirty="0"/>
          </a:p>
          <a:p>
            <a:pPr indent="0" marL="0">
              <a:lnSpc>
                <a:spcPct val="96000"/>
              </a:lnSpc>
              <a:spcBef>
                <a:spcPts val="1000"/>
              </a:spcBef>
              <a:spcAft>
                <a:spcPts val="500"/>
              </a:spcAft>
              <a:buNone/>
            </a:pPr>
            <a:r>
              <a:rPr lang="en-US" sz="1200" b="1" dirty="0">
                <a:solidFill>
                  <a:srgbClr val="404040"/>
                </a:solidFill>
                <a:latin typeface="Arial" pitchFamily="34" charset="0"/>
                <a:ea typeface="Arial" pitchFamily="34" charset="-122"/>
                <a:cs typeface="Arial" pitchFamily="34" charset="-120"/>
              </a:rPr>
              <a:t>Where warning falls short today</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Bhusanket, the GSI landslide forecast portal</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Down To Earth, why localised landslide warnings remain an uphill battle, 2024</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Down To Earth, nearly 600 landslides in Mizoram in ten days, June 2025</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Sangi et al., Cyclone Remal-induced landslides in Aizawl, Landslides, 2025</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The Sentinel, 1,841 North East villages without mobile coverage, February 2026</a:t>
            </a:r>
            <a:endParaRPr lang="en-US" sz="1200" dirty="0"/>
          </a:p>
          <a:p>
            <a:pPr indent="0" marL="0">
              <a:lnSpc>
                <a:spcPct val="96000"/>
              </a:lnSpc>
              <a:spcBef>
                <a:spcPts val="1000"/>
              </a:spcBef>
              <a:spcAft>
                <a:spcPts val="500"/>
              </a:spcAft>
              <a:buNone/>
            </a:pPr>
            <a:r>
              <a:rPr lang="en-US" sz="1200" b="1" dirty="0">
                <a:solidFill>
                  <a:srgbClr val="404040"/>
                </a:solidFill>
                <a:latin typeface="Arial" pitchFamily="34" charset="0"/>
                <a:ea typeface="Arial" pitchFamily="34" charset="-122"/>
                <a:cs typeface="Arial" pitchFamily="34" charset="-120"/>
              </a:rPr>
              <a:t>Rainfall thresholds for the North East</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Roul et al., rainfall thresholds for landslide prediction in India, 2025</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Harilal et al., rainfall thresholds for real-time landslide warning in Sikkim, 2019</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Guzzetti et al., rainfall thresholds for the initiation of landslides, Landslides, 2008</a:t>
            </a:r>
            <a:endParaRPr lang="en-US" sz="1200" dirty="0"/>
          </a:p>
        </p:txBody>
      </p:sp>
      <p:sp>
        <p:nvSpPr>
          <p:cNvPr id="11" name="Text 8"/>
          <p:cNvSpPr txBox="1"/>
          <p:nvPr/>
        </p:nvSpPr>
        <p:spPr>
          <a:xfrm>
            <a:off x="6199632" y="1225296"/>
            <a:ext cx="5733288" cy="4937760"/>
          </a:xfrm>
          <a:prstGeom prst="rect">
            <a:avLst/>
          </a:prstGeom>
          <a:noFill/>
          <a:ln/>
        </p:spPr>
        <p:txBody>
          <a:bodyPr wrap="square" lIns="0" tIns="0" rIns="0" bIns="0" rtlCol="0" anchor="t"/>
          <a:lstStyle/>
          <a:p>
            <a:pPr indent="0" marL="0">
              <a:lnSpc>
                <a:spcPct val="96000"/>
              </a:lnSpc>
              <a:spcAft>
                <a:spcPts val="500"/>
              </a:spcAft>
              <a:buNone/>
            </a:pPr>
            <a:r>
              <a:rPr lang="en-US" sz="1200" b="1" dirty="0">
                <a:solidFill>
                  <a:srgbClr val="404040"/>
                </a:solidFill>
                <a:latin typeface="Arial" pitchFamily="34" charset="0"/>
                <a:ea typeface="Arial" pitchFamily="34" charset="-122"/>
                <a:cs typeface="Arial" pitchFamily="34" charset="-120"/>
              </a:rPr>
              <a:t>Reading ground movement from orbit</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Carla et al., predicting catastrophic slope failures from satellite InSAR, 2019</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ASF HyP3, free on-demand Sentinel-1 interferometry</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ESA, Sentinel-1 mission and the six-day repeat cycle</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17" invalidUrl="" action="" tgtFrame="" tooltip="" history="1" highlightClick="0" endSnd="0">
                  <a:extLst>
                    <a:ext uri="{A12FA001-AC4F-418D-AE19-62706E023703}">
                      <ahyp:hlinkClr xmlns:ahyp="http://schemas.microsoft.com/office/drawing/2018/hyperlinkcolor" val="tx"/>
                    </a:ext>
                  </a:extLst>
                </a:hlinkClick>
              </a:rPr>
              <a:t>COMET LiCSAR, pre-processed Sentinel-1 interferograms</a:t>
            </a:r>
            <a:endParaRPr lang="en-US" sz="1200" dirty="0"/>
          </a:p>
          <a:p>
            <a:pPr indent="0" marL="0">
              <a:lnSpc>
                <a:spcPct val="96000"/>
              </a:lnSpc>
              <a:spcBef>
                <a:spcPts val="1000"/>
              </a:spcBef>
              <a:spcAft>
                <a:spcPts val="500"/>
              </a:spcAft>
              <a:buNone/>
            </a:pPr>
            <a:r>
              <a:rPr lang="en-US" sz="1200" b="1" dirty="0">
                <a:solidFill>
                  <a:srgbClr val="404040"/>
                </a:solidFill>
                <a:latin typeface="Arial" pitchFamily="34" charset="0"/>
                <a:ea typeface="Arial" pitchFamily="34" charset="-122"/>
                <a:cs typeface="Arial" pitchFamily="34" charset="-120"/>
              </a:rPr>
              <a:t>Learning and explaining the risk</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18" invalidUrl="" action="" tgtFrame="" tooltip="" history="1" highlightClick="0" endSnd="0">
                  <a:extLst>
                    <a:ext uri="{A12FA001-AC4F-418D-AE19-62706E023703}">
                      <ahyp:hlinkClr xmlns:ahyp="http://schemas.microsoft.com/office/drawing/2018/hyperlinkcolor" val="tx"/>
                    </a:ext>
                  </a:extLst>
                </a:hlinkClick>
              </a:rPr>
              <a:t>Stanley et al., data-driven landslide nowcasting at the global scale, 2021</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19" invalidUrl="" action="" tgtFrame="" tooltip="" history="1" highlightClick="0" endSnd="0">
                  <a:extLst>
                    <a:ext uri="{A12FA001-AC4F-418D-AE19-62706E023703}">
                      <ahyp:hlinkClr xmlns:ahyp="http://schemas.microsoft.com/office/drawing/2018/hyperlinkcolor" val="tx"/>
                    </a:ext>
                  </a:extLst>
                </a:hlinkClick>
              </a:rPr>
              <a:t>He et al., radar rainfall thresholds and false alarm rates, 2025</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0" invalidUrl="" action="" tgtFrame="" tooltip="" history="1" highlightClick="0" endSnd="0">
                  <a:extLst>
                    <a:ext uri="{A12FA001-AC4F-418D-AE19-62706E023703}">
                      <ahyp:hlinkClr xmlns:ahyp="http://schemas.microsoft.com/office/drawing/2018/hyperlinkcolor" val="tx"/>
                    </a:ext>
                  </a:extLst>
                </a:hlinkClick>
              </a:rPr>
              <a:t>Gupta and Shukla, handling data imbalance in landslide susceptibility, Landslides, 2023</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1" invalidUrl="" action="" tgtFrame="" tooltip="" history="1" highlightClick="0" endSnd="0">
                  <a:extLst>
                    <a:ext uri="{A12FA001-AC4F-418D-AE19-62706E023703}">
                      <ahyp:hlinkClr xmlns:ahyp="http://schemas.microsoft.com/office/drawing/2018/hyperlinkcolor" val="tx"/>
                    </a:ext>
                  </a:extLst>
                </a:hlinkClick>
              </a:rPr>
              <a:t>Mihu et al., machine-learning susceptibility in the Dibang Valley, North East India, 2026</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2" invalidUrl="" action="" tgtFrame="" tooltip="" history="1" highlightClick="0" endSnd="0">
                  <a:extLst>
                    <a:ext uri="{A12FA001-AC4F-418D-AE19-62706E023703}">
                      <ahyp:hlinkClr xmlns:ahyp="http://schemas.microsoft.com/office/drawing/2018/hyperlinkcolor" val="tx"/>
                    </a:ext>
                  </a:extLst>
                </a:hlinkClick>
              </a:rPr>
              <a:t>Al-Najjar et al., SHAP for landslide susceptibility models, ISPRS Annals, 2025</a:t>
            </a:r>
            <a:endParaRPr lang="en-US" sz="1200" dirty="0"/>
          </a:p>
          <a:p>
            <a:pPr indent="0" marL="0">
              <a:lnSpc>
                <a:spcPct val="96000"/>
              </a:lnSpc>
              <a:spcBef>
                <a:spcPts val="1000"/>
              </a:spcBef>
              <a:spcAft>
                <a:spcPts val="500"/>
              </a:spcAft>
              <a:buNone/>
            </a:pPr>
            <a:r>
              <a:rPr lang="en-US" sz="1200" b="1" dirty="0">
                <a:solidFill>
                  <a:srgbClr val="404040"/>
                </a:solidFill>
                <a:latin typeface="Arial" pitchFamily="34" charset="0"/>
                <a:ea typeface="Arial" pitchFamily="34" charset="-122"/>
                <a:cs typeface="Arial" pitchFamily="34" charset="-120"/>
              </a:rPr>
              <a:t>Data sources and the last mile</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3" invalidUrl="" action="" tgtFrame="" tooltip="" history="1" highlightClick="0" endSnd="0">
                  <a:extLst>
                    <a:ext uri="{A12FA001-AC4F-418D-AE19-62706E023703}">
                      <ahyp:hlinkClr xmlns:ahyp="http://schemas.microsoft.com/office/drawing/2018/hyperlinkcolor" val="tx"/>
                    </a:ext>
                  </a:extLst>
                </a:hlinkClick>
              </a:rPr>
              <a:t>NASA GPM IMERG Early Run precipitation</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4" invalidUrl="" action="" tgtFrame="" tooltip="" history="1" highlightClick="0" endSnd="0">
                  <a:extLst>
                    <a:ext uri="{A12FA001-AC4F-418D-AE19-62706E023703}">
                      <ahyp:hlinkClr xmlns:ahyp="http://schemas.microsoft.com/office/drawing/2018/hyperlinkcolor" val="tx"/>
                    </a:ext>
                  </a:extLst>
                </a:hlinkClick>
              </a:rPr>
              <a:t>NASA SMAP root-zone soil moisture products</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5" invalidUrl="" action="" tgtFrame="" tooltip="" history="1" highlightClick="0" endSnd="0">
                  <a:extLst>
                    <a:ext uri="{A12FA001-AC4F-418D-AE19-62706E023703}">
                      <ahyp:hlinkClr xmlns:ahyp="http://schemas.microsoft.com/office/drawing/2018/hyperlinkcolor" val="tx"/>
                    </a:ext>
                  </a:extLst>
                </a:hlinkClick>
              </a:rPr>
              <a:t>NRSC Bhoonidhi, CartoDEM and Indian earth observation data</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6" invalidUrl="" action="" tgtFrame="" tooltip="" history="1" highlightClick="0" endSnd="0">
                  <a:extLst>
                    <a:ext uri="{A12FA001-AC4F-418D-AE19-62706E023703}">
                      <ahyp:hlinkClr xmlns:ahyp="http://schemas.microsoft.com/office/drawing/2018/hyperlinkcolor" val="tx"/>
                    </a:ext>
                  </a:extLst>
                </a:hlinkClick>
              </a:rPr>
              <a:t>ISRO Landslide Atlas of India</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7" invalidUrl="" action="" tgtFrame="" tooltip="" history="1" highlightClick="0" endSnd="0">
                  <a:extLst>
                    <a:ext uri="{A12FA001-AC4F-418D-AE19-62706E023703}">
                      <ahyp:hlinkClr xmlns:ahyp="http://schemas.microsoft.com/office/drawing/2018/hyperlinkcolor" val="tx"/>
                    </a:ext>
                  </a:extLst>
                </a:hlinkClick>
              </a:rPr>
              <a:t>SACHET, NDMA's CAP-based integrated alert system</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8" invalidUrl="" action="" tgtFrame="" tooltip="" history="1" highlightClick="0" endSnd="0">
                  <a:extLst>
                    <a:ext uri="{A12FA001-AC4F-418D-AE19-62706E023703}">
                      <ahyp:hlinkClr xmlns:ahyp="http://schemas.microsoft.com/office/drawing/2018/hyperlinkcolor" val="tx"/>
                    </a:ext>
                  </a:extLst>
                </a:hlinkClick>
              </a:rPr>
              <a:t>SACHET CAP feed integration guide for agencies</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29" invalidUrl="" action="" tgtFrame="" tooltip="" history="1" highlightClick="0" endSnd="0">
                  <a:extLst>
                    <a:ext uri="{A12FA001-AC4F-418D-AE19-62706E023703}">
                      <ahyp:hlinkClr xmlns:ahyp="http://schemas.microsoft.com/office/drawing/2018/hyperlinkcolor" val="tx"/>
                    </a:ext>
                  </a:extLst>
                </a:hlinkClick>
              </a:rPr>
              <a:t>Ramesh et al., wireless sensor networks for landslide early warning, a decade of deployment</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30" invalidUrl="" action="" tgtFrame="" tooltip="" history="1" highlightClick="0" endSnd="0">
                  <a:extLst>
                    <a:ext uri="{A12FA001-AC4F-418D-AE19-62706E023703}">
                      <ahyp:hlinkClr xmlns:ahyp="http://schemas.microsoft.com/office/drawing/2018/hyperlinkcolor" val="tx"/>
                    </a:ext>
                  </a:extLst>
                </a:hlinkClick>
              </a:rPr>
              <a:t>Pires and Veiga, low-cost LoRa system for landslide monitoring, Designs, 2025</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31" invalidUrl="" action="" tgtFrame="" tooltip="" history="1" highlightClick="0" endSnd="0">
                  <a:extLst>
                    <a:ext uri="{A12FA001-AC4F-418D-AE19-62706E023703}">
                      <ahyp:hlinkClr xmlns:ahyp="http://schemas.microsoft.com/office/drawing/2018/hyperlinkcolor" val="tx"/>
                    </a:ext>
                  </a:extLst>
                </a:hlinkClick>
              </a:rPr>
              <a:t>Copernicus GLO-30 global digital elevation model</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32" invalidUrl="" action="" tgtFrame="" tooltip="" history="1" highlightClick="0" endSnd="0">
                  <a:extLst>
                    <a:ext uri="{A12FA001-AC4F-418D-AE19-62706E023703}">
                      <ahyp:hlinkClr xmlns:ahyp="http://schemas.microsoft.com/office/drawing/2018/hyperlinkcolor" val="tx"/>
                    </a:ext>
                  </a:extLst>
                </a:hlinkClick>
              </a:rPr>
              <a:t>Photographs: Landslide on the Guwahati to Shillong road, Wikimedia Commons</a:t>
            </a:r>
            <a:endParaRPr lang="en-US" sz="1200" dirty="0"/>
          </a:p>
          <a:p>
            <a:pPr marL="139700" indent="-139700">
              <a:lnSpc>
                <a:spcPct val="96000"/>
              </a:lnSpc>
              <a:spcAft>
                <a:spcPts val="400"/>
              </a:spcAft>
              <a:buSzPct val="100000"/>
              <a:buChar char="▪"/>
            </a:pPr>
            <a:r>
              <a:rPr lang="en-US" sz="1050" u="sng" dirty="0">
                <a:solidFill>
                  <a:srgbClr val="1F4E79"/>
                </a:solidFill>
                <a:latin typeface="Arial" pitchFamily="34" charset="0"/>
                <a:ea typeface="Arial" pitchFamily="34" charset="-122"/>
                <a:cs typeface="Arial" pitchFamily="34" charset="-120"/>
                <a:hlinkClick r:id="rId33" invalidUrl="" action="" tgtFrame="" tooltip="" history="1" highlightClick="0" endSnd="0">
                  <a:extLst>
                    <a:ext uri="{A12FA001-AC4F-418D-AE19-62706E023703}">
                      <ahyp:hlinkClr xmlns:ahyp="http://schemas.microsoft.com/office/drawing/2018/hyperlinkcolor" val="tx"/>
                    </a:ext>
                  </a:extLst>
                </a:hlinkClick>
              </a:rPr>
              <a:t>Photographs: Landslide in Nagaland, Wikimedia Commons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SIH 2026 - SIH26001 - Lum</dc:title>
  <dc:subject>PptxGenJS Presentation</dc:subject>
  <dc:creator>Team Aura</dc:creator>
  <cp:lastModifiedBy>Team Aura</cp:lastModifiedBy>
  <cp:revision>1</cp:revision>
  <dcterms:created xsi:type="dcterms:W3CDTF">2026-09-13T11:56:03Z</dcterms:created>
  <dcterms:modified xsi:type="dcterms:W3CDTF">2026-09-13T11:56:03Z</dcterms:modified>
</cp:coreProperties>
</file>